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9" r:id="rId5"/>
    <p:sldId id="262" r:id="rId6"/>
    <p:sldId id="263" r:id="rId7"/>
    <p:sldId id="264" r:id="rId8"/>
    <p:sldId id="265" r:id="rId9"/>
    <p:sldId id="266" r:id="rId10"/>
    <p:sldId id="267" r:id="rId11"/>
    <p:sldId id="268" r:id="rId12"/>
    <p:sldId id="273" r:id="rId13"/>
    <p:sldId id="282" r:id="rId14"/>
    <p:sldId id="271" r:id="rId15"/>
    <p:sldId id="279" r:id="rId16"/>
    <p:sldId id="280" r:id="rId17"/>
    <p:sldId id="283" r:id="rId18"/>
    <p:sldId id="284" r:id="rId19"/>
    <p:sldId id="285" r:id="rId20"/>
    <p:sldId id="286" r:id="rId21"/>
    <p:sldId id="288" r:id="rId22"/>
    <p:sldId id="287" r:id="rId23"/>
    <p:sldId id="289" r:id="rId24"/>
    <p:sldId id="290" r:id="rId25"/>
    <p:sldId id="299" r:id="rId26"/>
    <p:sldId id="300" r:id="rId27"/>
    <p:sldId id="292" r:id="rId28"/>
    <p:sldId id="293" r:id="rId29"/>
    <p:sldId id="294" r:id="rId30"/>
    <p:sldId id="295" r:id="rId31"/>
    <p:sldId id="296" r:id="rId32"/>
    <p:sldId id="297" r:id="rId33"/>
    <p:sldId id="298" r:id="rId34"/>
    <p:sldId id="302" r:id="rId35"/>
    <p:sldId id="303" r:id="rId36"/>
    <p:sldId id="319" r:id="rId37"/>
    <p:sldId id="305" r:id="rId38"/>
    <p:sldId id="306" r:id="rId39"/>
    <p:sldId id="307" r:id="rId40"/>
    <p:sldId id="309" r:id="rId41"/>
    <p:sldId id="311" r:id="rId42"/>
    <p:sldId id="314" r:id="rId43"/>
    <p:sldId id="315" r:id="rId44"/>
    <p:sldId id="313" r:id="rId45"/>
    <p:sldId id="316" r:id="rId46"/>
    <p:sldId id="317" r:id="rId47"/>
    <p:sldId id="320" r:id="rId48"/>
    <p:sldId id="321" r:id="rId49"/>
    <p:sldId id="323" r:id="rId50"/>
    <p:sldId id="324" r:id="rId51"/>
    <p:sldId id="326" r:id="rId52"/>
    <p:sldId id="327" r:id="rId53"/>
    <p:sldId id="329" r:id="rId54"/>
    <p:sldId id="330" r:id="rId55"/>
    <p:sldId id="331" r:id="rId56"/>
    <p:sldId id="333" r:id="rId57"/>
    <p:sldId id="332"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3" autoAdjust="0"/>
    <p:restoredTop sz="94660"/>
  </p:normalViewPr>
  <p:slideViewPr>
    <p:cSldViewPr snapToGrid="0">
      <p:cViewPr varScale="1">
        <p:scale>
          <a:sx n="86" d="100"/>
          <a:sy n="86" d="100"/>
        </p:scale>
        <p:origin x="51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C:\Users\1090718\Desktop\Book2.xlsx" TargetMode="External"/></Relationships>
</file>

<file path=ppt/charts/_rels/chart5.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1090718\Desktop\Book2.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1090718\Desktop\Book2.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C:\Users\1090718\Desktop\Book2.xlsx" TargetMode="External"/></Relationships>
</file>

<file path=ppt/charts/_rels/chart12.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C:\Users\1090718\Desktop\Book2.xlsx" TargetMode="External"/></Relationships>
</file>

<file path=ppt/charts/_rels/chart13.xml.rels><?xml version="1.0" encoding="UTF-8" standalone="yes"?>
<Relationships xmlns="http://schemas.openxmlformats.org/package/2006/relationships"><Relationship Id="rId3" Type="http://schemas.openxmlformats.org/officeDocument/2006/relationships/oleObject" Target="file:///C:\Users\1090718\Downloads\Date%20tracker%20Gantt%20chart.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Sheet1!$C$3</c:f>
              <c:strCache>
                <c:ptCount val="1"/>
                <c:pt idx="0">
                  <c:v>No. of Problems</c:v>
                </c:pt>
              </c:strCache>
            </c:strRef>
          </c:tx>
          <c:spPr>
            <a:solidFill>
              <a:schemeClr val="tx2">
                <a:lumMod val="60000"/>
                <a:lumOff val="40000"/>
              </a:schemeClr>
            </a:solidFill>
            <a:ln>
              <a:noFill/>
            </a:ln>
            <a:effectLst/>
            <a:sp3d/>
          </c:spPr>
          <c:invertIfNegative val="0"/>
          <c:dLbls>
            <c:dLbl>
              <c:idx val="0"/>
              <c:layout>
                <c:manualLayout>
                  <c:x val="4.3730636495970844E-3"/>
                  <c:y val="-6.77220506247086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E4E-406B-91CB-36D4F91F1D8A}"/>
                </c:ext>
              </c:extLst>
            </c:dLbl>
            <c:dLbl>
              <c:idx val="1"/>
              <c:layout>
                <c:manualLayout>
                  <c:x val="0"/>
                  <c:y val="-0.1128700843745143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E4E-406B-91CB-36D4F91F1D8A}"/>
                </c:ext>
              </c:extLst>
            </c:dLbl>
            <c:dLbl>
              <c:idx val="2"/>
              <c:layout>
                <c:manualLayout>
                  <c:x val="-5.4663295619962748E-3"/>
                  <c:y val="-0.10803266808120361"/>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2.4532887074239642E-2"/>
                      <c:h val="3.9101549049859879E-2"/>
                    </c:manualLayout>
                  </c15:layout>
                </c:ext>
                <c:ext xmlns:c16="http://schemas.microsoft.com/office/drawing/2014/chart" uri="{C3380CC4-5D6E-409C-BE32-E72D297353CC}">
                  <c16:uniqueId val="{00000002-9E4E-406B-91CB-36D4F91F1D8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Sheet1!$B$4:$B$6</c:f>
              <c:strCache>
                <c:ptCount val="3"/>
                <c:pt idx="0">
                  <c:v>A CATEGORY</c:v>
                </c:pt>
                <c:pt idx="1">
                  <c:v>B CATEGORY</c:v>
                </c:pt>
                <c:pt idx="2">
                  <c:v>C CATEGORY</c:v>
                </c:pt>
              </c:strCache>
            </c:strRef>
          </c:cat>
          <c:val>
            <c:numRef>
              <c:f>Sheet1!$C$4:$C$6</c:f>
              <c:numCache>
                <c:formatCode>General</c:formatCode>
                <c:ptCount val="3"/>
                <c:pt idx="0">
                  <c:v>25</c:v>
                </c:pt>
                <c:pt idx="1">
                  <c:v>9</c:v>
                </c:pt>
                <c:pt idx="2">
                  <c:v>3</c:v>
                </c:pt>
              </c:numCache>
            </c:numRef>
          </c:val>
          <c:extLst>
            <c:ext xmlns:c16="http://schemas.microsoft.com/office/drawing/2014/chart" uri="{C3380CC4-5D6E-409C-BE32-E72D297353CC}">
              <c16:uniqueId val="{00000000-1B7A-43A2-A972-DEFAC62A5549}"/>
            </c:ext>
          </c:extLst>
        </c:ser>
        <c:dLbls>
          <c:showLegendKey val="0"/>
          <c:showVal val="1"/>
          <c:showCatName val="0"/>
          <c:showSerName val="0"/>
          <c:showPercent val="0"/>
          <c:showBubbleSize val="0"/>
        </c:dLbls>
        <c:gapWidth val="150"/>
        <c:shape val="box"/>
        <c:axId val="1272493872"/>
        <c:axId val="1272495952"/>
        <c:axId val="0"/>
      </c:bar3DChart>
      <c:catAx>
        <c:axId val="127249387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272495952"/>
        <c:crosses val="autoZero"/>
        <c:auto val="1"/>
        <c:lblAlgn val="ctr"/>
        <c:lblOffset val="100"/>
        <c:noMultiLvlLbl val="0"/>
      </c:catAx>
      <c:valAx>
        <c:axId val="127249595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272493872"/>
        <c:crosses val="autoZero"/>
        <c:crossBetween val="between"/>
      </c:valAx>
      <c:dTable>
        <c:showHorzBorder val="1"/>
        <c:showVertBorder val="1"/>
        <c:showOutline val="1"/>
        <c:showKeys val="1"/>
        <c:spPr>
          <a:noFill/>
          <a:ln w="9525">
            <a:solidFill>
              <a:schemeClr val="tx2">
                <a:lumMod val="15000"/>
                <a:lumOff val="85000"/>
              </a:schemeClr>
            </a:solidFill>
          </a:ln>
          <a:effectLst/>
        </c:spPr>
        <c:txPr>
          <a:bodyPr rot="0" spcFirstLastPara="1" vertOverflow="ellipsis" vert="horz" wrap="square" anchor="ctr" anchorCtr="1"/>
          <a:lstStyle/>
          <a:p>
            <a:pPr rtl="0">
              <a:defRPr sz="900" b="0" i="0" u="none" strike="noStrike" kern="1200" baseline="0">
                <a:solidFill>
                  <a:schemeClr val="tx2"/>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002060"/>
                </a:solidFill>
                <a:latin typeface="+mn-lt"/>
                <a:ea typeface="+mn-ea"/>
                <a:cs typeface="+mn-cs"/>
              </a:defRPr>
            </a:pPr>
            <a:r>
              <a:rPr lang="en-IN" b="1">
                <a:solidFill>
                  <a:srgbClr val="002060"/>
                </a:solidFill>
              </a:rPr>
              <a:t>QCC</a:t>
            </a:r>
            <a:r>
              <a:rPr lang="en-IN" b="1" baseline="0">
                <a:solidFill>
                  <a:srgbClr val="002060"/>
                </a:solidFill>
              </a:rPr>
              <a:t> </a:t>
            </a:r>
            <a:endParaRPr lang="en-IN" b="1">
              <a:solidFill>
                <a:srgbClr val="002060"/>
              </a:solidFill>
            </a:endParaRPr>
          </a:p>
        </c:rich>
      </c:tx>
      <c:layout>
        <c:manualLayout>
          <c:xMode val="edge"/>
          <c:yMode val="edge"/>
          <c:x val="0.40543556143073356"/>
          <c:y val="1.9900497512437811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rgbClr val="002060"/>
              </a:solidFill>
              <a:latin typeface="+mn-lt"/>
              <a:ea typeface="+mn-ea"/>
              <a:cs typeface="+mn-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spPr>
            <a:solidFill>
              <a:schemeClr val="accent1"/>
            </a:solidFill>
            <a:ln>
              <a:noFill/>
            </a:ln>
            <a:effectLst/>
            <a:sp3d/>
          </c:spPr>
          <c:invertIfNegative val="0"/>
          <c:dPt>
            <c:idx val="1"/>
            <c:invertIfNegative val="0"/>
            <c:bubble3D val="0"/>
            <c:spPr>
              <a:solidFill>
                <a:srgbClr val="C00000"/>
              </a:solidFill>
              <a:ln>
                <a:noFill/>
              </a:ln>
              <a:effectLst/>
              <a:sp3d/>
            </c:spPr>
            <c:extLst>
              <c:ext xmlns:c16="http://schemas.microsoft.com/office/drawing/2014/chart" uri="{C3380CC4-5D6E-409C-BE32-E72D297353CC}">
                <c16:uniqueId val="{00000001-3368-4500-9694-6624FFDFF6B8}"/>
              </c:ext>
            </c:extLst>
          </c:dPt>
          <c:dPt>
            <c:idx val="2"/>
            <c:invertIfNegative val="0"/>
            <c:bubble3D val="0"/>
            <c:spPr>
              <a:solidFill>
                <a:srgbClr val="FFC000"/>
              </a:solidFill>
              <a:ln>
                <a:noFill/>
              </a:ln>
              <a:effectLst/>
              <a:sp3d/>
            </c:spPr>
            <c:extLst>
              <c:ext xmlns:c16="http://schemas.microsoft.com/office/drawing/2014/chart" uri="{C3380CC4-5D6E-409C-BE32-E72D297353CC}">
                <c16:uniqueId val="{00000003-3368-4500-9694-6624FFDFF6B8}"/>
              </c:ext>
            </c:extLst>
          </c:dPt>
          <c:dPt>
            <c:idx val="3"/>
            <c:invertIfNegative val="0"/>
            <c:bubble3D val="0"/>
            <c:spPr>
              <a:solidFill>
                <a:srgbClr val="00B050"/>
              </a:solidFill>
              <a:ln>
                <a:noFill/>
              </a:ln>
              <a:effectLst/>
              <a:sp3d/>
            </c:spPr>
            <c:extLst>
              <c:ext xmlns:c16="http://schemas.microsoft.com/office/drawing/2014/chart" uri="{C3380CC4-5D6E-409C-BE32-E72D297353CC}">
                <c16:uniqueId val="{00000005-3368-4500-9694-6624FFDFF6B8}"/>
              </c:ext>
            </c:extLst>
          </c:dPt>
          <c:dPt>
            <c:idx val="4"/>
            <c:invertIfNegative val="0"/>
            <c:bubble3D val="0"/>
            <c:spPr>
              <a:solidFill>
                <a:srgbClr val="00B0F0"/>
              </a:solidFill>
              <a:ln>
                <a:noFill/>
              </a:ln>
              <a:effectLst/>
              <a:sp3d/>
            </c:spPr>
            <c:extLst>
              <c:ext xmlns:c16="http://schemas.microsoft.com/office/drawing/2014/chart" uri="{C3380CC4-5D6E-409C-BE32-E72D297353CC}">
                <c16:uniqueId val="{00000007-3368-4500-9694-6624FFDFF6B8}"/>
              </c:ext>
            </c:extLst>
          </c:dPt>
          <c:dPt>
            <c:idx val="5"/>
            <c:invertIfNegative val="0"/>
            <c:bubble3D val="0"/>
            <c:spPr>
              <a:solidFill>
                <a:srgbClr val="7030A0"/>
              </a:solidFill>
              <a:ln>
                <a:noFill/>
              </a:ln>
              <a:effectLst/>
              <a:sp3d/>
            </c:spPr>
            <c:extLst>
              <c:ext xmlns:c16="http://schemas.microsoft.com/office/drawing/2014/chart" uri="{C3380CC4-5D6E-409C-BE32-E72D297353CC}">
                <c16:uniqueId val="{00000009-3368-4500-9694-6624FFDFF6B8}"/>
              </c:ext>
            </c:extLst>
          </c:dPt>
          <c:dPt>
            <c:idx val="6"/>
            <c:invertIfNegative val="0"/>
            <c:bubble3D val="0"/>
            <c:spPr>
              <a:solidFill>
                <a:schemeClr val="bg2">
                  <a:lumMod val="50000"/>
                </a:schemeClr>
              </a:solidFill>
              <a:ln>
                <a:noFill/>
              </a:ln>
              <a:effectLst/>
              <a:sp3d/>
            </c:spPr>
            <c:extLst>
              <c:ext xmlns:c16="http://schemas.microsoft.com/office/drawing/2014/chart" uri="{C3380CC4-5D6E-409C-BE32-E72D297353CC}">
                <c16:uniqueId val="{0000000B-3368-4500-9694-6624FFDFF6B8}"/>
              </c:ext>
            </c:extLst>
          </c:dPt>
          <c:dPt>
            <c:idx val="7"/>
            <c:invertIfNegative val="0"/>
            <c:bubble3D val="0"/>
            <c:spPr>
              <a:solidFill>
                <a:schemeClr val="accent6">
                  <a:lumMod val="50000"/>
                </a:schemeClr>
              </a:solidFill>
              <a:ln>
                <a:noFill/>
              </a:ln>
              <a:effectLst/>
              <a:sp3d/>
            </c:spPr>
            <c:extLst>
              <c:ext xmlns:c16="http://schemas.microsoft.com/office/drawing/2014/chart" uri="{C3380CC4-5D6E-409C-BE32-E72D297353CC}">
                <c16:uniqueId val="{0000000D-3368-4500-9694-6624FFDFF6B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Sheet2!$B$13:$B$20</c:f>
              <c:strCache>
                <c:ptCount val="8"/>
                <c:pt idx="0">
                  <c:v>Impact</c:v>
                </c:pt>
                <c:pt idx="1">
                  <c:v>Productivity (P)</c:v>
                </c:pt>
                <c:pt idx="2">
                  <c:v>Quality (Q)</c:v>
                </c:pt>
                <c:pt idx="3">
                  <c:v>Cost (C)</c:v>
                </c:pt>
                <c:pt idx="4">
                  <c:v>Delivery (D)</c:v>
                </c:pt>
                <c:pt idx="5">
                  <c:v>Morale (M)</c:v>
                </c:pt>
                <c:pt idx="6">
                  <c:v>Environment (E)</c:v>
                </c:pt>
                <c:pt idx="7">
                  <c:v>Safety (S)</c:v>
                </c:pt>
              </c:strCache>
            </c:strRef>
          </c:cat>
          <c:val>
            <c:numRef>
              <c:f>Sheet2!$C$13:$C$20</c:f>
              <c:numCache>
                <c:formatCode>General</c:formatCode>
                <c:ptCount val="8"/>
                <c:pt idx="1">
                  <c:v>4</c:v>
                </c:pt>
                <c:pt idx="2">
                  <c:v>3</c:v>
                </c:pt>
                <c:pt idx="3">
                  <c:v>3</c:v>
                </c:pt>
                <c:pt idx="4">
                  <c:v>2</c:v>
                </c:pt>
                <c:pt idx="5">
                  <c:v>2</c:v>
                </c:pt>
                <c:pt idx="6">
                  <c:v>1</c:v>
                </c:pt>
                <c:pt idx="7">
                  <c:v>3</c:v>
                </c:pt>
              </c:numCache>
            </c:numRef>
          </c:val>
          <c:extLst>
            <c:ext xmlns:c16="http://schemas.microsoft.com/office/drawing/2014/chart" uri="{C3380CC4-5D6E-409C-BE32-E72D297353CC}">
              <c16:uniqueId val="{0000000E-3368-4500-9694-6624FFDFF6B8}"/>
            </c:ext>
          </c:extLst>
        </c:ser>
        <c:dLbls>
          <c:showLegendKey val="0"/>
          <c:showVal val="1"/>
          <c:showCatName val="0"/>
          <c:showSerName val="0"/>
          <c:showPercent val="0"/>
          <c:showBubbleSize val="0"/>
        </c:dLbls>
        <c:gapWidth val="150"/>
        <c:shape val="box"/>
        <c:axId val="854443039"/>
        <c:axId val="854432223"/>
        <c:axId val="0"/>
      </c:bar3DChart>
      <c:catAx>
        <c:axId val="85444303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4432223"/>
        <c:crosses val="autoZero"/>
        <c:auto val="1"/>
        <c:lblAlgn val="ctr"/>
        <c:lblOffset val="100"/>
        <c:noMultiLvlLbl val="0"/>
      </c:catAx>
      <c:valAx>
        <c:axId val="8544322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444303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alpha val="85000"/>
              </a:schemeClr>
            </a:solidFill>
            <a:ln w="9525" cap="flat" cmpd="sng" algn="ctr">
              <a:solidFill>
                <a:schemeClr val="lt1">
                  <a:alpha val="50000"/>
                </a:schemeClr>
              </a:solidFill>
              <a:round/>
            </a:ln>
            <a:effectLst/>
          </c:spPr>
          <c:invertIfNegative val="0"/>
          <c:dPt>
            <c:idx val="0"/>
            <c:invertIfNegative val="0"/>
            <c:bubble3D val="0"/>
            <c:spPr>
              <a:solidFill>
                <a:schemeClr val="accent6">
                  <a:alpha val="85000"/>
                </a:schemeClr>
              </a:solidFill>
              <a:ln w="9525" cap="flat" cmpd="sng" algn="ctr">
                <a:solidFill>
                  <a:schemeClr val="lt1">
                    <a:alpha val="50000"/>
                  </a:schemeClr>
                </a:solidFill>
                <a:round/>
              </a:ln>
              <a:effectLst/>
            </c:spPr>
            <c:extLst>
              <c:ext xmlns:c16="http://schemas.microsoft.com/office/drawing/2014/chart" uri="{C3380CC4-5D6E-409C-BE32-E72D297353CC}">
                <c16:uniqueId val="{00000001-D05D-4C70-ABD7-FBBF9EEBA528}"/>
              </c:ext>
            </c:extLst>
          </c:dPt>
          <c:dPt>
            <c:idx val="1"/>
            <c:invertIfNegative val="0"/>
            <c:bubble3D val="0"/>
            <c:spPr>
              <a:solidFill>
                <a:schemeClr val="accent2">
                  <a:alpha val="85000"/>
                </a:schemeClr>
              </a:solidFill>
              <a:ln w="9525" cap="flat" cmpd="sng" algn="ctr">
                <a:solidFill>
                  <a:schemeClr val="lt1">
                    <a:alpha val="50000"/>
                  </a:schemeClr>
                </a:solidFill>
                <a:round/>
              </a:ln>
              <a:effectLst/>
            </c:spPr>
            <c:extLst>
              <c:ext xmlns:c16="http://schemas.microsoft.com/office/drawing/2014/chart" uri="{C3380CC4-5D6E-409C-BE32-E72D297353CC}">
                <c16:uniqueId val="{00000003-D05D-4C70-ABD7-FBBF9EEBA528}"/>
              </c:ext>
            </c:extLst>
          </c:dPt>
          <c:dPt>
            <c:idx val="2"/>
            <c:invertIfNegative val="0"/>
            <c:bubble3D val="0"/>
            <c:spPr>
              <a:solidFill>
                <a:srgbClr val="C00000">
                  <a:alpha val="85000"/>
                </a:srgbClr>
              </a:solidFill>
              <a:ln w="9525" cap="flat" cmpd="sng" algn="ctr">
                <a:solidFill>
                  <a:schemeClr val="lt1">
                    <a:alpha val="50000"/>
                  </a:schemeClr>
                </a:solidFill>
                <a:round/>
              </a:ln>
              <a:effectLst/>
            </c:spPr>
            <c:extLst>
              <c:ext xmlns:c16="http://schemas.microsoft.com/office/drawing/2014/chart" uri="{C3380CC4-5D6E-409C-BE32-E72D297353CC}">
                <c16:uniqueId val="{00000005-D05D-4C70-ABD7-FBBF9EEBA528}"/>
              </c:ext>
            </c:extLst>
          </c:dPt>
          <c:dPt>
            <c:idx val="3"/>
            <c:invertIfNegative val="0"/>
            <c:bubble3D val="0"/>
            <c:spPr>
              <a:solidFill>
                <a:srgbClr val="00B0F0">
                  <a:alpha val="85000"/>
                </a:srgbClr>
              </a:solidFill>
              <a:ln w="9525" cap="flat" cmpd="sng" algn="ctr">
                <a:solidFill>
                  <a:schemeClr val="lt1">
                    <a:alpha val="50000"/>
                  </a:schemeClr>
                </a:solidFill>
                <a:round/>
              </a:ln>
              <a:effectLst/>
            </c:spPr>
            <c:extLst>
              <c:ext xmlns:c16="http://schemas.microsoft.com/office/drawing/2014/chart" uri="{C3380CC4-5D6E-409C-BE32-E72D297353CC}">
                <c16:uniqueId val="{00000007-D05D-4C70-ABD7-FBBF9EEBA528}"/>
              </c:ext>
            </c:extLst>
          </c:dPt>
          <c:dPt>
            <c:idx val="4"/>
            <c:invertIfNegative val="0"/>
            <c:bubble3D val="0"/>
            <c:spPr>
              <a:solidFill>
                <a:srgbClr val="7030A0">
                  <a:alpha val="85000"/>
                </a:srgbClr>
              </a:solidFill>
              <a:ln w="9525" cap="flat" cmpd="sng" algn="ctr">
                <a:solidFill>
                  <a:schemeClr val="lt1">
                    <a:alpha val="50000"/>
                  </a:schemeClr>
                </a:solidFill>
                <a:round/>
              </a:ln>
              <a:effectLst/>
            </c:spPr>
            <c:extLst>
              <c:ext xmlns:c16="http://schemas.microsoft.com/office/drawing/2014/chart" uri="{C3380CC4-5D6E-409C-BE32-E72D297353CC}">
                <c16:uniqueId val="{00000009-D05D-4C70-ABD7-FBBF9EEBA528}"/>
              </c:ext>
            </c:extLst>
          </c:dPt>
          <c:dLbls>
            <c:spPr>
              <a:noFill/>
              <a:ln>
                <a:noFill/>
              </a:ln>
              <a:effectLst/>
            </c:spPr>
            <c:txPr>
              <a:bodyPr rot="0" spcFirstLastPara="1" vertOverflow="ellipsis" vert="horz" wrap="square" anchor="ctr" anchorCtr="1"/>
              <a:lstStyle/>
              <a:p>
                <a:pPr>
                  <a:defRPr sz="1000" b="1" i="0" u="none" strike="noStrike" kern="1200" baseline="0">
                    <a:solidFill>
                      <a:schemeClr val="lt1"/>
                    </a:solidFill>
                    <a:latin typeface="Times New Roman" panose="02020603050405020304" pitchFamily="18" charset="0"/>
                    <a:ea typeface="+mn-ea"/>
                    <a:cs typeface="Times New Roman" panose="02020603050405020304" pitchFamily="18"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Sheet1!$C$14:$C$18</c:f>
              <c:strCache>
                <c:ptCount val="5"/>
                <c:pt idx="0">
                  <c:v>RSV Trip due to liner</c:v>
                </c:pt>
                <c:pt idx="1">
                  <c:v>Nitrogen consumption is high than design</c:v>
                </c:pt>
                <c:pt idx="2">
                  <c:v>PDC Cooling pipe leakage</c:v>
                </c:pt>
                <c:pt idx="3">
                  <c:v>GDS Discharge cylinder Issue</c:v>
                </c:pt>
                <c:pt idx="4">
                  <c:v>Bucket Rotation Problem.</c:v>
                </c:pt>
              </c:strCache>
            </c:strRef>
          </c:cat>
          <c:val>
            <c:numRef>
              <c:f>Sheet1!$D$14:$D$18</c:f>
              <c:numCache>
                <c:formatCode>General</c:formatCode>
                <c:ptCount val="5"/>
                <c:pt idx="0">
                  <c:v>41</c:v>
                </c:pt>
                <c:pt idx="1">
                  <c:v>39</c:v>
                </c:pt>
                <c:pt idx="2">
                  <c:v>50</c:v>
                </c:pt>
                <c:pt idx="3">
                  <c:v>38</c:v>
                </c:pt>
                <c:pt idx="4">
                  <c:v>37</c:v>
                </c:pt>
              </c:numCache>
            </c:numRef>
          </c:val>
          <c:extLst>
            <c:ext xmlns:c16="http://schemas.microsoft.com/office/drawing/2014/chart" uri="{C3380CC4-5D6E-409C-BE32-E72D297353CC}">
              <c16:uniqueId val="{0000000A-D05D-4C70-ABD7-FBBF9EEBA528}"/>
            </c:ext>
          </c:extLst>
        </c:ser>
        <c:dLbls>
          <c:dLblPos val="inEnd"/>
          <c:showLegendKey val="0"/>
          <c:showVal val="1"/>
          <c:showCatName val="0"/>
          <c:showSerName val="0"/>
          <c:showPercent val="0"/>
          <c:showBubbleSize val="0"/>
        </c:dLbls>
        <c:gapWidth val="65"/>
        <c:axId val="147651232"/>
        <c:axId val="147651648"/>
      </c:barChart>
      <c:catAx>
        <c:axId val="147651232"/>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000" b="1" i="0" u="none" strike="noStrike" kern="1200" cap="all"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47651648"/>
        <c:crosses val="autoZero"/>
        <c:auto val="1"/>
        <c:lblAlgn val="ctr"/>
        <c:lblOffset val="100"/>
        <c:noMultiLvlLbl val="0"/>
      </c:catAx>
      <c:valAx>
        <c:axId val="147651648"/>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crossAx val="147651232"/>
        <c:crosses val="autoZero"/>
        <c:crossBetween val="between"/>
      </c:valAx>
      <c:spPr>
        <a:noFill/>
        <a:ln>
          <a:noFill/>
        </a:ln>
        <a:effectLst/>
      </c:spPr>
    </c:plotArea>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000" b="1">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Dust Genenration before</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0.13011717331581321"/>
          <c:y val="0.14033266088129021"/>
          <c:w val="0.84770215727253662"/>
          <c:h val="0.72177652188659736"/>
        </c:manualLayout>
      </c:layout>
      <c:barChart>
        <c:barDir val="col"/>
        <c:grouping val="clustered"/>
        <c:varyColors val="0"/>
        <c:ser>
          <c:idx val="0"/>
          <c:order val="0"/>
          <c:spPr>
            <a:blipFill>
              <a:blip xmlns:r="http://schemas.openxmlformats.org/officeDocument/2006/relationships" r:embed="rId3">
                <a:duotone>
                  <a:schemeClr val="accent1">
                    <a:shade val="74000"/>
                    <a:satMod val="130000"/>
                    <a:lumMod val="90000"/>
                  </a:schemeClr>
                  <a:schemeClr val="accent1">
                    <a:tint val="94000"/>
                    <a:satMod val="120000"/>
                    <a:lumMod val="104000"/>
                  </a:schemeClr>
                </a:duotone>
              </a:blip>
              <a:tile tx="0" ty="0" sx="100000" sy="100000" flip="none" algn="tl"/>
            </a:blipFill>
            <a:ln>
              <a:noFill/>
            </a:ln>
            <a:effectLst>
              <a:outerShdw blurRad="38100" dist="25400" dir="5400000" rotWithShape="0">
                <a:srgbClr val="000000">
                  <a:alpha val="60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trendline>
            <c:spPr>
              <a:ln w="19050" cap="rnd">
                <a:solidFill>
                  <a:schemeClr val="accent1"/>
                </a:solidFill>
              </a:ln>
              <a:effectLst/>
            </c:spPr>
            <c:trendlineType val="linear"/>
            <c:dispRSqr val="0"/>
            <c:dispEq val="0"/>
          </c:trendline>
          <c:cat>
            <c:strRef>
              <c:f>Sheet4!$C$4:$F$4</c:f>
              <c:strCache>
                <c:ptCount val="4"/>
                <c:pt idx="0">
                  <c:v>October</c:v>
                </c:pt>
                <c:pt idx="1">
                  <c:v>November</c:v>
                </c:pt>
                <c:pt idx="2">
                  <c:v>December</c:v>
                </c:pt>
                <c:pt idx="3">
                  <c:v>January</c:v>
                </c:pt>
              </c:strCache>
            </c:strRef>
          </c:cat>
          <c:val>
            <c:numRef>
              <c:f>Sheet4!$C$5:$F$5</c:f>
              <c:numCache>
                <c:formatCode>General</c:formatCode>
                <c:ptCount val="4"/>
                <c:pt idx="0">
                  <c:v>1385</c:v>
                </c:pt>
                <c:pt idx="1">
                  <c:v>1349</c:v>
                </c:pt>
                <c:pt idx="2">
                  <c:v>1295</c:v>
                </c:pt>
                <c:pt idx="3">
                  <c:v>1283</c:v>
                </c:pt>
              </c:numCache>
            </c:numRef>
          </c:val>
          <c:extLst>
            <c:ext xmlns:c16="http://schemas.microsoft.com/office/drawing/2014/chart" uri="{C3380CC4-5D6E-409C-BE32-E72D297353CC}">
              <c16:uniqueId val="{00000000-221D-4B62-B056-2B2A5DE62AA9}"/>
            </c:ext>
          </c:extLst>
        </c:ser>
        <c:dLbls>
          <c:dLblPos val="outEnd"/>
          <c:showLegendKey val="0"/>
          <c:showVal val="1"/>
          <c:showCatName val="0"/>
          <c:showSerName val="0"/>
          <c:showPercent val="0"/>
          <c:showBubbleSize val="0"/>
        </c:dLbls>
        <c:gapWidth val="100"/>
        <c:overlap val="-24"/>
        <c:axId val="2122155840"/>
        <c:axId val="2122150848"/>
      </c:barChart>
      <c:catAx>
        <c:axId val="212215584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122150848"/>
        <c:crosses val="autoZero"/>
        <c:auto val="1"/>
        <c:lblAlgn val="ctr"/>
        <c:lblOffset val="100"/>
        <c:noMultiLvlLbl val="0"/>
      </c:catAx>
      <c:valAx>
        <c:axId val="212215084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122155840"/>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197"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Boiler Inlet pressure before</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blipFill>
              <a:blip xmlns:r="http://schemas.openxmlformats.org/officeDocument/2006/relationships" r:embed="rId3">
                <a:duotone>
                  <a:schemeClr val="accent1">
                    <a:shade val="74000"/>
                    <a:satMod val="130000"/>
                    <a:lumMod val="90000"/>
                  </a:schemeClr>
                  <a:schemeClr val="accent1">
                    <a:tint val="94000"/>
                    <a:satMod val="120000"/>
                    <a:lumMod val="104000"/>
                  </a:schemeClr>
                </a:duotone>
              </a:blip>
              <a:tile tx="0" ty="0" sx="100000" sy="100000" flip="none" algn="tl"/>
            </a:blipFill>
            <a:ln>
              <a:noFill/>
            </a:ln>
            <a:effectLst>
              <a:outerShdw blurRad="38100" dist="25400" dir="5400000" rotWithShape="0">
                <a:srgbClr val="000000">
                  <a:alpha val="60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trendline>
            <c:spPr>
              <a:ln w="19050" cap="rnd">
                <a:solidFill>
                  <a:schemeClr val="accent1"/>
                </a:solidFill>
              </a:ln>
              <a:effectLst/>
            </c:spPr>
            <c:trendlineType val="linear"/>
            <c:dispRSqr val="0"/>
            <c:dispEq val="0"/>
          </c:trendline>
          <c:cat>
            <c:strRef>
              <c:f>Sheet4!$J$4:$M$4</c:f>
              <c:strCache>
                <c:ptCount val="4"/>
                <c:pt idx="0">
                  <c:v>October</c:v>
                </c:pt>
                <c:pt idx="1">
                  <c:v>November</c:v>
                </c:pt>
                <c:pt idx="2">
                  <c:v>December</c:v>
                </c:pt>
                <c:pt idx="3">
                  <c:v>January</c:v>
                </c:pt>
              </c:strCache>
            </c:strRef>
          </c:cat>
          <c:val>
            <c:numRef>
              <c:f>Sheet4!$J$5:$M$5</c:f>
              <c:numCache>
                <c:formatCode>General</c:formatCode>
                <c:ptCount val="4"/>
                <c:pt idx="0">
                  <c:v>-1.06</c:v>
                </c:pt>
                <c:pt idx="1">
                  <c:v>-1.1000000000000001</c:v>
                </c:pt>
                <c:pt idx="2">
                  <c:v>-1.18</c:v>
                </c:pt>
                <c:pt idx="3">
                  <c:v>-1.28</c:v>
                </c:pt>
              </c:numCache>
            </c:numRef>
          </c:val>
          <c:extLst>
            <c:ext xmlns:c16="http://schemas.microsoft.com/office/drawing/2014/chart" uri="{C3380CC4-5D6E-409C-BE32-E72D297353CC}">
              <c16:uniqueId val="{00000000-32DE-49E1-BD8B-765A240E4B6A}"/>
            </c:ext>
          </c:extLst>
        </c:ser>
        <c:dLbls>
          <c:dLblPos val="outEnd"/>
          <c:showLegendKey val="0"/>
          <c:showVal val="1"/>
          <c:showCatName val="0"/>
          <c:showSerName val="0"/>
          <c:showPercent val="0"/>
          <c:showBubbleSize val="0"/>
        </c:dLbls>
        <c:gapWidth val="100"/>
        <c:overlap val="-24"/>
        <c:axId val="2128252272"/>
        <c:axId val="2126333200"/>
      </c:barChart>
      <c:catAx>
        <c:axId val="212825227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126333200"/>
        <c:crosses val="autoZero"/>
        <c:auto val="1"/>
        <c:lblAlgn val="ctr"/>
        <c:lblOffset val="100"/>
        <c:noMultiLvlLbl val="0"/>
      </c:catAx>
      <c:valAx>
        <c:axId val="212633320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128252272"/>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197"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Sheet4!$S$6</c:f>
              <c:strCache>
                <c:ptCount val="1"/>
                <c:pt idx="0">
                  <c:v>Discharge time(manually) in sec</c:v>
                </c:pt>
              </c:strCache>
            </c:strRef>
          </c:tx>
          <c:spPr>
            <a:solidFill>
              <a:schemeClr val="accent1"/>
            </a:solidFill>
            <a:ln>
              <a:noFill/>
            </a:ln>
            <a:effectLst/>
            <a:sp3d/>
          </c:spPr>
          <c:invertIfNegative val="0"/>
          <c:dLbls>
            <c:dLbl>
              <c:idx val="0"/>
              <c:layout>
                <c:manualLayout>
                  <c:x val="8.5536544815255702E-3"/>
                  <c:y val="-2.13641887652243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04E-4523-A968-88BDF6CF5A1F}"/>
                </c:ext>
              </c:extLst>
            </c:dLbl>
            <c:dLbl>
              <c:idx val="1"/>
              <c:layout>
                <c:manualLayout>
                  <c:x val="1.1404872642034162E-2"/>
                  <c:y val="-3.35722966310669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04E-4523-A968-88BDF6CF5A1F}"/>
                </c:ext>
              </c:extLst>
            </c:dLbl>
            <c:dLbl>
              <c:idx val="2"/>
              <c:layout>
                <c:manualLayout>
                  <c:x val="5.7024363210169769E-3"/>
                  <c:y val="-3.96763505639881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04E-4523-A968-88BDF6CF5A1F}"/>
                </c:ext>
              </c:extLst>
            </c:dLbl>
            <c:dLbl>
              <c:idx val="3"/>
              <c:layout>
                <c:manualLayout>
                  <c:x val="4.2768272407627062E-3"/>
                  <c:y val="-3.35722966310669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04E-4523-A968-88BDF6CF5A1F}"/>
                </c:ext>
              </c:extLst>
            </c:dLbl>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Sheet4!$T$5:$W$5</c:f>
              <c:strCache>
                <c:ptCount val="4"/>
                <c:pt idx="0">
                  <c:v>October</c:v>
                </c:pt>
                <c:pt idx="1">
                  <c:v>November</c:v>
                </c:pt>
                <c:pt idx="2">
                  <c:v>December</c:v>
                </c:pt>
                <c:pt idx="3">
                  <c:v>January</c:v>
                </c:pt>
              </c:strCache>
            </c:strRef>
          </c:cat>
          <c:val>
            <c:numRef>
              <c:f>Sheet4!$T$6:$W$6</c:f>
              <c:numCache>
                <c:formatCode>General</c:formatCode>
                <c:ptCount val="4"/>
                <c:pt idx="0">
                  <c:v>240</c:v>
                </c:pt>
                <c:pt idx="1">
                  <c:v>226</c:v>
                </c:pt>
                <c:pt idx="2">
                  <c:v>215</c:v>
                </c:pt>
                <c:pt idx="3">
                  <c:v>189</c:v>
                </c:pt>
              </c:numCache>
            </c:numRef>
          </c:val>
          <c:extLst>
            <c:ext xmlns:c16="http://schemas.microsoft.com/office/drawing/2014/chart" uri="{C3380CC4-5D6E-409C-BE32-E72D297353CC}">
              <c16:uniqueId val="{00000000-604E-4523-A968-88BDF6CF5A1F}"/>
            </c:ext>
          </c:extLst>
        </c:ser>
        <c:ser>
          <c:idx val="1"/>
          <c:order val="1"/>
          <c:tx>
            <c:strRef>
              <c:f>Sheet4!$S$7</c:f>
              <c:strCache>
                <c:ptCount val="1"/>
                <c:pt idx="0">
                  <c:v>Dust Temp (TT)</c:v>
                </c:pt>
              </c:strCache>
            </c:strRef>
          </c:tx>
          <c:spPr>
            <a:solidFill>
              <a:schemeClr val="accent2"/>
            </a:solidFill>
            <a:ln>
              <a:noFill/>
            </a:ln>
            <a:effectLst/>
            <a:sp3d/>
          </c:spPr>
          <c:invertIfNegative val="0"/>
          <c:dLbls>
            <c:dLbl>
              <c:idx val="0"/>
              <c:layout>
                <c:manualLayout>
                  <c:x val="1.283048172228838E-2"/>
                  <c:y val="-3.35722966310668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04E-4523-A968-88BDF6CF5A1F}"/>
                </c:ext>
              </c:extLst>
            </c:dLbl>
            <c:dLbl>
              <c:idx val="1"/>
              <c:layout>
                <c:manualLayout>
                  <c:x val="1.8532918043305514E-2"/>
                  <c:y val="-3.96763505639881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04E-4523-A968-88BDF6CF5A1F}"/>
                </c:ext>
              </c:extLst>
            </c:dLbl>
            <c:dLbl>
              <c:idx val="2"/>
              <c:layout>
                <c:manualLayout>
                  <c:x val="1.8532918043305514E-2"/>
                  <c:y val="-3.96763505639881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04E-4523-A968-88BDF6CF5A1F}"/>
                </c:ext>
              </c:extLst>
            </c:dLbl>
            <c:dLbl>
              <c:idx val="3"/>
              <c:layout>
                <c:manualLayout>
                  <c:x val="1.2830481722288433E-2"/>
                  <c:y val="-3.3572296631067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04E-4523-A968-88BDF6CF5A1F}"/>
                </c:ext>
              </c:extLst>
            </c:dLbl>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Sheet4!$T$5:$W$5</c:f>
              <c:strCache>
                <c:ptCount val="4"/>
                <c:pt idx="0">
                  <c:v>October</c:v>
                </c:pt>
                <c:pt idx="1">
                  <c:v>November</c:v>
                </c:pt>
                <c:pt idx="2">
                  <c:v>December</c:v>
                </c:pt>
                <c:pt idx="3">
                  <c:v>January</c:v>
                </c:pt>
              </c:strCache>
            </c:strRef>
          </c:cat>
          <c:val>
            <c:numRef>
              <c:f>Sheet4!$T$7:$W$7</c:f>
              <c:numCache>
                <c:formatCode>General</c:formatCode>
                <c:ptCount val="4"/>
                <c:pt idx="0">
                  <c:v>149</c:v>
                </c:pt>
                <c:pt idx="1">
                  <c:v>136</c:v>
                </c:pt>
                <c:pt idx="2">
                  <c:v>115</c:v>
                </c:pt>
                <c:pt idx="3">
                  <c:v>82</c:v>
                </c:pt>
              </c:numCache>
            </c:numRef>
          </c:val>
          <c:extLst>
            <c:ext xmlns:c16="http://schemas.microsoft.com/office/drawing/2014/chart" uri="{C3380CC4-5D6E-409C-BE32-E72D297353CC}">
              <c16:uniqueId val="{00000001-604E-4523-A968-88BDF6CF5A1F}"/>
            </c:ext>
          </c:extLst>
        </c:ser>
        <c:dLbls>
          <c:showLegendKey val="0"/>
          <c:showVal val="1"/>
          <c:showCatName val="0"/>
          <c:showSerName val="0"/>
          <c:showPercent val="0"/>
          <c:showBubbleSize val="0"/>
        </c:dLbls>
        <c:gapWidth val="150"/>
        <c:shape val="box"/>
        <c:axId val="135279695"/>
        <c:axId val="135275951"/>
        <c:axId val="0"/>
      </c:bar3DChart>
      <c:catAx>
        <c:axId val="1352796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35275951"/>
        <c:crosses val="autoZero"/>
        <c:auto val="1"/>
        <c:lblAlgn val="ctr"/>
        <c:lblOffset val="100"/>
        <c:noMultiLvlLbl val="0"/>
      </c:catAx>
      <c:valAx>
        <c:axId val="1352759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35279695"/>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rgbClr val="002060"/>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rgbClr val="002060"/>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Dust generation Before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Sheet3!$U$5</c:f>
              <c:strCache>
                <c:ptCount val="1"/>
                <c:pt idx="0">
                  <c:v>Before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Sheet3!$U$6</c:f>
              <c:numCache>
                <c:formatCode>General</c:formatCode>
                <c:ptCount val="1"/>
                <c:pt idx="0">
                  <c:v>1380</c:v>
                </c:pt>
              </c:numCache>
            </c:numRef>
          </c:val>
          <c:extLst>
            <c:ext xmlns:c16="http://schemas.microsoft.com/office/drawing/2014/chart" uri="{C3380CC4-5D6E-409C-BE32-E72D297353CC}">
              <c16:uniqueId val="{00000000-FFB2-409F-825C-DE9EAE8B229F}"/>
            </c:ext>
          </c:extLst>
        </c:ser>
        <c:dLbls>
          <c:dLblPos val="outEnd"/>
          <c:showLegendKey val="0"/>
          <c:showVal val="1"/>
          <c:showCatName val="0"/>
          <c:showSerName val="0"/>
          <c:showPercent val="0"/>
          <c:showBubbleSize val="0"/>
        </c:dLbls>
        <c:gapWidth val="219"/>
        <c:overlap val="-27"/>
        <c:axId val="134893983"/>
        <c:axId val="134896895"/>
      </c:barChart>
      <c:catAx>
        <c:axId val="13489398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896895"/>
        <c:crosses val="autoZero"/>
        <c:auto val="1"/>
        <c:lblAlgn val="ctr"/>
        <c:lblOffset val="100"/>
        <c:noMultiLvlLbl val="0"/>
      </c:catAx>
      <c:valAx>
        <c:axId val="1348968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893983"/>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Boiler inlet pressure Before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Sheet3!$Y$5</c:f>
              <c:strCache>
                <c:ptCount val="1"/>
                <c:pt idx="0">
                  <c:v>Before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Sheet3!$Y$6</c:f>
              <c:numCache>
                <c:formatCode>General</c:formatCode>
                <c:ptCount val="1"/>
                <c:pt idx="0">
                  <c:v>-1.21</c:v>
                </c:pt>
              </c:numCache>
            </c:numRef>
          </c:val>
          <c:extLst>
            <c:ext xmlns:c16="http://schemas.microsoft.com/office/drawing/2014/chart" uri="{C3380CC4-5D6E-409C-BE32-E72D297353CC}">
              <c16:uniqueId val="{00000000-31B5-4F09-AB6B-F7C8485F237D}"/>
            </c:ext>
          </c:extLst>
        </c:ser>
        <c:dLbls>
          <c:dLblPos val="outEnd"/>
          <c:showLegendKey val="0"/>
          <c:showVal val="1"/>
          <c:showCatName val="0"/>
          <c:showSerName val="0"/>
          <c:showPercent val="0"/>
          <c:showBubbleSize val="0"/>
        </c:dLbls>
        <c:gapWidth val="219"/>
        <c:overlap val="-27"/>
        <c:axId val="2129320063"/>
        <c:axId val="2129322975"/>
      </c:barChart>
      <c:catAx>
        <c:axId val="212932006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9322975"/>
        <c:crosses val="autoZero"/>
        <c:auto val="1"/>
        <c:lblAlgn val="ctr"/>
        <c:lblOffset val="100"/>
        <c:noMultiLvlLbl val="0"/>
      </c:catAx>
      <c:valAx>
        <c:axId val="2129322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9320063"/>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Sheet4!$C$4:$G$4</c:f>
              <c:strCache>
                <c:ptCount val="5"/>
                <c:pt idx="0">
                  <c:v>October</c:v>
                </c:pt>
                <c:pt idx="1">
                  <c:v>November</c:v>
                </c:pt>
                <c:pt idx="2">
                  <c:v>December</c:v>
                </c:pt>
                <c:pt idx="3">
                  <c:v>January</c:v>
                </c:pt>
                <c:pt idx="4">
                  <c:v>february </c:v>
                </c:pt>
              </c:strCache>
            </c:strRef>
          </c:cat>
          <c:val>
            <c:numRef>
              <c:f>Sheet4!$C$5:$G$5</c:f>
              <c:numCache>
                <c:formatCode>General</c:formatCode>
                <c:ptCount val="5"/>
                <c:pt idx="0">
                  <c:v>1385</c:v>
                </c:pt>
                <c:pt idx="1">
                  <c:v>1349</c:v>
                </c:pt>
                <c:pt idx="2">
                  <c:v>1295</c:v>
                </c:pt>
                <c:pt idx="3">
                  <c:v>1283</c:v>
                </c:pt>
                <c:pt idx="4">
                  <c:v>1640</c:v>
                </c:pt>
              </c:numCache>
            </c:numRef>
          </c:val>
          <c:extLst>
            <c:ext xmlns:c16="http://schemas.microsoft.com/office/drawing/2014/chart" uri="{C3380CC4-5D6E-409C-BE32-E72D297353CC}">
              <c16:uniqueId val="{00000000-00BE-4DD1-B32A-E00B4A92B78F}"/>
            </c:ext>
          </c:extLst>
        </c:ser>
        <c:dLbls>
          <c:dLblPos val="outEnd"/>
          <c:showLegendKey val="0"/>
          <c:showVal val="1"/>
          <c:showCatName val="0"/>
          <c:showSerName val="0"/>
          <c:showPercent val="0"/>
          <c:showBubbleSize val="0"/>
        </c:dLbls>
        <c:gapWidth val="219"/>
        <c:overlap val="-27"/>
        <c:axId val="134890655"/>
        <c:axId val="134891487"/>
      </c:barChart>
      <c:catAx>
        <c:axId val="134890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891487"/>
        <c:crosses val="autoZero"/>
        <c:auto val="1"/>
        <c:lblAlgn val="ctr"/>
        <c:lblOffset val="100"/>
        <c:noMultiLvlLbl val="0"/>
      </c:catAx>
      <c:valAx>
        <c:axId val="1348914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890655"/>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Sheet4!$J$4:$N$4</c:f>
              <c:strCache>
                <c:ptCount val="5"/>
                <c:pt idx="0">
                  <c:v>October</c:v>
                </c:pt>
                <c:pt idx="1">
                  <c:v>November</c:v>
                </c:pt>
                <c:pt idx="2">
                  <c:v>December</c:v>
                </c:pt>
                <c:pt idx="3">
                  <c:v>January</c:v>
                </c:pt>
                <c:pt idx="4">
                  <c:v>february</c:v>
                </c:pt>
              </c:strCache>
            </c:strRef>
          </c:cat>
          <c:val>
            <c:numRef>
              <c:f>Sheet4!$J$5:$N$5</c:f>
              <c:numCache>
                <c:formatCode>General</c:formatCode>
                <c:ptCount val="5"/>
                <c:pt idx="0">
                  <c:v>-1.06</c:v>
                </c:pt>
                <c:pt idx="1">
                  <c:v>-1.1000000000000001</c:v>
                </c:pt>
                <c:pt idx="2">
                  <c:v>-1.18</c:v>
                </c:pt>
                <c:pt idx="3">
                  <c:v>-1.28</c:v>
                </c:pt>
                <c:pt idx="4">
                  <c:v>-0.78</c:v>
                </c:pt>
              </c:numCache>
            </c:numRef>
          </c:val>
          <c:extLst>
            <c:ext xmlns:c16="http://schemas.microsoft.com/office/drawing/2014/chart" uri="{C3380CC4-5D6E-409C-BE32-E72D297353CC}">
              <c16:uniqueId val="{00000000-9607-4252-8B5E-7A3A87F3BF69}"/>
            </c:ext>
          </c:extLst>
        </c:ser>
        <c:dLbls>
          <c:dLblPos val="outEnd"/>
          <c:showLegendKey val="0"/>
          <c:showVal val="1"/>
          <c:showCatName val="0"/>
          <c:showSerName val="0"/>
          <c:showPercent val="0"/>
          <c:showBubbleSize val="0"/>
        </c:dLbls>
        <c:gapWidth val="219"/>
        <c:overlap val="-27"/>
        <c:axId val="50993903"/>
        <c:axId val="135278031"/>
      </c:barChart>
      <c:catAx>
        <c:axId val="50993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278031"/>
        <c:crosses val="autoZero"/>
        <c:auto val="1"/>
        <c:lblAlgn val="ctr"/>
        <c:lblOffset val="100"/>
        <c:noMultiLvlLbl val="0"/>
      </c:catAx>
      <c:valAx>
        <c:axId val="1352780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993903"/>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a:t>Dust Generation (monthly)</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spPr>
            <a:blipFill>
              <a:blip xmlns:r="http://schemas.openxmlformats.org/officeDocument/2006/relationships" r:embed="rId3">
                <a:duotone>
                  <a:schemeClr val="accent1">
                    <a:shade val="74000"/>
                    <a:satMod val="130000"/>
                    <a:lumMod val="90000"/>
                  </a:schemeClr>
                  <a:schemeClr val="accent1">
                    <a:tint val="94000"/>
                    <a:satMod val="120000"/>
                    <a:lumMod val="104000"/>
                  </a:schemeClr>
                </a:duotone>
              </a:blip>
              <a:tile tx="0" ty="0" sx="100000" sy="100000" flip="none" algn="tl"/>
            </a:blipFill>
            <a:ln>
              <a:noFill/>
            </a:ln>
            <a:effectLst>
              <a:innerShdw blurRad="25400" dist="12700" dir="13500000">
                <a:srgbClr val="000000">
                  <a:alpha val="45000"/>
                </a:srgbClr>
              </a:innerShdw>
            </a:effectLst>
          </c:spPr>
          <c:invertIfNegative val="0"/>
          <c:dPt>
            <c:idx val="0"/>
            <c:invertIfNegative val="0"/>
            <c:bubble3D val="0"/>
            <c:extLst>
              <c:ext xmlns:c16="http://schemas.microsoft.com/office/drawing/2014/chart" uri="{C3380CC4-5D6E-409C-BE32-E72D297353CC}">
                <c16:uniqueId val="{00000001-87F3-48BF-9C85-86537C21E6DE}"/>
              </c:ext>
            </c:extLst>
          </c:dPt>
          <c:dPt>
            <c:idx val="1"/>
            <c:invertIfNegative val="0"/>
            <c:bubble3D val="0"/>
            <c:extLst>
              <c:ext xmlns:c16="http://schemas.microsoft.com/office/drawing/2014/chart" uri="{C3380CC4-5D6E-409C-BE32-E72D297353CC}">
                <c16:uniqueId val="{00000003-87F3-48BF-9C85-86537C21E6D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Sheet3!$C$4:$D$4</c:f>
              <c:strCache>
                <c:ptCount val="2"/>
                <c:pt idx="0">
                  <c:v>Before</c:v>
                </c:pt>
                <c:pt idx="1">
                  <c:v>After</c:v>
                </c:pt>
              </c:strCache>
            </c:strRef>
          </c:cat>
          <c:val>
            <c:numRef>
              <c:f>Sheet3!$C$5:$D$5</c:f>
              <c:numCache>
                <c:formatCode>General</c:formatCode>
                <c:ptCount val="2"/>
                <c:pt idx="0">
                  <c:v>1380</c:v>
                </c:pt>
                <c:pt idx="1">
                  <c:v>1640</c:v>
                </c:pt>
              </c:numCache>
            </c:numRef>
          </c:val>
          <c:extLst>
            <c:ext xmlns:c16="http://schemas.microsoft.com/office/drawing/2014/chart" uri="{C3380CC4-5D6E-409C-BE32-E72D297353CC}">
              <c16:uniqueId val="{00000004-87F3-48BF-9C85-86537C21E6DE}"/>
            </c:ext>
          </c:extLst>
        </c:ser>
        <c:dLbls>
          <c:dLblPos val="outEnd"/>
          <c:showLegendKey val="0"/>
          <c:showVal val="1"/>
          <c:showCatName val="0"/>
          <c:showSerName val="0"/>
          <c:showPercent val="0"/>
          <c:showBubbleSize val="0"/>
        </c:dLbls>
        <c:gapWidth val="100"/>
        <c:overlap val="-24"/>
        <c:axId val="600452767"/>
        <c:axId val="600453599"/>
      </c:barChart>
      <c:catAx>
        <c:axId val="600452767"/>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00453599"/>
        <c:crosses val="autoZero"/>
        <c:auto val="1"/>
        <c:lblAlgn val="ctr"/>
        <c:lblOffset val="100"/>
        <c:noMultiLvlLbl val="0"/>
      </c:catAx>
      <c:valAx>
        <c:axId val="600453599"/>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00452767"/>
        <c:crosses val="autoZero"/>
        <c:crossBetween val="between"/>
      </c:valAx>
      <c:dTable>
        <c:showHorzBorder val="1"/>
        <c:showVertBorder val="1"/>
        <c:showOutline val="1"/>
        <c:showKeys val="1"/>
        <c:spPr>
          <a:noFill/>
          <a:ln w="9525">
            <a:solidFill>
              <a:schemeClr val="tx2">
                <a:lumMod val="15000"/>
                <a:lumOff val="85000"/>
              </a:schemeClr>
            </a:solidFill>
          </a:ln>
          <a:effectLst/>
        </c:spPr>
        <c:txPr>
          <a:bodyPr rot="0" spcFirstLastPara="1" vertOverflow="ellipsis" vert="horz" wrap="square" anchor="ctr" anchorCtr="1"/>
          <a:lstStyle/>
          <a:p>
            <a:pPr rtl="0">
              <a:defRPr sz="1197" b="0" i="0" u="none" strike="noStrike" kern="1200" baseline="0">
                <a:solidFill>
                  <a:schemeClr val="tx2"/>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a:t>Boiler Inlet Pressure (P6)</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manualLayout>
          <c:layoutTarget val="inner"/>
          <c:xMode val="edge"/>
          <c:yMode val="edge"/>
          <c:x val="0.17924628171478565"/>
          <c:y val="0.17903944298629337"/>
          <c:w val="0.79019816272965882"/>
          <c:h val="0.64159339457567799"/>
        </c:manualLayout>
      </c:layout>
      <c:barChart>
        <c:barDir val="col"/>
        <c:grouping val="clustered"/>
        <c:varyColors val="0"/>
        <c:ser>
          <c:idx val="0"/>
          <c:order val="0"/>
          <c:spPr>
            <a:blipFill>
              <a:blip xmlns:r="http://schemas.openxmlformats.org/officeDocument/2006/relationships" r:embed="rId3">
                <a:duotone>
                  <a:schemeClr val="accent1">
                    <a:shade val="74000"/>
                    <a:satMod val="130000"/>
                    <a:lumMod val="90000"/>
                  </a:schemeClr>
                  <a:schemeClr val="accent1">
                    <a:tint val="94000"/>
                    <a:satMod val="120000"/>
                    <a:lumMod val="104000"/>
                  </a:schemeClr>
                </a:duotone>
              </a:blip>
              <a:tile tx="0" ty="0" sx="100000" sy="100000" flip="none" algn="tl"/>
            </a:blipFill>
            <a:ln>
              <a:noFill/>
            </a:ln>
            <a:effectLst>
              <a:innerShdw blurRad="25400" dist="12700" dir="13500000">
                <a:srgbClr val="000000">
                  <a:alpha val="45000"/>
                </a:srgbClr>
              </a:innerShdw>
            </a:effectLst>
          </c:spPr>
          <c:invertIfNegative val="0"/>
          <c:dPt>
            <c:idx val="0"/>
            <c:invertIfNegative val="0"/>
            <c:bubble3D val="0"/>
            <c:extLst>
              <c:ext xmlns:c16="http://schemas.microsoft.com/office/drawing/2014/chart" uri="{C3380CC4-5D6E-409C-BE32-E72D297353CC}">
                <c16:uniqueId val="{00000001-1BEC-4E07-95DE-AE433F767950}"/>
              </c:ext>
            </c:extLst>
          </c:dPt>
          <c:dPt>
            <c:idx val="1"/>
            <c:invertIfNegative val="0"/>
            <c:bubble3D val="0"/>
            <c:extLst>
              <c:ext xmlns:c16="http://schemas.microsoft.com/office/drawing/2014/chart" uri="{C3380CC4-5D6E-409C-BE32-E72D297353CC}">
                <c16:uniqueId val="{00000003-1BEC-4E07-95DE-AE433F76795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Sheet3!$G$4:$H$4</c:f>
              <c:strCache>
                <c:ptCount val="2"/>
                <c:pt idx="0">
                  <c:v>Before </c:v>
                </c:pt>
                <c:pt idx="1">
                  <c:v>After</c:v>
                </c:pt>
              </c:strCache>
            </c:strRef>
          </c:cat>
          <c:val>
            <c:numRef>
              <c:f>Sheet3!$G$5:$H$5</c:f>
              <c:numCache>
                <c:formatCode>General</c:formatCode>
                <c:ptCount val="2"/>
                <c:pt idx="0">
                  <c:v>-1.21</c:v>
                </c:pt>
                <c:pt idx="1">
                  <c:v>-0.78</c:v>
                </c:pt>
              </c:numCache>
            </c:numRef>
          </c:val>
          <c:extLst>
            <c:ext xmlns:c16="http://schemas.microsoft.com/office/drawing/2014/chart" uri="{C3380CC4-5D6E-409C-BE32-E72D297353CC}">
              <c16:uniqueId val="{00000004-1BEC-4E07-95DE-AE433F767950}"/>
            </c:ext>
          </c:extLst>
        </c:ser>
        <c:dLbls>
          <c:dLblPos val="outEnd"/>
          <c:showLegendKey val="0"/>
          <c:showVal val="1"/>
          <c:showCatName val="0"/>
          <c:showSerName val="0"/>
          <c:showPercent val="0"/>
          <c:showBubbleSize val="0"/>
        </c:dLbls>
        <c:gapWidth val="100"/>
        <c:overlap val="-24"/>
        <c:axId val="604658063"/>
        <c:axId val="604660975"/>
      </c:barChart>
      <c:catAx>
        <c:axId val="604658063"/>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04660975"/>
        <c:crosses val="autoZero"/>
        <c:auto val="1"/>
        <c:lblAlgn val="ctr"/>
        <c:lblOffset val="100"/>
        <c:noMultiLvlLbl val="0"/>
      </c:catAx>
      <c:valAx>
        <c:axId val="604660975"/>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04658063"/>
        <c:crosses val="autoZero"/>
        <c:crossBetween val="between"/>
      </c:valAx>
      <c:dTable>
        <c:showHorzBorder val="1"/>
        <c:showVertBorder val="1"/>
        <c:showOutline val="1"/>
        <c:showKeys val="1"/>
        <c:spPr>
          <a:noFill/>
          <a:ln w="9525">
            <a:solidFill>
              <a:schemeClr val="tx2">
                <a:lumMod val="15000"/>
                <a:lumOff val="85000"/>
              </a:schemeClr>
            </a:solidFill>
          </a:ln>
          <a:effectLst/>
        </c:spPr>
        <c:txPr>
          <a:bodyPr rot="0" spcFirstLastPara="1" vertOverflow="ellipsis" vert="horz" wrap="square" anchor="ctr" anchorCtr="1"/>
          <a:lstStyle/>
          <a:p>
            <a:pPr rtl="0">
              <a:defRPr sz="1197" b="0" i="0" u="none" strike="noStrike" kern="1200" baseline="0">
                <a:solidFill>
                  <a:schemeClr val="tx2"/>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noFill/>
              <a:ln w="9525">
                <a:noFill/>
              </a:ln>
              <a:effectLst/>
            </c:spPr>
          </c:marker>
          <c:dLbls>
            <c:dLbl>
              <c:idx val="0"/>
              <c:layout>
                <c:manualLayout>
                  <c:x val="-5.3554489734605137E-2"/>
                  <c:y val="-5.5985579541779233E-2"/>
                </c:manualLayout>
              </c:layout>
              <c:tx>
                <c:rich>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fld id="{97D63DC4-9B73-46C1-BD7E-DAF9B43E4E2E}" type="CELLRANGE">
                      <a:rPr lang="en-US"/>
                      <a:pPr>
                        <a:defRPr sz="1100">
                          <a:solidFill>
                            <a:schemeClr val="accent2">
                              <a:lumMod val="60000"/>
                              <a:lumOff val="40000"/>
                            </a:schemeClr>
                          </a:solidFill>
                        </a:defRPr>
                      </a:pPr>
                      <a:t>[CELLRANGE]</a:t>
                    </a:fld>
                    <a:endParaRPr lang="en-IN"/>
                  </a:p>
                </c:rich>
              </c:tx>
              <c:spPr>
                <a:noFill/>
                <a:ln>
                  <a:noFill/>
                </a:ln>
                <a:effectLst/>
              </c:spPr>
              <c:txPr>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endParaRPr lang="en-US"/>
                </a:p>
              </c:txPr>
              <c:dLblPos val="r"/>
              <c:showLegendKey val="0"/>
              <c:showVal val="0"/>
              <c:showCatName val="0"/>
              <c:showSerName val="0"/>
              <c:showPercent val="0"/>
              <c:showBubbleSize val="0"/>
              <c:extLst>
                <c:ext xmlns:c15="http://schemas.microsoft.com/office/drawing/2012/chart" uri="{CE6537A1-D6FC-4f65-9D91-7224C49458BB}">
                  <c15:layout>
                    <c:manualLayout>
                      <c:w val="0.15267004655226979"/>
                      <c:h val="6.6571099741502687E-2"/>
                    </c:manualLayout>
                  </c15:layout>
                  <c15:dlblFieldTable/>
                  <c15:showDataLabelsRange val="1"/>
                </c:ext>
                <c:ext xmlns:c16="http://schemas.microsoft.com/office/drawing/2014/chart" uri="{C3380CC4-5D6E-409C-BE32-E72D297353CC}">
                  <c16:uniqueId val="{00000000-4BEE-43F4-93C2-331C29B355FE}"/>
                </c:ext>
              </c:extLst>
            </c:dLbl>
            <c:dLbl>
              <c:idx val="1"/>
              <c:layout>
                <c:manualLayout>
                  <c:x val="-6.532715844042053E-3"/>
                  <c:y val="-8.0561450354462494E-2"/>
                </c:manualLayout>
              </c:layout>
              <c:tx>
                <c:rich>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fld id="{CE81CD14-ED91-4CC9-9A8C-38F3E2C845A6}" type="CELLRANGE">
                      <a:rPr lang="en-US"/>
                      <a:pPr>
                        <a:defRPr sz="1100">
                          <a:solidFill>
                            <a:schemeClr val="accent2">
                              <a:lumMod val="60000"/>
                              <a:lumOff val="40000"/>
                            </a:schemeClr>
                          </a:solidFill>
                        </a:defRPr>
                      </a:pPr>
                      <a:t>[CELLRANGE]</a:t>
                    </a:fld>
                    <a:endParaRPr lang="en-IN"/>
                  </a:p>
                </c:rich>
              </c:tx>
              <c:spPr>
                <a:noFill/>
                <a:ln>
                  <a:noFill/>
                </a:ln>
                <a:effectLst/>
              </c:spPr>
              <c:txPr>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endParaRPr lang="en-US"/>
                </a:p>
              </c:txPr>
              <c:dLblPos val="r"/>
              <c:showLegendKey val="0"/>
              <c:showVal val="0"/>
              <c:showCatName val="0"/>
              <c:showSerName val="0"/>
              <c:showPercent val="0"/>
              <c:showBubbleSize val="0"/>
              <c:extLst>
                <c:ext xmlns:c15="http://schemas.microsoft.com/office/drawing/2012/chart" uri="{CE6537A1-D6FC-4f65-9D91-7224C49458BB}">
                  <c15:layout>
                    <c:manualLayout>
                      <c:w val="0.12294803420609487"/>
                      <c:h val="0.12050181478693399"/>
                    </c:manualLayout>
                  </c15:layout>
                  <c15:dlblFieldTable/>
                  <c15:showDataLabelsRange val="1"/>
                </c:ext>
                <c:ext xmlns:c16="http://schemas.microsoft.com/office/drawing/2014/chart" uri="{C3380CC4-5D6E-409C-BE32-E72D297353CC}">
                  <c16:uniqueId val="{00000001-4BEE-43F4-93C2-331C29B355FE}"/>
                </c:ext>
              </c:extLst>
            </c:dLbl>
            <c:dLbl>
              <c:idx val="2"/>
              <c:layout>
                <c:manualLayout>
                  <c:x val="-3.2629990455163289E-3"/>
                  <c:y val="-8.0561450354462452E-2"/>
                </c:manualLayout>
              </c:layout>
              <c:tx>
                <c:rich>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fld id="{F6919049-F598-4FF8-83E2-EBC44F688F46}" type="CELLRANGE">
                      <a:rPr lang="en-US"/>
                      <a:pPr>
                        <a:defRPr sz="1100">
                          <a:solidFill>
                            <a:schemeClr val="accent2">
                              <a:lumMod val="60000"/>
                              <a:lumOff val="40000"/>
                            </a:schemeClr>
                          </a:solidFill>
                        </a:defRPr>
                      </a:pPr>
                      <a:t>[CELLRANGE]</a:t>
                    </a:fld>
                    <a:endParaRPr lang="en-IN"/>
                  </a:p>
                </c:rich>
              </c:tx>
              <c:spPr>
                <a:noFill/>
                <a:ln>
                  <a:noFill/>
                </a:ln>
                <a:effectLst/>
              </c:spPr>
              <c:txPr>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endParaRPr lang="en-US"/>
                </a:p>
              </c:txPr>
              <c:dLblPos val="r"/>
              <c:showLegendKey val="0"/>
              <c:showVal val="0"/>
              <c:showCatName val="0"/>
              <c:showSerName val="0"/>
              <c:showPercent val="0"/>
              <c:showBubbleSize val="0"/>
              <c:extLst>
                <c:ext xmlns:c15="http://schemas.microsoft.com/office/drawing/2012/chart" uri="{CE6537A1-D6FC-4f65-9D91-7224C49458BB}">
                  <c15:layout>
                    <c:manualLayout>
                      <c:w val="7.888773424822329E-2"/>
                      <c:h val="0.11094386794680439"/>
                    </c:manualLayout>
                  </c15:layout>
                  <c15:dlblFieldTable/>
                  <c15:showDataLabelsRange val="1"/>
                </c:ext>
                <c:ext xmlns:c16="http://schemas.microsoft.com/office/drawing/2014/chart" uri="{C3380CC4-5D6E-409C-BE32-E72D297353CC}">
                  <c16:uniqueId val="{00000002-4BEE-43F4-93C2-331C29B355FE}"/>
                </c:ext>
              </c:extLst>
            </c:dLbl>
            <c:dLbl>
              <c:idx val="3"/>
              <c:layout>
                <c:manualLayout>
                  <c:x val="-3.5779244928782323E-3"/>
                  <c:y val="-9.4217460976577613E-2"/>
                </c:manualLayout>
              </c:layout>
              <c:tx>
                <c:rich>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fld id="{8D43E142-304D-4939-AE9C-D817270E853F}" type="CELLRANGE">
                      <a:rPr lang="en-US"/>
                      <a:pPr>
                        <a:defRPr sz="1100">
                          <a:solidFill>
                            <a:schemeClr val="accent2">
                              <a:lumMod val="60000"/>
                              <a:lumOff val="40000"/>
                            </a:schemeClr>
                          </a:solidFill>
                        </a:defRPr>
                      </a:pPr>
                      <a:t>[CELLRANGE]</a:t>
                    </a:fld>
                    <a:endParaRPr lang="en-IN"/>
                  </a:p>
                </c:rich>
              </c:tx>
              <c:spPr>
                <a:noFill/>
                <a:ln>
                  <a:noFill/>
                </a:ln>
                <a:effectLst/>
              </c:spPr>
              <c:txPr>
                <a:bodyPr rot="0" spcFirstLastPara="1" vertOverflow="ellipsis" vert="horz" wrap="square" lIns="38100" tIns="19050" rIns="38100" bIns="19050" anchor="ctr" anchorCtr="1">
                  <a:noAutofit/>
                </a:bodyPr>
                <a:lstStyle/>
                <a:p>
                  <a:pPr>
                    <a:defRPr sz="1100" b="0" i="0" u="none" strike="noStrike" kern="1200" baseline="0">
                      <a:solidFill>
                        <a:schemeClr val="accent2">
                          <a:lumMod val="60000"/>
                          <a:lumOff val="40000"/>
                        </a:schemeClr>
                      </a:solidFill>
                      <a:latin typeface="+mn-lt"/>
                      <a:ea typeface="+mn-ea"/>
                      <a:cs typeface="+mn-cs"/>
                    </a:defRPr>
                  </a:pPr>
                  <a:endParaRPr lang="en-US"/>
                </a:p>
              </c:txPr>
              <c:dLblPos val="r"/>
              <c:showLegendKey val="0"/>
              <c:showVal val="0"/>
              <c:showCatName val="0"/>
              <c:showSerName val="0"/>
              <c:showPercent val="0"/>
              <c:showBubbleSize val="0"/>
              <c:extLst>
                <c:ext xmlns:c15="http://schemas.microsoft.com/office/drawing/2012/chart" uri="{CE6537A1-D6FC-4f65-9D91-7224C49458BB}">
                  <c15:layout>
                    <c:manualLayout>
                      <c:w val="0.16170630363694927"/>
                      <c:h val="0.14781364788260434"/>
                    </c:manualLayout>
                  </c15:layout>
                  <c15:dlblFieldTable/>
                  <c15:showDataLabelsRange val="1"/>
                </c:ext>
                <c:ext xmlns:c16="http://schemas.microsoft.com/office/drawing/2014/chart" uri="{C3380CC4-5D6E-409C-BE32-E72D297353CC}">
                  <c16:uniqueId val="{00000003-4BEE-43F4-93C2-331C29B355FE}"/>
                </c:ext>
              </c:extLst>
            </c:dLbl>
            <c:dLbl>
              <c:idx val="4"/>
              <c:layout>
                <c:manualLayout>
                  <c:x val="1.4959204950062343E-2"/>
                  <c:y val="-5.1206700195994354E-2"/>
                </c:manualLayout>
              </c:layout>
              <c:tx>
                <c:rich>
                  <a:bodyPr/>
                  <a:lstStyle/>
                  <a:p>
                    <a:fld id="{D2C64BD2-EE79-4760-BD10-B76BE39267ED}" type="CELLRANGE">
                      <a:rPr lang="en-US"/>
                      <a:pPr/>
                      <a:t>[CELLRANGE]</a:t>
                    </a:fld>
                    <a:endParaRPr lang="en-IN"/>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4BEE-43F4-93C2-331C29B355FE}"/>
                </c:ext>
              </c:extLst>
            </c:dLbl>
            <c:dLbl>
              <c:idx val="5"/>
              <c:tx>
                <c:rich>
                  <a:bodyPr/>
                  <a:lstStyle/>
                  <a:p>
                    <a:fld id="{CA3AC80E-F140-6B42-B9B0-6626FA4639F1}"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4BEE-43F4-93C2-331C29B355FE}"/>
                </c:ext>
              </c:extLst>
            </c:dLbl>
            <c:dLbl>
              <c:idx val="6"/>
              <c:tx>
                <c:rich>
                  <a:bodyPr/>
                  <a:lstStyle/>
                  <a:p>
                    <a:fld id="{4C50FB70-6EAB-EB42-A25D-E1D819FBFAA1}"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4BEE-43F4-93C2-331C29B355FE}"/>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accent2">
                        <a:lumMod val="60000"/>
                        <a:lumOff val="40000"/>
                      </a:schemeClr>
                    </a:solidFill>
                    <a:latin typeface="+mn-lt"/>
                    <a:ea typeface="+mn-ea"/>
                    <a:cs typeface="+mn-cs"/>
                  </a:defRPr>
                </a:pPr>
                <a:endParaRPr lang="en-US"/>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errBars>
            <c:errDir val="x"/>
            <c:errBarType val="plus"/>
            <c:errValType val="cust"/>
            <c:noEndCap val="1"/>
            <c:plus>
              <c:numRef>
                <c:f>'[Date tracker Gantt chart.xlsx]Dynamic Chart Data Hidden'!$D$15:$D$21</c:f>
                <c:numCache>
                  <c:formatCode>General</c:formatCode>
                  <c:ptCount val="7"/>
                  <c:pt idx="0">
                    <c:v>6</c:v>
                  </c:pt>
                  <c:pt idx="1">
                    <c:v>6</c:v>
                  </c:pt>
                  <c:pt idx="2">
                    <c:v>4</c:v>
                  </c:pt>
                  <c:pt idx="3">
                    <c:v>13</c:v>
                  </c:pt>
                  <c:pt idx="4">
                    <c:v>10</c:v>
                  </c:pt>
                  <c:pt idx="5">
                    <c:v>0</c:v>
                  </c:pt>
                  <c:pt idx="6">
                    <c:v>0</c:v>
                  </c:pt>
                </c:numCache>
              </c:numRef>
            </c:plus>
            <c:minus>
              <c:numLit>
                <c:formatCode>General</c:formatCode>
                <c:ptCount val="1"/>
                <c:pt idx="0">
                  <c:v>1</c:v>
                </c:pt>
              </c:numLit>
            </c:minus>
            <c:spPr>
              <a:noFill/>
              <a:ln w="101600" cap="flat" cmpd="sng" algn="ctr">
                <a:solidFill>
                  <a:schemeClr val="accent2">
                    <a:lumMod val="60000"/>
                    <a:lumOff val="40000"/>
                  </a:schemeClr>
                </a:solidFill>
                <a:round/>
              </a:ln>
              <a:effectLst/>
            </c:spPr>
          </c:errBars>
          <c:xVal>
            <c:numRef>
              <c:f>'[Date tracker Gantt chart.xlsx]Dynamic Chart Data Hidden'!$C$15:$C$21</c:f>
              <c:numCache>
                <c:formatCode>m/d/yyyy</c:formatCode>
                <c:ptCount val="7"/>
                <c:pt idx="0">
                  <c:v>45383</c:v>
                </c:pt>
                <c:pt idx="1">
                  <c:v>45389</c:v>
                </c:pt>
                <c:pt idx="2">
                  <c:v>45395</c:v>
                </c:pt>
                <c:pt idx="3">
                  <c:v>45401</c:v>
                </c:pt>
                <c:pt idx="4">
                  <c:v>45414</c:v>
                </c:pt>
                <c:pt idx="5">
                  <c:v>45383</c:v>
                </c:pt>
                <c:pt idx="6">
                  <c:v>45383</c:v>
                </c:pt>
              </c:numCache>
            </c:numRef>
          </c:xVal>
          <c:yVal>
            <c:numRef>
              <c:f>'[Date tracker Gantt chart.xlsx]Dynamic Chart Data Hidden'!$E$15:$E$21</c:f>
              <c:numCache>
                <c:formatCode>General</c:formatCode>
                <c:ptCount val="7"/>
                <c:pt idx="0">
                  <c:v>8</c:v>
                </c:pt>
                <c:pt idx="1">
                  <c:v>7</c:v>
                </c:pt>
                <c:pt idx="2">
                  <c:v>6</c:v>
                </c:pt>
                <c:pt idx="3">
                  <c:v>5</c:v>
                </c:pt>
                <c:pt idx="4">
                  <c:v>4</c:v>
                </c:pt>
                <c:pt idx="5">
                  <c:v>0</c:v>
                </c:pt>
                <c:pt idx="6">
                  <c:v>0</c:v>
                </c:pt>
              </c:numCache>
            </c:numRef>
          </c:yVal>
          <c:smooth val="0"/>
          <c:extLst>
            <c:ext xmlns:c15="http://schemas.microsoft.com/office/drawing/2012/chart" uri="{02D57815-91ED-43cb-92C2-25804820EDAC}">
              <c15:datalabelsRange>
                <c15:f>'[Date tracker Gantt chart.xlsx]Dynamic Chart Data Hidden'!$B$15:$B$21</c15:f>
                <c15:dlblRangeCache>
                  <c:ptCount val="7"/>
                  <c:pt idx="0">
                    <c:v>Taking Management approval for Trial Implementation</c:v>
                  </c:pt>
                  <c:pt idx="1">
                    <c:v>Preparing material for trial Implementation</c:v>
                  </c:pt>
                  <c:pt idx="2">
                    <c:v>Going for Trial Implementation</c:v>
                  </c:pt>
                  <c:pt idx="3">
                    <c:v>Checking Performance of trial implementation by data collection</c:v>
                  </c:pt>
                  <c:pt idx="4">
                    <c:v>Checking performance of regular implementation by data collection</c:v>
                  </c:pt>
                </c15:dlblRangeCache>
              </c15:datalabelsRange>
            </c:ext>
            <c:ext xmlns:c16="http://schemas.microsoft.com/office/drawing/2014/chart" uri="{C3380CC4-5D6E-409C-BE32-E72D297353CC}">
              <c16:uniqueId val="{00000007-4BEE-43F4-93C2-331C29B355FE}"/>
            </c:ext>
          </c:extLst>
        </c:ser>
        <c:ser>
          <c:idx val="1"/>
          <c:order val="1"/>
          <c:tx>
            <c:strRef>
              <c:f>'[Date tracker Gantt chart.xlsx]Dynamic Chart Data Hidden'!$B$2</c:f>
              <c:strCache>
                <c:ptCount val="1"/>
              </c:strCache>
            </c:strRef>
          </c:tx>
          <c:spPr>
            <a:ln w="25400" cap="rnd">
              <a:noFill/>
              <a:round/>
            </a:ln>
            <a:effectLst/>
          </c:spPr>
          <c:marker>
            <c:symbol val="circle"/>
            <c:size val="5"/>
            <c:spPr>
              <a:noFill/>
              <a:ln w="9525">
                <a:noFill/>
              </a:ln>
              <a:effectLst/>
            </c:spPr>
          </c:marker>
          <c:dLbls>
            <c:dLbl>
              <c:idx val="0"/>
              <c:tx>
                <c:rich>
                  <a:bodyPr rot="0" spcFirstLastPara="1" vertOverflow="ellipsis" vert="horz" wrap="square" lIns="38100" tIns="19050" rIns="38100" bIns="19050" anchor="ctr" anchorCtr="1">
                    <a:spAutoFit/>
                  </a:bodyPr>
                  <a:lstStyle/>
                  <a:p>
                    <a:pPr>
                      <a:defRPr sz="1100" b="0" i="0" u="none" strike="noStrike" kern="1200" baseline="0">
                        <a:solidFill>
                          <a:schemeClr val="bg2"/>
                        </a:solidFill>
                        <a:latin typeface="+mn-lt"/>
                        <a:ea typeface="+mn-ea"/>
                        <a:cs typeface="+mn-cs"/>
                      </a:defRPr>
                    </a:pPr>
                    <a:fld id="{B28B59A2-BA11-9045-80EE-12C19A984CBF}" type="CELLRANGE">
                      <a:rPr lang="en-US"/>
                      <a:pPr>
                        <a:defRPr sz="1100">
                          <a:solidFill>
                            <a:schemeClr val="bg2"/>
                          </a:solidFill>
                        </a:defRPr>
                      </a:pPr>
                      <a:t>[CELLRANGE]</a:t>
                    </a:fld>
                    <a:endParaRPr lang="en-IN"/>
                  </a:p>
                </c:rich>
              </c:tx>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2"/>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4BEE-43F4-93C2-331C29B355FE}"/>
                </c:ext>
              </c:extLst>
            </c:dLbl>
            <c:dLbl>
              <c:idx val="1"/>
              <c:tx>
                <c:rich>
                  <a:bodyPr/>
                  <a:lstStyle/>
                  <a:p>
                    <a:endParaRPr lang="en-US"/>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4BEE-43F4-93C2-331C29B355F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errBars>
            <c:errDir val="y"/>
            <c:errBarType val="minus"/>
            <c:errValType val="percentage"/>
            <c:noEndCap val="0"/>
            <c:val val="100"/>
            <c:spPr>
              <a:noFill/>
              <a:ln w="25400" cap="flat" cmpd="sng" algn="ctr">
                <a:solidFill>
                  <a:schemeClr val="bg2"/>
                </a:solidFill>
                <a:prstDash val="solid"/>
                <a:miter lim="800000"/>
              </a:ln>
              <a:effectLst/>
            </c:spPr>
          </c:errBars>
          <c:xVal>
            <c:numRef>
              <c:f>'[Date tracker Gantt chart.xlsx]Dynamic Chart Data Hidden'!$B$4:$B$5</c:f>
              <c:numCache>
                <c:formatCode>m/d/yyyy</c:formatCode>
                <c:ptCount val="2"/>
                <c:pt idx="0">
                  <c:v>45383</c:v>
                </c:pt>
                <c:pt idx="1">
                  <c:v>45383</c:v>
                </c:pt>
              </c:numCache>
            </c:numRef>
          </c:xVal>
          <c:yVal>
            <c:numRef>
              <c:f>'[Date tracker Gantt chart.xlsx]Dynamic Chart Data Hidden'!$C$4:$C$5</c:f>
              <c:numCache>
                <c:formatCode>General</c:formatCode>
                <c:ptCount val="2"/>
                <c:pt idx="0">
                  <c:v>0</c:v>
                </c:pt>
                <c:pt idx="1">
                  <c:v>0</c:v>
                </c:pt>
              </c:numCache>
            </c:numRef>
          </c:yVal>
          <c:smooth val="0"/>
          <c:extLst>
            <c:ext xmlns:c15="http://schemas.microsoft.com/office/drawing/2012/chart" uri="{02D57815-91ED-43cb-92C2-25804820EDAC}">
              <c15:datalabelsRange>
                <c15:f>'[Date tracker Gantt chart.xlsx]Dynamic Chart Data Hidden'!$B$2</c15:f>
                <c15:dlblRangeCache>
                  <c:ptCount val="1"/>
                </c15:dlblRangeCache>
              </c15:datalabelsRange>
            </c:ext>
            <c:ext xmlns:c16="http://schemas.microsoft.com/office/drawing/2014/chart" uri="{C3380CC4-5D6E-409C-BE32-E72D297353CC}">
              <c16:uniqueId val="{0000000A-4BEE-43F4-93C2-331C29B355FE}"/>
            </c:ext>
          </c:extLst>
        </c:ser>
        <c:ser>
          <c:idx val="2"/>
          <c:order val="2"/>
          <c:spPr>
            <a:ln w="25400" cap="rnd">
              <a:noFill/>
              <a:round/>
            </a:ln>
            <a:effectLst/>
          </c:spPr>
          <c:marker>
            <c:symbol val="circle"/>
            <c:size val="5"/>
            <c:spPr>
              <a:solidFill>
                <a:schemeClr val="accent6"/>
              </a:solidFill>
              <a:ln w="9525" cap="rnd">
                <a:noFill/>
              </a:ln>
              <a:effectLst/>
            </c:spPr>
          </c:marker>
          <c:dLbls>
            <c:dLbl>
              <c:idx val="0"/>
              <c:tx>
                <c:rich>
                  <a:bodyPr/>
                  <a:lstStyle/>
                  <a:p>
                    <a:fld id="{7DCD0B4C-3BAF-487D-9322-E3E164593CC6}"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4BEE-43F4-93C2-331C29B355FE}"/>
                </c:ext>
              </c:extLst>
            </c:dLbl>
            <c:dLbl>
              <c:idx val="1"/>
              <c:tx>
                <c:rich>
                  <a:bodyPr/>
                  <a:lstStyle/>
                  <a:p>
                    <a:fld id="{CFE794C0-408B-48FF-8083-00190138AC31}" type="CELLRANGE">
                      <a:rPr lang="en-IN"/>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4BEE-43F4-93C2-331C29B355FE}"/>
                </c:ext>
              </c:extLst>
            </c:dLbl>
            <c:dLbl>
              <c:idx val="2"/>
              <c:tx>
                <c:rich>
                  <a:bodyPr/>
                  <a:lstStyle/>
                  <a:p>
                    <a:fld id="{E66ECCD0-B87B-F341-BDCF-30323F50E126}"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4BEE-43F4-93C2-331C29B355FE}"/>
                </c:ext>
              </c:extLst>
            </c:dLbl>
            <c:dLbl>
              <c:idx val="3"/>
              <c:tx>
                <c:rich>
                  <a:bodyPr/>
                  <a:lstStyle/>
                  <a:p>
                    <a:fld id="{E9CE7C34-2623-C14F-8DDD-45D501B73B9C}"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4BEE-43F4-93C2-331C29B355FE}"/>
                </c:ext>
              </c:extLst>
            </c:dLbl>
            <c:dLbl>
              <c:idx val="4"/>
              <c:tx>
                <c:rich>
                  <a:bodyPr/>
                  <a:lstStyle/>
                  <a:p>
                    <a:fld id="{D64FDD77-B448-274D-9191-6CDE22D0BB4E}"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F-4BEE-43F4-93C2-331C29B355FE}"/>
                </c:ext>
              </c:extLst>
            </c:dLbl>
            <c:dLbl>
              <c:idx val="5"/>
              <c:tx>
                <c:rich>
                  <a:bodyPr/>
                  <a:lstStyle/>
                  <a:p>
                    <a:fld id="{D19F7A82-7B31-9E46-9CC8-9D9A9065DD99}"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4BEE-43F4-93C2-331C29B355FE}"/>
                </c:ext>
              </c:extLst>
            </c:dLbl>
            <c:dLbl>
              <c:idx val="6"/>
              <c:tx>
                <c:rich>
                  <a:bodyPr/>
                  <a:lstStyle/>
                  <a:p>
                    <a:fld id="{BD77D238-D8CA-9841-90EE-CEEC409BCBC0}"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1-4BEE-43F4-93C2-331C29B355FE}"/>
                </c:ext>
              </c:extLst>
            </c:dLbl>
            <c:dLbl>
              <c:idx val="7"/>
              <c:tx>
                <c:rich>
                  <a:bodyPr/>
                  <a:lstStyle/>
                  <a:p>
                    <a:fld id="{77C972AE-B6E6-C848-99C9-BA6D34C227F1}"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4BEE-43F4-93C2-331C29B355FE}"/>
                </c:ext>
              </c:extLst>
            </c:dLbl>
            <c:dLbl>
              <c:idx val="8"/>
              <c:tx>
                <c:rich>
                  <a:bodyPr/>
                  <a:lstStyle/>
                  <a:p>
                    <a:fld id="{0E8BAF01-440A-414D-AFFD-A9ED0E68F527}"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3-4BEE-43F4-93C2-331C29B355FE}"/>
                </c:ext>
              </c:extLst>
            </c:dLbl>
            <c:dLbl>
              <c:idx val="9"/>
              <c:tx>
                <c:rich>
                  <a:bodyPr/>
                  <a:lstStyle/>
                  <a:p>
                    <a:fld id="{6860EF43-7235-1F40-9269-42C0C6B59BB0}"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4BEE-43F4-93C2-331C29B355FE}"/>
                </c:ext>
              </c:extLst>
            </c:dLbl>
            <c:dLbl>
              <c:idx val="10"/>
              <c:tx>
                <c:rich>
                  <a:bodyPr/>
                  <a:lstStyle/>
                  <a:p>
                    <a:fld id="{AE53FAB3-851B-1246-9EE3-69C3B0F985F9}"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5-4BEE-43F4-93C2-331C29B355FE}"/>
                </c:ext>
              </c:extLst>
            </c:dLbl>
            <c:dLbl>
              <c:idx val="11"/>
              <c:tx>
                <c:rich>
                  <a:bodyPr/>
                  <a:lstStyle/>
                  <a:p>
                    <a:fld id="{FAD4315D-7BFA-0E4A-9A33-877EE9EE178C}"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4BEE-43F4-93C2-331C29B355FE}"/>
                </c:ext>
              </c:extLst>
            </c:dLbl>
            <c:dLbl>
              <c:idx val="12"/>
              <c:tx>
                <c:rich>
                  <a:bodyPr/>
                  <a:lstStyle/>
                  <a:p>
                    <a:fld id="{E901BE54-F526-9B42-9157-D0FF3500DB39}"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4BEE-43F4-93C2-331C29B355FE}"/>
                </c:ext>
              </c:extLst>
            </c:dLbl>
            <c:dLbl>
              <c:idx val="13"/>
              <c:tx>
                <c:rich>
                  <a:bodyPr/>
                  <a:lstStyle/>
                  <a:p>
                    <a:fld id="{C0D260E9-DF9E-3C40-9F2E-AE8C78270518}"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8-4BEE-43F4-93C2-331C29B355FE}"/>
                </c:ext>
              </c:extLst>
            </c:dLbl>
            <c:dLbl>
              <c:idx val="14"/>
              <c:tx>
                <c:rich>
                  <a:bodyPr/>
                  <a:lstStyle/>
                  <a:p>
                    <a:fld id="{D6022BC2-9819-564E-98DE-BDC99342883C}" type="CELLRANGE">
                      <a:rPr lang="en-US"/>
                      <a:pPr/>
                      <a:t>[CELLRANGE]</a:t>
                    </a:fld>
                    <a:endParaRPr lang="en-IN"/>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9-4BEE-43F4-93C2-331C29B355FE}"/>
                </c:ext>
              </c:extLst>
            </c:dLbl>
            <c:dLbl>
              <c:idx val="15"/>
              <c:tx>
                <c:rich>
                  <a:bodyPr/>
                  <a:lstStyle/>
                  <a:p>
                    <a:endParaRPr lang="en-US"/>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A-4BEE-43F4-93C2-331C29B355FE}"/>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accent6"/>
                    </a:solidFill>
                    <a:latin typeface="+mn-lt"/>
                    <a:ea typeface="+mn-ea"/>
                    <a:cs typeface="+mn-cs"/>
                  </a:defRPr>
                </a:pPr>
                <a:endParaRPr lang="en-US"/>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'[Date tracker Gantt chart.xlsx]Dynamic Chart Data Hidden'!$H$18:$H$32</c:f>
              <c:numCache>
                <c:formatCode>m/d/yyyy</c:formatCode>
                <c:ptCount val="15"/>
                <c:pt idx="0">
                  <c:v>45393</c:v>
                </c:pt>
                <c:pt idx="1">
                  <c:v>45397</c:v>
                </c:pt>
                <c:pt idx="2">
                  <c:v>45398</c:v>
                </c:pt>
                <c:pt idx="3">
                  <c:v>45398</c:v>
                </c:pt>
                <c:pt idx="4">
                  <c:v>45398</c:v>
                </c:pt>
                <c:pt idx="5">
                  <c:v>45398</c:v>
                </c:pt>
                <c:pt idx="6">
                  <c:v>45398</c:v>
                </c:pt>
                <c:pt idx="7">
                  <c:v>45398</c:v>
                </c:pt>
                <c:pt idx="8">
                  <c:v>45398</c:v>
                </c:pt>
                <c:pt idx="9">
                  <c:v>45398</c:v>
                </c:pt>
                <c:pt idx="10">
                  <c:v>45398</c:v>
                </c:pt>
                <c:pt idx="11">
                  <c:v>45398</c:v>
                </c:pt>
                <c:pt idx="12">
                  <c:v>45398</c:v>
                </c:pt>
                <c:pt idx="13">
                  <c:v>45398</c:v>
                </c:pt>
                <c:pt idx="14">
                  <c:v>45398</c:v>
                </c:pt>
              </c:numCache>
            </c:numRef>
          </c:xVal>
          <c:yVal>
            <c:numRef>
              <c:f>'[Date tracker Gantt chart.xlsx]Dynamic Chart Data Hidden'!$I$18:$I$33</c:f>
              <c:numCache>
                <c:formatCode>General</c:formatCode>
                <c:ptCount val="16"/>
                <c:pt idx="0">
                  <c:v>1</c:v>
                </c:pt>
                <c:pt idx="1">
                  <c:v>1</c:v>
                </c:pt>
                <c:pt idx="2">
                  <c:v>0</c:v>
                </c:pt>
                <c:pt idx="3">
                  <c:v>0</c:v>
                </c:pt>
                <c:pt idx="4">
                  <c:v>0</c:v>
                </c:pt>
                <c:pt idx="5">
                  <c:v>0</c:v>
                </c:pt>
                <c:pt idx="6">
                  <c:v>0</c:v>
                </c:pt>
                <c:pt idx="7">
                  <c:v>0</c:v>
                </c:pt>
                <c:pt idx="8">
                  <c:v>0</c:v>
                </c:pt>
                <c:pt idx="9">
                  <c:v>0</c:v>
                </c:pt>
                <c:pt idx="10">
                  <c:v>0</c:v>
                </c:pt>
                <c:pt idx="11">
                  <c:v>0</c:v>
                </c:pt>
                <c:pt idx="12">
                  <c:v>0</c:v>
                </c:pt>
                <c:pt idx="13">
                  <c:v>0</c:v>
                </c:pt>
                <c:pt idx="14">
                  <c:v>0</c:v>
                </c:pt>
              </c:numCache>
            </c:numRef>
          </c:yVal>
          <c:smooth val="0"/>
          <c:extLst>
            <c:ext xmlns:c15="http://schemas.microsoft.com/office/drawing/2012/chart" uri="{02D57815-91ED-43cb-92C2-25804820EDAC}">
              <c15:datalabelsRange>
                <c15:f>'[Date tracker Gantt chart.xlsx]Dynamic Chart Data Hidden'!$G$18:$G$33</c15:f>
                <c15:dlblRangeCache>
                  <c:ptCount val="16"/>
                  <c:pt idx="0">
                    <c:v>Milestone 1</c:v>
                  </c:pt>
                  <c:pt idx="1">
                    <c:v>Milestone 2</c:v>
                  </c:pt>
                </c15:dlblRangeCache>
              </c15:datalabelsRange>
            </c:ext>
            <c:ext xmlns:c16="http://schemas.microsoft.com/office/drawing/2014/chart" uri="{C3380CC4-5D6E-409C-BE32-E72D297353CC}">
              <c16:uniqueId val="{0000001B-4BEE-43F4-93C2-331C29B355FE}"/>
            </c:ext>
          </c:extLst>
        </c:ser>
        <c:dLbls>
          <c:dLblPos val="t"/>
          <c:showLegendKey val="0"/>
          <c:showVal val="1"/>
          <c:showCatName val="0"/>
          <c:showSerName val="0"/>
          <c:showPercent val="0"/>
          <c:showBubbleSize val="0"/>
        </c:dLbls>
        <c:axId val="604342632"/>
        <c:axId val="604342960"/>
      </c:scatterChart>
      <c:valAx>
        <c:axId val="604342632"/>
        <c:scaling>
          <c:orientation val="minMax"/>
        </c:scaling>
        <c:delete val="0"/>
        <c:axPos val="b"/>
        <c:majorGridlines>
          <c:spPr>
            <a:ln w="9525" cap="flat" cmpd="sng" algn="ctr">
              <a:solidFill>
                <a:schemeClr val="tx2"/>
              </a:solidFill>
              <a:round/>
            </a:ln>
            <a:effectLst/>
          </c:spPr>
        </c:majorGridlines>
        <c:numFmt formatCode="m/d/yyyy" sourceLinked="1"/>
        <c:majorTickMark val="none"/>
        <c:minorTickMark val="none"/>
        <c:tickLblPos val="nextTo"/>
        <c:spPr>
          <a:noFill/>
          <a:ln w="101600" cap="flat" cmpd="sng" algn="ctr">
            <a:solidFill>
              <a:schemeClr val="accent6"/>
            </a:solidFill>
            <a:round/>
          </a:ln>
          <a:effectLst/>
        </c:spPr>
        <c:txPr>
          <a:bodyPr rot="-1800000" spcFirstLastPara="1" vertOverflow="ellipsis" wrap="square" anchor="ctr" anchorCtr="1"/>
          <a:lstStyle/>
          <a:p>
            <a:pPr>
              <a:defRPr sz="1100" b="0" i="0" u="none" strike="noStrike" kern="1200" baseline="0">
                <a:solidFill>
                  <a:schemeClr val="accent6"/>
                </a:solidFill>
                <a:latin typeface="+mn-lt"/>
                <a:ea typeface="+mn-ea"/>
                <a:cs typeface="+mn-cs"/>
              </a:defRPr>
            </a:pPr>
            <a:endParaRPr lang="en-US"/>
          </a:p>
        </c:txPr>
        <c:crossAx val="604342960"/>
        <c:crosses val="autoZero"/>
        <c:crossBetween val="midCat"/>
        <c:majorUnit val="5"/>
      </c:valAx>
      <c:valAx>
        <c:axId val="604342960"/>
        <c:scaling>
          <c:orientation val="minMax"/>
        </c:scaling>
        <c:delete val="1"/>
        <c:axPos val="l"/>
        <c:numFmt formatCode="General" sourceLinked="1"/>
        <c:majorTickMark val="none"/>
        <c:minorTickMark val="none"/>
        <c:tickLblPos val="none"/>
        <c:crossAx val="60434263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12.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927E65-5E96-47A9-AE56-C6EB7AE03552}" type="doc">
      <dgm:prSet loTypeId="urn:microsoft.com/office/officeart/2008/layout/AscendingPictureAccentProcess" loCatId="picture" qsTypeId="urn:microsoft.com/office/officeart/2005/8/quickstyle/simple2" qsCatId="simple" csTypeId="urn:microsoft.com/office/officeart/2005/8/colors/accent1_2" csCatId="accent1" phldr="1"/>
      <dgm:spPr/>
      <dgm:t>
        <a:bodyPr/>
        <a:lstStyle/>
        <a:p>
          <a:endParaRPr lang="en-IN"/>
        </a:p>
      </dgm:t>
    </dgm:pt>
    <dgm:pt modelId="{FA7F31ED-D1A7-4A1D-BABA-BDBDB8726023}">
      <dgm:prSet custT="1"/>
      <dgm:spPr/>
      <dgm:t>
        <a:bodyPr/>
        <a:lstStyle/>
        <a:p>
          <a:r>
            <a:rPr lang="en-IN" sz="1500" b="1" dirty="0">
              <a:solidFill>
                <a:srgbClr val="002060"/>
              </a:solidFill>
            </a:rPr>
            <a:t>SMP reviewed again to have a better results</a:t>
          </a:r>
        </a:p>
      </dgm:t>
    </dgm:pt>
    <dgm:pt modelId="{AE22949A-366E-44D3-973F-FBFB22D278E8}" type="parTrans" cxnId="{2C58ABAD-4294-4883-903F-3019B773DE56}">
      <dgm:prSet/>
      <dgm:spPr/>
      <dgm:t>
        <a:bodyPr/>
        <a:lstStyle/>
        <a:p>
          <a:endParaRPr lang="en-IN" sz="1400"/>
        </a:p>
      </dgm:t>
    </dgm:pt>
    <dgm:pt modelId="{9B604F9A-FE0E-4D82-9A45-4A26D94462FB}" type="sibTrans" cxnId="{2C58ABAD-4294-4883-903F-3019B773DE56}">
      <dgm:prSet/>
      <dgm:spPr/>
      <dgm:t>
        <a:bodyPr/>
        <a:lstStyle/>
        <a:p>
          <a:endParaRPr lang="en-IN" sz="1400"/>
        </a:p>
      </dgm:t>
    </dgm:pt>
    <dgm:pt modelId="{D5A01FF9-9A42-460E-8C6F-0DD168E510F5}">
      <dgm:prSet custT="1"/>
      <dgm:spPr/>
      <dgm:t>
        <a:bodyPr/>
        <a:lstStyle/>
        <a:p>
          <a:pPr algn="ctr"/>
          <a:r>
            <a:rPr lang="en-IN" sz="1500" b="1" dirty="0">
              <a:solidFill>
                <a:srgbClr val="002060"/>
              </a:solidFill>
            </a:rPr>
            <a:t>SOP provided </a:t>
          </a:r>
          <a:r>
            <a:rPr lang="en-IN" sz="1500" b="1" dirty="0" err="1">
              <a:solidFill>
                <a:srgbClr val="002060"/>
              </a:solidFill>
            </a:rPr>
            <a:t>incase</a:t>
          </a:r>
          <a:r>
            <a:rPr lang="en-IN" sz="1500" b="1" dirty="0">
              <a:solidFill>
                <a:srgbClr val="002060"/>
              </a:solidFill>
            </a:rPr>
            <a:t> of external discharge </a:t>
          </a:r>
        </a:p>
      </dgm:t>
    </dgm:pt>
    <dgm:pt modelId="{1CC79013-828C-49D4-9C09-AFA0ABB8832C}" type="parTrans" cxnId="{F8CA0358-246B-44E2-B5D7-A6856DBDB71F}">
      <dgm:prSet/>
      <dgm:spPr/>
      <dgm:t>
        <a:bodyPr/>
        <a:lstStyle/>
        <a:p>
          <a:endParaRPr lang="en-IN" sz="1400"/>
        </a:p>
      </dgm:t>
    </dgm:pt>
    <dgm:pt modelId="{768589A4-B665-427B-B4A5-1FF5FD710B4D}" type="sibTrans" cxnId="{F8CA0358-246B-44E2-B5D7-A6856DBDB71F}">
      <dgm:prSet/>
      <dgm:spPr/>
      <dgm:t>
        <a:bodyPr/>
        <a:lstStyle/>
        <a:p>
          <a:endParaRPr lang="en-IN" sz="1400"/>
        </a:p>
      </dgm:t>
    </dgm:pt>
    <dgm:pt modelId="{96A0A9C9-4A15-4BB6-A98B-0E6B7A7F4E6B}">
      <dgm:prSet custT="1"/>
      <dgm:spPr/>
      <dgm:t>
        <a:bodyPr/>
        <a:lstStyle/>
        <a:p>
          <a:pPr algn="ctr"/>
          <a:r>
            <a:rPr lang="en-IN" sz="1500" b="1" dirty="0">
              <a:solidFill>
                <a:srgbClr val="002060"/>
              </a:solidFill>
            </a:rPr>
            <a:t>Training given to operators for the procedure</a:t>
          </a:r>
        </a:p>
      </dgm:t>
    </dgm:pt>
    <dgm:pt modelId="{5E1ED624-413C-49C7-B138-394EE649D374}" type="parTrans" cxnId="{A9416F31-4635-499D-B16A-9BED04EAB7AB}">
      <dgm:prSet/>
      <dgm:spPr/>
      <dgm:t>
        <a:bodyPr/>
        <a:lstStyle/>
        <a:p>
          <a:endParaRPr lang="en-IN" sz="1400"/>
        </a:p>
      </dgm:t>
    </dgm:pt>
    <dgm:pt modelId="{8B0B25C4-99E9-48EC-BD91-ED7E17629D82}" type="sibTrans" cxnId="{A9416F31-4635-499D-B16A-9BED04EAB7AB}">
      <dgm:prSet/>
      <dgm:spPr/>
      <dgm:t>
        <a:bodyPr/>
        <a:lstStyle/>
        <a:p>
          <a:endParaRPr lang="en-IN" sz="1400"/>
        </a:p>
      </dgm:t>
    </dgm:pt>
    <dgm:pt modelId="{ED682B85-2F4B-4826-82C1-3FA2D8515B53}">
      <dgm:prSet custT="1"/>
      <dgm:spPr/>
      <dgm:t>
        <a:bodyPr/>
        <a:lstStyle/>
        <a:p>
          <a:pPr algn="ctr"/>
          <a:r>
            <a:rPr lang="en-IN" sz="1500" b="1" dirty="0">
              <a:solidFill>
                <a:srgbClr val="002060"/>
              </a:solidFill>
            </a:rPr>
            <a:t>Checklist provided in control room for monitoring discharge </a:t>
          </a:r>
        </a:p>
      </dgm:t>
    </dgm:pt>
    <dgm:pt modelId="{0E2BA310-99ED-4289-9B14-75137B6D921A}" type="parTrans" cxnId="{3F426D33-C502-415F-9F58-6DCA9944AECD}">
      <dgm:prSet/>
      <dgm:spPr/>
      <dgm:t>
        <a:bodyPr/>
        <a:lstStyle/>
        <a:p>
          <a:endParaRPr lang="en-IN" sz="1400"/>
        </a:p>
      </dgm:t>
    </dgm:pt>
    <dgm:pt modelId="{40E05702-E1C4-4964-A0A5-79F755D08210}" type="sibTrans" cxnId="{3F426D33-C502-415F-9F58-6DCA9944AECD}">
      <dgm:prSet/>
      <dgm:spPr/>
      <dgm:t>
        <a:bodyPr/>
        <a:lstStyle/>
        <a:p>
          <a:endParaRPr lang="en-IN" sz="1400"/>
        </a:p>
      </dgm:t>
    </dgm:pt>
    <dgm:pt modelId="{A98AFA64-202C-44CE-9626-579765FF01DE}" type="pres">
      <dgm:prSet presAssocID="{1A927E65-5E96-47A9-AE56-C6EB7AE03552}" presName="Name0" presStyleCnt="0">
        <dgm:presLayoutVars>
          <dgm:chMax val="7"/>
          <dgm:chPref val="7"/>
          <dgm:dir/>
        </dgm:presLayoutVars>
      </dgm:prSet>
      <dgm:spPr/>
    </dgm:pt>
    <dgm:pt modelId="{B9281CF4-AF08-4D54-89F1-9BF95BB76B54}" type="pres">
      <dgm:prSet presAssocID="{1A927E65-5E96-47A9-AE56-C6EB7AE03552}" presName="dot1" presStyleLbl="alignNode1" presStyleIdx="0" presStyleCnt="13"/>
      <dgm:spPr/>
    </dgm:pt>
    <dgm:pt modelId="{CF568CBA-B97E-4584-9FAF-EFE109295E7A}" type="pres">
      <dgm:prSet presAssocID="{1A927E65-5E96-47A9-AE56-C6EB7AE03552}" presName="dot2" presStyleLbl="alignNode1" presStyleIdx="1" presStyleCnt="13"/>
      <dgm:spPr/>
    </dgm:pt>
    <dgm:pt modelId="{65B48085-E40D-4143-88C6-B7E0FD5BA04C}" type="pres">
      <dgm:prSet presAssocID="{1A927E65-5E96-47A9-AE56-C6EB7AE03552}" presName="dot3" presStyleLbl="alignNode1" presStyleIdx="2" presStyleCnt="13"/>
      <dgm:spPr/>
    </dgm:pt>
    <dgm:pt modelId="{185DE244-E996-4725-BB46-94E0125F4F27}" type="pres">
      <dgm:prSet presAssocID="{1A927E65-5E96-47A9-AE56-C6EB7AE03552}" presName="dot4" presStyleLbl="alignNode1" presStyleIdx="3" presStyleCnt="13"/>
      <dgm:spPr/>
    </dgm:pt>
    <dgm:pt modelId="{5641DA96-EA14-4B2E-9846-A4EA003B15A0}" type="pres">
      <dgm:prSet presAssocID="{1A927E65-5E96-47A9-AE56-C6EB7AE03552}" presName="dot5" presStyleLbl="alignNode1" presStyleIdx="4" presStyleCnt="13"/>
      <dgm:spPr/>
    </dgm:pt>
    <dgm:pt modelId="{35A18A57-E8A0-4037-A7A0-4945AA6B5F29}" type="pres">
      <dgm:prSet presAssocID="{1A927E65-5E96-47A9-AE56-C6EB7AE03552}" presName="dot6" presStyleLbl="alignNode1" presStyleIdx="5" presStyleCnt="13"/>
      <dgm:spPr/>
    </dgm:pt>
    <dgm:pt modelId="{B3DB8881-8FBC-4C5F-B3EF-505667E544AE}" type="pres">
      <dgm:prSet presAssocID="{1A927E65-5E96-47A9-AE56-C6EB7AE03552}" presName="dotArrow1" presStyleLbl="alignNode1" presStyleIdx="6" presStyleCnt="13"/>
      <dgm:spPr/>
    </dgm:pt>
    <dgm:pt modelId="{85166CCD-1C3E-440C-B699-0757216E11CC}" type="pres">
      <dgm:prSet presAssocID="{1A927E65-5E96-47A9-AE56-C6EB7AE03552}" presName="dotArrow2" presStyleLbl="alignNode1" presStyleIdx="7" presStyleCnt="13"/>
      <dgm:spPr/>
    </dgm:pt>
    <dgm:pt modelId="{A567A797-9E58-4BEB-B91E-217F5873FBAD}" type="pres">
      <dgm:prSet presAssocID="{1A927E65-5E96-47A9-AE56-C6EB7AE03552}" presName="dotArrow3" presStyleLbl="alignNode1" presStyleIdx="8" presStyleCnt="13"/>
      <dgm:spPr/>
    </dgm:pt>
    <dgm:pt modelId="{D996D68B-0C77-4049-A87F-86B62F2E1A3A}" type="pres">
      <dgm:prSet presAssocID="{1A927E65-5E96-47A9-AE56-C6EB7AE03552}" presName="dotArrow4" presStyleLbl="alignNode1" presStyleIdx="9" presStyleCnt="13"/>
      <dgm:spPr/>
    </dgm:pt>
    <dgm:pt modelId="{ABB92704-54CD-4A3B-A659-ED5B2F6CB939}" type="pres">
      <dgm:prSet presAssocID="{1A927E65-5E96-47A9-AE56-C6EB7AE03552}" presName="dotArrow5" presStyleLbl="alignNode1" presStyleIdx="10" presStyleCnt="13"/>
      <dgm:spPr/>
    </dgm:pt>
    <dgm:pt modelId="{33A6FDD9-FCC7-4E91-B312-A604B423AA5C}" type="pres">
      <dgm:prSet presAssocID="{1A927E65-5E96-47A9-AE56-C6EB7AE03552}" presName="dotArrow6" presStyleLbl="alignNode1" presStyleIdx="11" presStyleCnt="13" custLinFactY="-9090" custLinFactNeighborX="8234" custLinFactNeighborY="-100000"/>
      <dgm:spPr/>
    </dgm:pt>
    <dgm:pt modelId="{ED2A0D7A-8F7A-4F57-900A-22A729A95325}" type="pres">
      <dgm:prSet presAssocID="{1A927E65-5E96-47A9-AE56-C6EB7AE03552}" presName="dotArrow7" presStyleLbl="alignNode1" presStyleIdx="12" presStyleCnt="13"/>
      <dgm:spPr/>
    </dgm:pt>
    <dgm:pt modelId="{0A2B6557-41DE-43DB-8770-2DC6E240FE43}" type="pres">
      <dgm:prSet presAssocID="{ED682B85-2F4B-4826-82C1-3FA2D8515B53}" presName="parTx1" presStyleLbl="node1" presStyleIdx="0" presStyleCnt="4" custScaleX="255846" custScaleY="132670" custLinFactY="37283" custLinFactNeighborX="80481" custLinFactNeighborY="100000"/>
      <dgm:spPr/>
    </dgm:pt>
    <dgm:pt modelId="{4501102F-54DA-4938-B337-58CFFFFA8282}" type="pres">
      <dgm:prSet presAssocID="{40E05702-E1C4-4964-A0A5-79F755D08210}" presName="picture1" presStyleCnt="0"/>
      <dgm:spPr/>
    </dgm:pt>
    <dgm:pt modelId="{A4083D54-C366-4721-89A6-3ECFFEAF4802}" type="pres">
      <dgm:prSet presAssocID="{40E05702-E1C4-4964-A0A5-79F755D08210}" presName="imageRepeatNode" presStyleLbl="fgImgPlace1" presStyleIdx="0" presStyleCnt="4" custScaleX="101545" custScaleY="108521" custLinFactNeighborX="27934" custLinFactNeighborY="36168"/>
      <dgm:spPr/>
    </dgm:pt>
    <dgm:pt modelId="{02EC51FC-56F4-4054-8303-DAED52B28FC5}" type="pres">
      <dgm:prSet presAssocID="{96A0A9C9-4A15-4BB6-A98B-0E6B7A7F4E6B}" presName="parTx2" presStyleLbl="node1" presStyleIdx="1" presStyleCnt="4" custScaleX="266205" custScaleY="132717" custLinFactNeighborX="74382" custLinFactNeighborY="35934"/>
      <dgm:spPr/>
    </dgm:pt>
    <dgm:pt modelId="{A683C0D7-E084-4079-BC32-FDEC1B763067}" type="pres">
      <dgm:prSet presAssocID="{8B0B25C4-99E9-48EC-BD91-ED7E17629D82}" presName="picture2" presStyleCnt="0"/>
      <dgm:spPr/>
    </dgm:pt>
    <dgm:pt modelId="{48FD205A-10FF-457B-8CBD-58670AFC381B}" type="pres">
      <dgm:prSet presAssocID="{8B0B25C4-99E9-48EC-BD91-ED7E17629D82}" presName="imageRepeatNode" presStyleLbl="fgImgPlace1" presStyleIdx="1" presStyleCnt="4"/>
      <dgm:spPr/>
    </dgm:pt>
    <dgm:pt modelId="{22A827DB-09B6-4436-9BD4-FFD5483B8D08}" type="pres">
      <dgm:prSet presAssocID="{D5A01FF9-9A42-460E-8C6F-0DD168E510F5}" presName="parTx3" presStyleLbl="node1" presStyleIdx="2" presStyleCnt="4" custScaleX="244121" custScaleY="127153" custLinFactNeighborX="76093" custLinFactNeighborY="8618"/>
      <dgm:spPr/>
    </dgm:pt>
    <dgm:pt modelId="{DA0D0693-0F4E-4A33-AE0E-CD50E4CCA706}" type="pres">
      <dgm:prSet presAssocID="{768589A4-B665-427B-B4A5-1FF5FD710B4D}" presName="picture3" presStyleCnt="0"/>
      <dgm:spPr/>
    </dgm:pt>
    <dgm:pt modelId="{AE7955C7-21B6-4BC1-844E-33333E27A675}" type="pres">
      <dgm:prSet presAssocID="{768589A4-B665-427B-B4A5-1FF5FD710B4D}" presName="imageRepeatNode" presStyleLbl="fgImgPlace1" presStyleIdx="2" presStyleCnt="4"/>
      <dgm:spPr/>
    </dgm:pt>
    <dgm:pt modelId="{B5D47B69-F7F1-4435-86E1-D96F6A291F8E}" type="pres">
      <dgm:prSet presAssocID="{FA7F31ED-D1A7-4A1D-BABA-BDBDB8726023}" presName="parTx4" presStyleLbl="node1" presStyleIdx="3" presStyleCnt="4" custScaleX="260697" custScaleY="135582" custLinFactNeighborX="91129" custLinFactNeighborY="18835"/>
      <dgm:spPr/>
    </dgm:pt>
    <dgm:pt modelId="{CCD6C5FF-F21A-47FD-B5C4-1F16A71A19A7}" type="pres">
      <dgm:prSet presAssocID="{9B604F9A-FE0E-4D82-9A45-4A26D94462FB}" presName="picture4" presStyleCnt="0"/>
      <dgm:spPr/>
    </dgm:pt>
    <dgm:pt modelId="{C8F4B0ED-B07A-42D4-A39C-D9CE5D453539}" type="pres">
      <dgm:prSet presAssocID="{9B604F9A-FE0E-4D82-9A45-4A26D94462FB}" presName="imageRepeatNode" presStyleLbl="fgImgPlace1" presStyleIdx="3" presStyleCnt="4"/>
      <dgm:spPr/>
    </dgm:pt>
  </dgm:ptLst>
  <dgm:cxnLst>
    <dgm:cxn modelId="{ED615A00-FA31-4068-AD03-93B03E4AEBA0}" type="presOf" srcId="{9B604F9A-FE0E-4D82-9A45-4A26D94462FB}" destId="{C8F4B0ED-B07A-42D4-A39C-D9CE5D453539}" srcOrd="0" destOrd="0" presId="urn:microsoft.com/office/officeart/2008/layout/AscendingPictureAccentProcess"/>
    <dgm:cxn modelId="{14A8CD0C-7C16-4830-AFC0-7E0DD50D8006}" type="presOf" srcId="{1A927E65-5E96-47A9-AE56-C6EB7AE03552}" destId="{A98AFA64-202C-44CE-9626-579765FF01DE}" srcOrd="0" destOrd="0" presId="urn:microsoft.com/office/officeart/2008/layout/AscendingPictureAccentProcess"/>
    <dgm:cxn modelId="{567CCB12-C4D1-49C4-BC9E-D259EAA5F2B6}" type="presOf" srcId="{ED682B85-2F4B-4826-82C1-3FA2D8515B53}" destId="{0A2B6557-41DE-43DB-8770-2DC6E240FE43}" srcOrd="0" destOrd="0" presId="urn:microsoft.com/office/officeart/2008/layout/AscendingPictureAccentProcess"/>
    <dgm:cxn modelId="{A9416F31-4635-499D-B16A-9BED04EAB7AB}" srcId="{1A927E65-5E96-47A9-AE56-C6EB7AE03552}" destId="{96A0A9C9-4A15-4BB6-A98B-0E6B7A7F4E6B}" srcOrd="1" destOrd="0" parTransId="{5E1ED624-413C-49C7-B138-394EE649D374}" sibTransId="{8B0B25C4-99E9-48EC-BD91-ED7E17629D82}"/>
    <dgm:cxn modelId="{3F426D33-C502-415F-9F58-6DCA9944AECD}" srcId="{1A927E65-5E96-47A9-AE56-C6EB7AE03552}" destId="{ED682B85-2F4B-4826-82C1-3FA2D8515B53}" srcOrd="0" destOrd="0" parTransId="{0E2BA310-99ED-4289-9B14-75137B6D921A}" sibTransId="{40E05702-E1C4-4964-A0A5-79F755D08210}"/>
    <dgm:cxn modelId="{2A1EA263-96D3-4EB7-9296-E752C6A254E7}" type="presOf" srcId="{768589A4-B665-427B-B4A5-1FF5FD710B4D}" destId="{AE7955C7-21B6-4BC1-844E-33333E27A675}" srcOrd="0" destOrd="0" presId="urn:microsoft.com/office/officeart/2008/layout/AscendingPictureAccentProcess"/>
    <dgm:cxn modelId="{E6121E73-D0C2-4CF8-BA73-B258801F26B2}" type="presOf" srcId="{FA7F31ED-D1A7-4A1D-BABA-BDBDB8726023}" destId="{B5D47B69-F7F1-4435-86E1-D96F6A291F8E}" srcOrd="0" destOrd="0" presId="urn:microsoft.com/office/officeart/2008/layout/AscendingPictureAccentProcess"/>
    <dgm:cxn modelId="{EC51EF57-6A30-4EF2-ADD5-CA8D50BA2579}" type="presOf" srcId="{8B0B25C4-99E9-48EC-BD91-ED7E17629D82}" destId="{48FD205A-10FF-457B-8CBD-58670AFC381B}" srcOrd="0" destOrd="0" presId="urn:microsoft.com/office/officeart/2008/layout/AscendingPictureAccentProcess"/>
    <dgm:cxn modelId="{F8CA0358-246B-44E2-B5D7-A6856DBDB71F}" srcId="{1A927E65-5E96-47A9-AE56-C6EB7AE03552}" destId="{D5A01FF9-9A42-460E-8C6F-0DD168E510F5}" srcOrd="2" destOrd="0" parTransId="{1CC79013-828C-49D4-9C09-AFA0ABB8832C}" sibTransId="{768589A4-B665-427B-B4A5-1FF5FD710B4D}"/>
    <dgm:cxn modelId="{2C58ABAD-4294-4883-903F-3019B773DE56}" srcId="{1A927E65-5E96-47A9-AE56-C6EB7AE03552}" destId="{FA7F31ED-D1A7-4A1D-BABA-BDBDB8726023}" srcOrd="3" destOrd="0" parTransId="{AE22949A-366E-44D3-973F-FBFB22D278E8}" sibTransId="{9B604F9A-FE0E-4D82-9A45-4A26D94462FB}"/>
    <dgm:cxn modelId="{3746C6B8-AC58-43BD-AAD1-493EA428A613}" type="presOf" srcId="{96A0A9C9-4A15-4BB6-A98B-0E6B7A7F4E6B}" destId="{02EC51FC-56F4-4054-8303-DAED52B28FC5}" srcOrd="0" destOrd="0" presId="urn:microsoft.com/office/officeart/2008/layout/AscendingPictureAccentProcess"/>
    <dgm:cxn modelId="{11DD58CF-A912-424A-AB60-876DB2D09F72}" type="presOf" srcId="{D5A01FF9-9A42-460E-8C6F-0DD168E510F5}" destId="{22A827DB-09B6-4436-9BD4-FFD5483B8D08}" srcOrd="0" destOrd="0" presId="urn:microsoft.com/office/officeart/2008/layout/AscendingPictureAccentProcess"/>
    <dgm:cxn modelId="{55D74FDB-FA07-4964-A05B-7C74662FABD6}" type="presOf" srcId="{40E05702-E1C4-4964-A0A5-79F755D08210}" destId="{A4083D54-C366-4721-89A6-3ECFFEAF4802}" srcOrd="0" destOrd="0" presId="urn:microsoft.com/office/officeart/2008/layout/AscendingPictureAccentProcess"/>
    <dgm:cxn modelId="{90848A8A-034F-4B84-9CD2-A4B2DD6B83A5}" type="presParOf" srcId="{A98AFA64-202C-44CE-9626-579765FF01DE}" destId="{B9281CF4-AF08-4D54-89F1-9BF95BB76B54}" srcOrd="0" destOrd="0" presId="urn:microsoft.com/office/officeart/2008/layout/AscendingPictureAccentProcess"/>
    <dgm:cxn modelId="{9098A557-A36D-42F2-AA03-59F897F63DCC}" type="presParOf" srcId="{A98AFA64-202C-44CE-9626-579765FF01DE}" destId="{CF568CBA-B97E-4584-9FAF-EFE109295E7A}" srcOrd="1" destOrd="0" presId="urn:microsoft.com/office/officeart/2008/layout/AscendingPictureAccentProcess"/>
    <dgm:cxn modelId="{8162C551-D5C9-4D1B-A689-6C3F16700E2D}" type="presParOf" srcId="{A98AFA64-202C-44CE-9626-579765FF01DE}" destId="{65B48085-E40D-4143-88C6-B7E0FD5BA04C}" srcOrd="2" destOrd="0" presId="urn:microsoft.com/office/officeart/2008/layout/AscendingPictureAccentProcess"/>
    <dgm:cxn modelId="{A3EFFE85-5450-4ED4-906B-092382A4A8D2}" type="presParOf" srcId="{A98AFA64-202C-44CE-9626-579765FF01DE}" destId="{185DE244-E996-4725-BB46-94E0125F4F27}" srcOrd="3" destOrd="0" presId="urn:microsoft.com/office/officeart/2008/layout/AscendingPictureAccentProcess"/>
    <dgm:cxn modelId="{1E8EE849-8E96-42BB-B9B4-EB19D409F633}" type="presParOf" srcId="{A98AFA64-202C-44CE-9626-579765FF01DE}" destId="{5641DA96-EA14-4B2E-9846-A4EA003B15A0}" srcOrd="4" destOrd="0" presId="urn:microsoft.com/office/officeart/2008/layout/AscendingPictureAccentProcess"/>
    <dgm:cxn modelId="{CCAB0419-B6A0-4227-9E80-78E83DC29C10}" type="presParOf" srcId="{A98AFA64-202C-44CE-9626-579765FF01DE}" destId="{35A18A57-E8A0-4037-A7A0-4945AA6B5F29}" srcOrd="5" destOrd="0" presId="urn:microsoft.com/office/officeart/2008/layout/AscendingPictureAccentProcess"/>
    <dgm:cxn modelId="{6F72C52D-2CD5-4106-9E50-14518D9BB95B}" type="presParOf" srcId="{A98AFA64-202C-44CE-9626-579765FF01DE}" destId="{B3DB8881-8FBC-4C5F-B3EF-505667E544AE}" srcOrd="6" destOrd="0" presId="urn:microsoft.com/office/officeart/2008/layout/AscendingPictureAccentProcess"/>
    <dgm:cxn modelId="{363B6282-8E5E-4DBE-BBD9-E88746079E4B}" type="presParOf" srcId="{A98AFA64-202C-44CE-9626-579765FF01DE}" destId="{85166CCD-1C3E-440C-B699-0757216E11CC}" srcOrd="7" destOrd="0" presId="urn:microsoft.com/office/officeart/2008/layout/AscendingPictureAccentProcess"/>
    <dgm:cxn modelId="{A28A77CB-CC1B-4627-8B5C-9E8B8D4DADA7}" type="presParOf" srcId="{A98AFA64-202C-44CE-9626-579765FF01DE}" destId="{A567A797-9E58-4BEB-B91E-217F5873FBAD}" srcOrd="8" destOrd="0" presId="urn:microsoft.com/office/officeart/2008/layout/AscendingPictureAccentProcess"/>
    <dgm:cxn modelId="{F2B3E779-C892-440B-8E69-6742832BDFD7}" type="presParOf" srcId="{A98AFA64-202C-44CE-9626-579765FF01DE}" destId="{D996D68B-0C77-4049-A87F-86B62F2E1A3A}" srcOrd="9" destOrd="0" presId="urn:microsoft.com/office/officeart/2008/layout/AscendingPictureAccentProcess"/>
    <dgm:cxn modelId="{092E2D71-539D-41CC-9D7F-3A2F65E4CFD3}" type="presParOf" srcId="{A98AFA64-202C-44CE-9626-579765FF01DE}" destId="{ABB92704-54CD-4A3B-A659-ED5B2F6CB939}" srcOrd="10" destOrd="0" presId="urn:microsoft.com/office/officeart/2008/layout/AscendingPictureAccentProcess"/>
    <dgm:cxn modelId="{6E7514EB-4223-4C90-9164-BC968BE80304}" type="presParOf" srcId="{A98AFA64-202C-44CE-9626-579765FF01DE}" destId="{33A6FDD9-FCC7-4E91-B312-A604B423AA5C}" srcOrd="11" destOrd="0" presId="urn:microsoft.com/office/officeart/2008/layout/AscendingPictureAccentProcess"/>
    <dgm:cxn modelId="{103396A1-5417-4B72-B025-997B82E36582}" type="presParOf" srcId="{A98AFA64-202C-44CE-9626-579765FF01DE}" destId="{ED2A0D7A-8F7A-4F57-900A-22A729A95325}" srcOrd="12" destOrd="0" presId="urn:microsoft.com/office/officeart/2008/layout/AscendingPictureAccentProcess"/>
    <dgm:cxn modelId="{7A0404C8-BA3A-4E73-8D30-ACE432EC87B4}" type="presParOf" srcId="{A98AFA64-202C-44CE-9626-579765FF01DE}" destId="{0A2B6557-41DE-43DB-8770-2DC6E240FE43}" srcOrd="13" destOrd="0" presId="urn:microsoft.com/office/officeart/2008/layout/AscendingPictureAccentProcess"/>
    <dgm:cxn modelId="{5AF8BBC9-4AC1-4E94-A485-D36C780192AA}" type="presParOf" srcId="{A98AFA64-202C-44CE-9626-579765FF01DE}" destId="{4501102F-54DA-4938-B337-58CFFFFA8282}" srcOrd="14" destOrd="0" presId="urn:microsoft.com/office/officeart/2008/layout/AscendingPictureAccentProcess"/>
    <dgm:cxn modelId="{F00FCD47-7F52-417B-B793-66DE8E12622D}" type="presParOf" srcId="{4501102F-54DA-4938-B337-58CFFFFA8282}" destId="{A4083D54-C366-4721-89A6-3ECFFEAF4802}" srcOrd="0" destOrd="0" presId="urn:microsoft.com/office/officeart/2008/layout/AscendingPictureAccentProcess"/>
    <dgm:cxn modelId="{71778EBA-0E98-42F9-BC28-99E961ADCC95}" type="presParOf" srcId="{A98AFA64-202C-44CE-9626-579765FF01DE}" destId="{02EC51FC-56F4-4054-8303-DAED52B28FC5}" srcOrd="15" destOrd="0" presId="urn:microsoft.com/office/officeart/2008/layout/AscendingPictureAccentProcess"/>
    <dgm:cxn modelId="{8BA84453-1A58-41D4-8CD7-E906C37AD2AF}" type="presParOf" srcId="{A98AFA64-202C-44CE-9626-579765FF01DE}" destId="{A683C0D7-E084-4079-BC32-FDEC1B763067}" srcOrd="16" destOrd="0" presId="urn:microsoft.com/office/officeart/2008/layout/AscendingPictureAccentProcess"/>
    <dgm:cxn modelId="{AB6AA59A-1ABB-4910-BCCF-ACE94D5C7DC1}" type="presParOf" srcId="{A683C0D7-E084-4079-BC32-FDEC1B763067}" destId="{48FD205A-10FF-457B-8CBD-58670AFC381B}" srcOrd="0" destOrd="0" presId="urn:microsoft.com/office/officeart/2008/layout/AscendingPictureAccentProcess"/>
    <dgm:cxn modelId="{C489BC9B-E9C4-4121-835B-1F96140C34B8}" type="presParOf" srcId="{A98AFA64-202C-44CE-9626-579765FF01DE}" destId="{22A827DB-09B6-4436-9BD4-FFD5483B8D08}" srcOrd="17" destOrd="0" presId="urn:microsoft.com/office/officeart/2008/layout/AscendingPictureAccentProcess"/>
    <dgm:cxn modelId="{5BEC44E0-F171-4C95-9935-2D9B077BD163}" type="presParOf" srcId="{A98AFA64-202C-44CE-9626-579765FF01DE}" destId="{DA0D0693-0F4E-4A33-AE0E-CD50E4CCA706}" srcOrd="18" destOrd="0" presId="urn:microsoft.com/office/officeart/2008/layout/AscendingPictureAccentProcess"/>
    <dgm:cxn modelId="{1EDCA52F-6158-4D66-9D86-9915F5542DE4}" type="presParOf" srcId="{DA0D0693-0F4E-4A33-AE0E-CD50E4CCA706}" destId="{AE7955C7-21B6-4BC1-844E-33333E27A675}" srcOrd="0" destOrd="0" presId="urn:microsoft.com/office/officeart/2008/layout/AscendingPictureAccentProcess"/>
    <dgm:cxn modelId="{4EC40B73-D75F-4830-B2E8-0C32CAFBD997}" type="presParOf" srcId="{A98AFA64-202C-44CE-9626-579765FF01DE}" destId="{B5D47B69-F7F1-4435-86E1-D96F6A291F8E}" srcOrd="19" destOrd="0" presId="urn:microsoft.com/office/officeart/2008/layout/AscendingPictureAccentProcess"/>
    <dgm:cxn modelId="{19BDEFF8-EC5D-45B0-B59B-548003BA0529}" type="presParOf" srcId="{A98AFA64-202C-44CE-9626-579765FF01DE}" destId="{CCD6C5FF-F21A-47FD-B5C4-1F16A71A19A7}" srcOrd="20" destOrd="0" presId="urn:microsoft.com/office/officeart/2008/layout/AscendingPictureAccentProcess"/>
    <dgm:cxn modelId="{9A4F09B5-3FAE-413A-9642-2B073C75F389}" type="presParOf" srcId="{CCD6C5FF-F21A-47FD-B5C4-1F16A71A19A7}" destId="{C8F4B0ED-B07A-42D4-A39C-D9CE5D453539}" srcOrd="0" destOrd="0" presId="urn:microsoft.com/office/officeart/2008/layout/AscendingPictureAccen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281CF4-AF08-4D54-89F1-9BF95BB76B54}">
      <dsp:nvSpPr>
        <dsp:cNvPr id="0" name=""/>
        <dsp:cNvSpPr/>
      </dsp:nvSpPr>
      <dsp:spPr>
        <a:xfrm>
          <a:off x="4221631" y="3236442"/>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CF568CBA-B97E-4584-9FAF-EFE109295E7A}">
      <dsp:nvSpPr>
        <dsp:cNvPr id="0" name=""/>
        <dsp:cNvSpPr/>
      </dsp:nvSpPr>
      <dsp:spPr>
        <a:xfrm>
          <a:off x="4092800" y="3295187"/>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65B48085-E40D-4143-88C6-B7E0FD5BA04C}">
      <dsp:nvSpPr>
        <dsp:cNvPr id="0" name=""/>
        <dsp:cNvSpPr/>
      </dsp:nvSpPr>
      <dsp:spPr>
        <a:xfrm>
          <a:off x="3960160" y="3343549"/>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185DE244-E996-4725-BB46-94E0125F4F27}">
      <dsp:nvSpPr>
        <dsp:cNvPr id="0" name=""/>
        <dsp:cNvSpPr/>
      </dsp:nvSpPr>
      <dsp:spPr>
        <a:xfrm>
          <a:off x="3823710" y="3381255"/>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5641DA96-EA14-4B2E-9846-A4EA003B15A0}">
      <dsp:nvSpPr>
        <dsp:cNvPr id="0" name=""/>
        <dsp:cNvSpPr/>
      </dsp:nvSpPr>
      <dsp:spPr>
        <a:xfrm>
          <a:off x="4823881" y="2745721"/>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35A18A57-E8A0-4037-A7A0-4945AA6B5F29}">
      <dsp:nvSpPr>
        <dsp:cNvPr id="0" name=""/>
        <dsp:cNvSpPr/>
      </dsp:nvSpPr>
      <dsp:spPr>
        <a:xfrm>
          <a:off x="5167429" y="2025759"/>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B3DB8881-8FBC-4C5F-B3EF-505667E544AE}">
      <dsp:nvSpPr>
        <dsp:cNvPr id="0" name=""/>
        <dsp:cNvSpPr/>
      </dsp:nvSpPr>
      <dsp:spPr>
        <a:xfrm>
          <a:off x="5074616" y="1127378"/>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5166CCD-1C3E-440C-B699-0757216E11CC}">
      <dsp:nvSpPr>
        <dsp:cNvPr id="0" name=""/>
        <dsp:cNvSpPr/>
      </dsp:nvSpPr>
      <dsp:spPr>
        <a:xfrm>
          <a:off x="5157040" y="1068907"/>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A567A797-9E58-4BEB-B91E-217F5873FBAD}">
      <dsp:nvSpPr>
        <dsp:cNvPr id="0" name=""/>
        <dsp:cNvSpPr/>
      </dsp:nvSpPr>
      <dsp:spPr>
        <a:xfrm>
          <a:off x="5239464" y="1010435"/>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D996D68B-0C77-4049-A87F-86B62F2E1A3A}">
      <dsp:nvSpPr>
        <dsp:cNvPr id="0" name=""/>
        <dsp:cNvSpPr/>
      </dsp:nvSpPr>
      <dsp:spPr>
        <a:xfrm>
          <a:off x="5321888" y="1068907"/>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ABB92704-54CD-4A3B-A659-ED5B2F6CB939}">
      <dsp:nvSpPr>
        <dsp:cNvPr id="0" name=""/>
        <dsp:cNvSpPr/>
      </dsp:nvSpPr>
      <dsp:spPr>
        <a:xfrm>
          <a:off x="5404658" y="1127378"/>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33A6FDD9-FCC7-4E91-B312-A604B423AA5C}">
      <dsp:nvSpPr>
        <dsp:cNvPr id="0" name=""/>
        <dsp:cNvSpPr/>
      </dsp:nvSpPr>
      <dsp:spPr>
        <a:xfrm>
          <a:off x="5244226" y="1070843"/>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D2A0D7A-8F7A-4F57-900A-22A729A95325}">
      <dsp:nvSpPr>
        <dsp:cNvPr id="0" name=""/>
        <dsp:cNvSpPr/>
      </dsp:nvSpPr>
      <dsp:spPr>
        <a:xfrm>
          <a:off x="5239464" y="1257436"/>
          <a:ext cx="57835" cy="5783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A2B6557-41DE-43DB-8770-2DC6E240FE43}">
      <dsp:nvSpPr>
        <dsp:cNvPr id="0" name=""/>
        <dsp:cNvSpPr/>
      </dsp:nvSpPr>
      <dsp:spPr>
        <a:xfrm>
          <a:off x="3525689" y="3901163"/>
          <a:ext cx="3185329" cy="44296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63529"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solidFill>
                <a:srgbClr val="002060"/>
              </a:solidFill>
            </a:rPr>
            <a:t>Checklist provided in control room for monitoring discharge </a:t>
          </a:r>
        </a:p>
      </dsp:txBody>
      <dsp:txXfrm>
        <a:off x="3547313" y="3922787"/>
        <a:ext cx="3142081" cy="399720"/>
      </dsp:txXfrm>
    </dsp:sp>
    <dsp:sp modelId="{A4083D54-C366-4721-89A6-3ECFFEAF4802}">
      <dsp:nvSpPr>
        <dsp:cNvPr id="0" name=""/>
        <dsp:cNvSpPr/>
      </dsp:nvSpPr>
      <dsp:spPr>
        <a:xfrm>
          <a:off x="3305541" y="3354080"/>
          <a:ext cx="586233" cy="626530"/>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02EC51FC-56F4-4054-8303-DAED52B28FC5}">
      <dsp:nvSpPr>
        <dsp:cNvPr id="0" name=""/>
        <dsp:cNvSpPr/>
      </dsp:nvSpPr>
      <dsp:spPr>
        <a:xfrm>
          <a:off x="4502842" y="3159678"/>
          <a:ext cx="3314300" cy="4431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63529"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solidFill>
                <a:srgbClr val="002060"/>
              </a:solidFill>
            </a:rPr>
            <a:t>Training given to operators for the procedure</a:t>
          </a:r>
        </a:p>
      </dsp:txBody>
      <dsp:txXfrm>
        <a:off x="4524474" y="3181310"/>
        <a:ext cx="3271036" cy="399861"/>
      </dsp:txXfrm>
    </dsp:sp>
    <dsp:sp modelId="{48FD205A-10FF-457B-8CBD-58670AFC381B}">
      <dsp:nvSpPr>
        <dsp:cNvPr id="0" name=""/>
        <dsp:cNvSpPr/>
      </dsp:nvSpPr>
      <dsp:spPr>
        <a:xfrm>
          <a:off x="4266306" y="2766852"/>
          <a:ext cx="577314" cy="577335"/>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22A827DB-09B6-4436-9BD4-FFD5483B8D08}">
      <dsp:nvSpPr>
        <dsp:cNvPr id="0" name=""/>
        <dsp:cNvSpPr/>
      </dsp:nvSpPr>
      <dsp:spPr>
        <a:xfrm>
          <a:off x="5137462" y="2442229"/>
          <a:ext cx="3039350" cy="4245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63529"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solidFill>
                <a:srgbClr val="002060"/>
              </a:solidFill>
            </a:rPr>
            <a:t>SOP provided </a:t>
          </a:r>
          <a:r>
            <a:rPr lang="en-IN" sz="1500" b="1" kern="1200" dirty="0" err="1">
              <a:solidFill>
                <a:srgbClr val="002060"/>
              </a:solidFill>
            </a:rPr>
            <a:t>incase</a:t>
          </a:r>
          <a:r>
            <a:rPr lang="en-IN" sz="1500" b="1" kern="1200" dirty="0">
              <a:solidFill>
                <a:srgbClr val="002060"/>
              </a:solidFill>
            </a:rPr>
            <a:t> of external discharge </a:t>
          </a:r>
        </a:p>
      </dsp:txBody>
      <dsp:txXfrm>
        <a:off x="5158187" y="2462954"/>
        <a:ext cx="2997900" cy="383097"/>
      </dsp:txXfrm>
    </dsp:sp>
    <dsp:sp modelId="{AE7955C7-21B6-4BC1-844E-33333E27A675}">
      <dsp:nvSpPr>
        <dsp:cNvPr id="0" name=""/>
        <dsp:cNvSpPr/>
      </dsp:nvSpPr>
      <dsp:spPr>
        <a:xfrm>
          <a:off x="4742149" y="2131318"/>
          <a:ext cx="577314" cy="577335"/>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B5D47B69-F7F1-4435-86E1-D96F6A291F8E}">
      <dsp:nvSpPr>
        <dsp:cNvPr id="0" name=""/>
        <dsp:cNvSpPr/>
      </dsp:nvSpPr>
      <dsp:spPr>
        <a:xfrm>
          <a:off x="5430306" y="1705149"/>
          <a:ext cx="3245724" cy="45269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63529"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dirty="0">
              <a:solidFill>
                <a:srgbClr val="002060"/>
              </a:solidFill>
            </a:rPr>
            <a:t>SMP reviewed again to have a better results</a:t>
          </a:r>
        </a:p>
      </dsp:txBody>
      <dsp:txXfrm>
        <a:off x="5452405" y="1727248"/>
        <a:ext cx="3201526" cy="408493"/>
      </dsp:txXfrm>
    </dsp:sp>
    <dsp:sp modelId="{C8F4B0ED-B07A-42D4-A39C-D9CE5D453539}">
      <dsp:nvSpPr>
        <dsp:cNvPr id="0" name=""/>
        <dsp:cNvSpPr/>
      </dsp:nvSpPr>
      <dsp:spPr>
        <a:xfrm>
          <a:off x="4950980" y="1374197"/>
          <a:ext cx="577314" cy="577335"/>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1/14/2025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9.png"/><Relationship Id="rId1" Type="http://schemas.openxmlformats.org/officeDocument/2006/relationships/slideLayout" Target="../slideLayouts/slideLayout7.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28.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6.jpeg"/></Relationships>
</file>

<file path=ppt/slides/_rels/slide4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chart" Target="../charts/chart13.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1.jpeg"/></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5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28424" y="2177935"/>
            <a:ext cx="7259993" cy="881844"/>
          </a:xfrm>
        </p:spPr>
        <p:txBody>
          <a:bodyPr/>
          <a:lstStyle/>
          <a:p>
            <a:br>
              <a:rPr lang="en-IN" sz="4000" b="1" u="sng" dirty="0">
                <a:solidFill>
                  <a:schemeClr val="accent3">
                    <a:lumMod val="75000"/>
                  </a:schemeClr>
                </a:solidFill>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IN" sz="3200" b="1" u="sng" dirty="0">
                <a:solidFill>
                  <a:schemeClr val="accent3">
                    <a:lumMod val="75000"/>
                  </a:schemeClr>
                </a:solidFill>
                <a:latin typeface="Times New Roman" panose="02020603050405020304" pitchFamily="18" charset="0"/>
                <a:cs typeface="Times New Roman" panose="02020603050405020304" pitchFamily="18" charset="0"/>
              </a:rPr>
              <a:t>Quality Control Circle</a:t>
            </a:r>
            <a:r>
              <a:rPr lang="en-IN" sz="3200" b="1" dirty="0">
                <a:solidFill>
                  <a:schemeClr val="accent3">
                    <a:lumMod val="75000"/>
                  </a:schemeClr>
                </a:solidFill>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Endless Innovation</a:t>
            </a:r>
            <a:endParaRPr lang="en-IN" sz="2800" i="1" u="sng"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750585" y="3765662"/>
            <a:ext cx="6815669" cy="1320802"/>
          </a:xfrm>
        </p:spPr>
        <p:txBody>
          <a:bodyPr>
            <a:normAutofit lnSpcReduction="10000"/>
          </a:bodyPr>
          <a:lstStyle/>
          <a:p>
            <a:pPr algn="l"/>
            <a:r>
              <a:rPr lang="en-IN" sz="2400" b="1" dirty="0">
                <a:solidFill>
                  <a:srgbClr val="002060"/>
                </a:solidFill>
                <a:latin typeface="Times New Roman" panose="02020603050405020304" pitchFamily="18" charset="0"/>
                <a:cs typeface="Times New Roman" panose="02020603050405020304" pitchFamily="18" charset="0"/>
              </a:rPr>
              <a:t>Project Title: </a:t>
            </a:r>
          </a:p>
          <a:p>
            <a:pPr algn="l"/>
            <a:r>
              <a:rPr lang="en-US" sz="2400" b="1" u="sng" dirty="0">
                <a:solidFill>
                  <a:srgbClr val="002060"/>
                </a:solidFill>
                <a:latin typeface="Times New Roman" panose="02020603050405020304" pitchFamily="18" charset="0"/>
                <a:cs typeface="Times New Roman" panose="02020603050405020304" pitchFamily="18" charset="0"/>
              </a:rPr>
              <a:t>Rectification of primary dust catcher (PDC) cooling pipes</a:t>
            </a:r>
            <a:endParaRPr lang="en-US" sz="1600" b="1" u="sng" dirty="0">
              <a:solidFill>
                <a:srgbClr val="002060"/>
              </a:solidFill>
              <a:latin typeface="Times New Roman" panose="02020603050405020304" pitchFamily="18" charset="0"/>
              <a:ea typeface="Calibri"/>
              <a:cs typeface="Times New Roman" panose="02020603050405020304" pitchFamily="18" charset="0"/>
              <a:sym typeface="Calibri"/>
            </a:endParaRPr>
          </a:p>
          <a:p>
            <a:endParaRPr lang="en-IN" sz="2400" dirty="0">
              <a:solidFill>
                <a:srgbClr val="00206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52391" y="92813"/>
            <a:ext cx="2101064" cy="994309"/>
          </a:xfrm>
          <a:prstGeom prst="rect">
            <a:avLst/>
          </a:prstGeom>
        </p:spPr>
      </p:pic>
      <p:sp>
        <p:nvSpPr>
          <p:cNvPr id="7" name="Rectangle 6"/>
          <p:cNvSpPr/>
          <p:nvPr/>
        </p:nvSpPr>
        <p:spPr>
          <a:xfrm>
            <a:off x="67147" y="634028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E9E97B7-3EBF-CB18-9823-1B4D0E722A95}"/>
              </a:ext>
            </a:extLst>
          </p:cNvPr>
          <p:cNvSpPr txBox="1"/>
          <p:nvPr/>
        </p:nvSpPr>
        <p:spPr>
          <a:xfrm>
            <a:off x="7142398" y="6534355"/>
            <a:ext cx="6516461" cy="230832"/>
          </a:xfrm>
          <a:prstGeom prst="rect">
            <a:avLst/>
          </a:prstGeom>
          <a:noFill/>
        </p:spPr>
        <p:txBody>
          <a:bodyPr wrap="square">
            <a:spAutoFit/>
          </a:bodyPr>
          <a:lstStyle/>
          <a:p>
            <a:r>
              <a:rPr lang="en-US" sz="900" dirty="0"/>
              <a:t>https://1drv.ms/p/c/096c43f5cc6632e3/EQJzfiv8jA5BhPR8O015DmABzDLOliAucV1AK9GIJMLf0A</a:t>
            </a:r>
          </a:p>
        </p:txBody>
      </p:sp>
    </p:spTree>
    <p:extLst>
      <p:ext uri="{BB962C8B-B14F-4D97-AF65-F5344CB8AC3E}">
        <p14:creationId xmlns:p14="http://schemas.microsoft.com/office/powerpoint/2010/main" val="2380507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431" y="2199408"/>
            <a:ext cx="9466042" cy="4030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337805" y="778071"/>
            <a:ext cx="9571302" cy="1477328"/>
          </a:xfrm>
          <a:prstGeom prst="rect">
            <a:avLst/>
          </a:prstGeom>
        </p:spPr>
        <p:txBody>
          <a:bodyPr wrap="square">
            <a:spAutoFit/>
          </a:bodyPr>
          <a:lstStyle/>
          <a:p>
            <a:r>
              <a:rPr lang="en-IN" b="1" dirty="0"/>
              <a:t>The flagship company of  JSW Group, JSW Steel is one of India’s leading integrated </a:t>
            </a:r>
          </a:p>
          <a:p>
            <a:r>
              <a:rPr lang="en-IN" b="1" dirty="0"/>
              <a:t>steel manufacturers with a capacity of 18 million tons per annum(MTPA).</a:t>
            </a:r>
          </a:p>
          <a:p>
            <a:endParaRPr lang="en-IN" b="1" dirty="0"/>
          </a:p>
          <a:p>
            <a:r>
              <a:rPr lang="en-IN" b="1" dirty="0"/>
              <a:t>By 2025, JSW Steel aims to produce 40 MTPA.</a:t>
            </a:r>
          </a:p>
          <a:p>
            <a:endParaRPr lang="en-IN" dirty="0"/>
          </a:p>
        </p:txBody>
      </p:sp>
      <p:sp>
        <p:nvSpPr>
          <p:cNvPr id="4" name="Rectangle 3"/>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22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12735" y="838507"/>
            <a:ext cx="10226071" cy="5346589"/>
          </a:xfrm>
          <a:prstGeom prst="rect">
            <a:avLst/>
          </a:prstGeom>
        </p:spPr>
      </p:pic>
    </p:spTree>
    <p:extLst>
      <p:ext uri="{BB962C8B-B14F-4D97-AF65-F5344CB8AC3E}">
        <p14:creationId xmlns:p14="http://schemas.microsoft.com/office/powerpoint/2010/main" val="327897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Title 1"/>
          <p:cNvSpPr txBox="1">
            <a:spLocks/>
          </p:cNvSpPr>
          <p:nvPr/>
        </p:nvSpPr>
        <p:spPr>
          <a:xfrm>
            <a:off x="0" y="543647"/>
            <a:ext cx="9405848" cy="55363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Quality Circle Team Charter</a:t>
            </a:r>
          </a:p>
        </p:txBody>
      </p:sp>
      <p:graphicFrame>
        <p:nvGraphicFramePr>
          <p:cNvPr id="4" name="Content Placeholder 5"/>
          <p:cNvGraphicFramePr>
            <a:graphicFrameLocks/>
          </p:cNvGraphicFramePr>
          <p:nvPr>
            <p:extLst>
              <p:ext uri="{D42A27DB-BD31-4B8C-83A1-F6EECF244321}">
                <p14:modId xmlns:p14="http://schemas.microsoft.com/office/powerpoint/2010/main" val="3929295378"/>
              </p:ext>
            </p:extLst>
          </p:nvPr>
        </p:nvGraphicFramePr>
        <p:xfrm>
          <a:off x="1056572" y="1088962"/>
          <a:ext cx="9858039" cy="5095709"/>
        </p:xfrm>
        <a:graphic>
          <a:graphicData uri="http://schemas.openxmlformats.org/drawingml/2006/table">
            <a:tbl>
              <a:tblPr firstRow="1" bandRow="1">
                <a:tableStyleId>{5940675A-B579-460E-94D1-54222C63F5DA}</a:tableStyleId>
              </a:tblPr>
              <a:tblGrid>
                <a:gridCol w="2413136">
                  <a:extLst>
                    <a:ext uri="{9D8B030D-6E8A-4147-A177-3AD203B41FA5}">
                      <a16:colId xmlns:a16="http://schemas.microsoft.com/office/drawing/2014/main" val="20000"/>
                    </a:ext>
                  </a:extLst>
                </a:gridCol>
                <a:gridCol w="2368617">
                  <a:extLst>
                    <a:ext uri="{9D8B030D-6E8A-4147-A177-3AD203B41FA5}">
                      <a16:colId xmlns:a16="http://schemas.microsoft.com/office/drawing/2014/main" val="20001"/>
                    </a:ext>
                  </a:extLst>
                </a:gridCol>
                <a:gridCol w="2146630">
                  <a:extLst>
                    <a:ext uri="{9D8B030D-6E8A-4147-A177-3AD203B41FA5}">
                      <a16:colId xmlns:a16="http://schemas.microsoft.com/office/drawing/2014/main" val="20002"/>
                    </a:ext>
                  </a:extLst>
                </a:gridCol>
                <a:gridCol w="2929656">
                  <a:extLst>
                    <a:ext uri="{9D8B030D-6E8A-4147-A177-3AD203B41FA5}">
                      <a16:colId xmlns:a16="http://schemas.microsoft.com/office/drawing/2014/main" val="20003"/>
                    </a:ext>
                  </a:extLst>
                </a:gridCol>
              </a:tblGrid>
              <a:tr h="597783">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TIC </a:t>
                      </a:r>
                      <a:endParaRPr kumimoji="0" lang="en-IN"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Coke Oven &amp; Refractory</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ctr"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HOD</a:t>
                      </a:r>
                      <a:endParaRPr kumimoji="0" lang="en-I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r>
                        <a:rPr lang="en-IN" sz="1600" dirty="0">
                          <a:latin typeface="Times New Roman" panose="02020603050405020304" pitchFamily="18" charset="0"/>
                          <a:cs typeface="Times New Roman" panose="02020603050405020304" pitchFamily="18" charset="0"/>
                        </a:rPr>
                        <a:t>Mr. Sanjay V. </a:t>
                      </a:r>
                      <a:r>
                        <a:rPr lang="en-IN" sz="1600" dirty="0" err="1">
                          <a:latin typeface="Times New Roman" panose="02020603050405020304" pitchFamily="18" charset="0"/>
                          <a:cs typeface="Times New Roman" panose="02020603050405020304" pitchFamily="18" charset="0"/>
                        </a:rPr>
                        <a:t>Gurme</a:t>
                      </a:r>
                      <a:endParaRPr lang="en-IN" sz="1600" dirty="0">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0"/>
                  </a:ext>
                </a:extLst>
              </a:tr>
              <a:tr h="597783">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Department</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r>
                        <a:rPr lang="en-IN" sz="1600" dirty="0">
                          <a:latin typeface="Times New Roman" panose="02020603050405020304" pitchFamily="18" charset="0"/>
                          <a:cs typeface="Times New Roman" panose="02020603050405020304" pitchFamily="18" charset="0"/>
                        </a:rPr>
                        <a:t>Coke Oven II</a:t>
                      </a: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Day &amp; Time of meeting</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algn="l"/>
                      <a:r>
                        <a:rPr lang="en-IN" sz="1600" dirty="0">
                          <a:latin typeface="Times New Roman" panose="02020603050405020304" pitchFamily="18" charset="0"/>
                          <a:cs typeface="Times New Roman" panose="02020603050405020304" pitchFamily="18" charset="0"/>
                        </a:rPr>
                        <a:t>Every</a:t>
                      </a:r>
                      <a:r>
                        <a:rPr lang="en-IN" sz="1600" baseline="0" dirty="0">
                          <a:latin typeface="Times New Roman" panose="02020603050405020304" pitchFamily="18" charset="0"/>
                          <a:cs typeface="Times New Roman" panose="02020603050405020304" pitchFamily="18" charset="0"/>
                        </a:rPr>
                        <a:t> Saturday</a:t>
                      </a:r>
                      <a:r>
                        <a:rPr lang="en-IN" sz="1600" dirty="0">
                          <a:latin typeface="Times New Roman" panose="02020603050405020304" pitchFamily="18" charset="0"/>
                          <a:cs typeface="Times New Roman" panose="02020603050405020304" pitchFamily="18" charset="0"/>
                        </a:rPr>
                        <a:t> </a:t>
                      </a: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1"/>
                  </a:ext>
                </a:extLst>
              </a:tr>
              <a:tr h="597783">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Section/ Area</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CDQ2&amp;3</a:t>
                      </a: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No. of Problems Identified</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algn="l"/>
                      <a:r>
                        <a:rPr lang="en-IN" sz="1600" dirty="0">
                          <a:latin typeface="Times New Roman" panose="02020603050405020304" pitchFamily="18" charset="0"/>
                          <a:cs typeface="Times New Roman" panose="02020603050405020304" pitchFamily="18" charset="0"/>
                        </a:rPr>
                        <a:t>37</a:t>
                      </a: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2"/>
                  </a:ext>
                </a:extLst>
              </a:tr>
              <a:tr h="341602">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Date of Formation</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Problems Solved</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algn="l"/>
                      <a:r>
                        <a:rPr lang="en-IN" sz="1600" dirty="0">
                          <a:latin typeface="Times New Roman" panose="02020603050405020304" pitchFamily="18" charset="0"/>
                          <a:cs typeface="Times New Roman" panose="02020603050405020304" pitchFamily="18" charset="0"/>
                        </a:rPr>
                        <a:t>1</a:t>
                      </a: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3"/>
                  </a:ext>
                </a:extLst>
              </a:tr>
              <a:tr h="341602">
                <a:tc rowSpan="2">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Registration No:</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rowSpan="2">
                  <a:txBody>
                    <a:bodyPr/>
                    <a:lstStyle/>
                    <a:p>
                      <a:pPr algn="l" fontAlgn="b"/>
                      <a:r>
                        <a:rPr lang="en-IN" sz="1600" b="1" i="0" kern="1200" dirty="0">
                          <a:solidFill>
                            <a:schemeClr val="tx1"/>
                          </a:solidFill>
                          <a:effectLst/>
                          <a:latin typeface="+mn-lt"/>
                          <a:ea typeface="+mn-ea"/>
                          <a:cs typeface="+mn-cs"/>
                        </a:rPr>
                        <a:t>QCPR/FY2023-2024/QCC/Coke Oven &amp; Refractory/Coke Oven-2/58/838</a:t>
                      </a:r>
                      <a:endParaRPr lang="en-US" sz="14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gridSpan="2">
                  <a:txBody>
                    <a:bodyPr/>
                    <a:lstStyle/>
                    <a:p>
                      <a:pPr marL="0" marR="0" lvl="0" indent="0" algn="ctr"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     Team Details:</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hMerge="1">
                  <a:txBody>
                    <a:bodyPr/>
                    <a:lstStyle/>
                    <a:p>
                      <a:endParaRPr lang="en-IN"/>
                    </a:p>
                  </a:txBody>
                  <a:tcPr/>
                </a:tc>
                <a:extLst>
                  <a:ext uri="{0D108BD9-81ED-4DB2-BD59-A6C34878D82A}">
                    <a16:rowId xmlns:a16="http://schemas.microsoft.com/office/drawing/2014/main" val="10004"/>
                  </a:ext>
                </a:extLst>
              </a:tr>
              <a:tr h="768542">
                <a:tc vMerge="1">
                  <a:txBody>
                    <a:bodyPr/>
                    <a:lstStyle/>
                    <a:p>
                      <a:endParaRPr lang="en-IN"/>
                    </a:p>
                  </a:txBody>
                  <a:tcPr/>
                </a:tc>
                <a:tc vMerge="1">
                  <a:txBody>
                    <a:bodyPr/>
                    <a:lstStyle/>
                    <a:p>
                      <a:endParaRPr lang="en-IN"/>
                    </a:p>
                  </a:txBody>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Leader</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defRPr/>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Mr. </a:t>
                      </a:r>
                      <a:r>
                        <a:rPr lang="en-IN" sz="1600" b="1" i="0" kern="1200" dirty="0" err="1">
                          <a:solidFill>
                            <a:schemeClr val="tx1"/>
                          </a:solidFill>
                          <a:effectLst/>
                          <a:latin typeface="Times New Roman" panose="02020603050405020304" pitchFamily="18" charset="0"/>
                          <a:ea typeface="+mn-ea"/>
                          <a:cs typeface="Times New Roman" panose="02020603050405020304" pitchFamily="18" charset="0"/>
                        </a:rPr>
                        <a:t>Sagar</a:t>
                      </a:r>
                      <a:r>
                        <a:rPr lang="en-IN" sz="1600" b="1" i="0" kern="1200" dirty="0">
                          <a:solidFill>
                            <a:schemeClr val="tx1"/>
                          </a:solidFill>
                          <a:effectLst/>
                          <a:latin typeface="Times New Roman" panose="02020603050405020304" pitchFamily="18" charset="0"/>
                          <a:ea typeface="+mn-ea"/>
                          <a:cs typeface="Times New Roman" panose="02020603050405020304" pitchFamily="18" charset="0"/>
                        </a:rPr>
                        <a:t> Kumar Singh</a:t>
                      </a: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5"/>
                  </a:ext>
                </a:extLst>
              </a:tr>
              <a:tr h="341602">
                <a:tc rowSpan="3">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Name of QC Circle</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rowSpan="3">
                  <a:txBody>
                    <a:bodyPr/>
                    <a:lstStyle/>
                    <a:p>
                      <a:pPr marL="0" marR="0" indent="0" algn="ctr" defTabSz="914674" rtl="0" eaLnBrk="1" fontAlgn="auto"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ENDLESS</a:t>
                      </a:r>
                      <a:r>
                        <a:rPr lang="en-US" sz="1600" b="1" i="0" u="none" strike="noStrike" baseline="0" dirty="0">
                          <a:solidFill>
                            <a:srgbClr val="000000"/>
                          </a:solidFill>
                          <a:effectLst/>
                          <a:latin typeface="Times New Roman" panose="02020603050405020304" pitchFamily="18" charset="0"/>
                          <a:cs typeface="Times New Roman" panose="02020603050405020304" pitchFamily="18" charset="0"/>
                        </a:rPr>
                        <a:t> INNOVATION</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Member 1</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Mr.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Sumant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kumar</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6"/>
                  </a:ext>
                </a:extLst>
              </a:tr>
              <a:tr h="341602">
                <a:tc vMerge="1">
                  <a:txBody>
                    <a:bodyPr/>
                    <a:lstStyle/>
                    <a:p>
                      <a:endParaRPr lang="en-IN"/>
                    </a:p>
                  </a:txBody>
                  <a:tcPr/>
                </a:tc>
                <a:tc vMerge="1">
                  <a:txBody>
                    <a:bodyPr/>
                    <a:lstStyle/>
                    <a:p>
                      <a:endParaRPr lang="en-IN" dirty="0"/>
                    </a:p>
                  </a:txBody>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Member 2</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Mr.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Bishwajeet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Singh</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7"/>
                  </a:ext>
                </a:extLst>
              </a:tr>
              <a:tr h="341602">
                <a:tc vMerge="1">
                  <a:txBody>
                    <a:bodyPr/>
                    <a:lstStyle/>
                    <a:p>
                      <a:endParaRPr lang="en-IN"/>
                    </a:p>
                  </a:txBody>
                  <a:tcPr/>
                </a:tc>
                <a:tc vMerge="1">
                  <a:txBody>
                    <a:bodyPr/>
                    <a:lstStyle/>
                    <a:p>
                      <a:endParaRPr lang="en-IN"/>
                    </a:p>
                  </a:txBody>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Member 3</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Mr. </a:t>
                      </a: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Mukul</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 Kumar</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8"/>
                  </a:ext>
                </a:extLst>
              </a:tr>
              <a:tr h="341602">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u="none" strike="noStrike" cap="none" normalizeH="0" baseline="0" dirty="0">
                          <a:ln>
                            <a:noFill/>
                          </a:ln>
                          <a:effectLst/>
                          <a:latin typeface="Times New Roman" panose="02020603050405020304" pitchFamily="18" charset="0"/>
                          <a:cs typeface="Times New Roman" panose="02020603050405020304" pitchFamily="18" charset="0"/>
                        </a:rPr>
                        <a:t>Facilitator</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algn="l"/>
                      <a:r>
                        <a:rPr lang="en-IN" sz="1600" dirty="0">
                          <a:latin typeface="Times New Roman" panose="02020603050405020304" pitchFamily="18" charset="0"/>
                          <a:cs typeface="Times New Roman" panose="02020603050405020304" pitchFamily="18" charset="0"/>
                        </a:rPr>
                        <a:t>Mr.</a:t>
                      </a:r>
                      <a:r>
                        <a:rPr lang="en-IN" sz="1600" baseline="0" dirty="0">
                          <a:latin typeface="Times New Roman" panose="02020603050405020304" pitchFamily="18" charset="0"/>
                          <a:cs typeface="Times New Roman" panose="02020603050405020304" pitchFamily="18" charset="0"/>
                        </a:rPr>
                        <a:t> Shreyan Koshti</a:t>
                      </a:r>
                      <a:endParaRPr lang="en-IN" sz="1600" dirty="0">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defRPr/>
                      </a:pPr>
                      <a:r>
                        <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Member 4</a:t>
                      </a:r>
                    </a:p>
                  </a:txBody>
                  <a:tcPr marL="91464" marR="91464" marT="45735" marB="45735" anchor="ctr" horzOverflow="overflow">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IN"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Mr.Sonu</a:t>
                      </a:r>
                      <a:r>
                        <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Ansari</a:t>
                      </a: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09"/>
                  </a:ext>
                </a:extLst>
              </a:tr>
              <a:tr h="484206">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Process Owner</a:t>
                      </a: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  Mr.</a:t>
                      </a:r>
                      <a:r>
                        <a:rPr lang="en-US" sz="1600" b="0" i="0" u="none" strike="noStrike" baseline="0" dirty="0">
                          <a:solidFill>
                            <a:srgbClr val="000000"/>
                          </a:solidFill>
                          <a:effectLst/>
                          <a:latin typeface="Times New Roman" panose="02020603050405020304" pitchFamily="18" charset="0"/>
                          <a:cs typeface="Times New Roman" panose="02020603050405020304" pitchFamily="18" charset="0"/>
                        </a:rPr>
                        <a:t> D.B. Varaprasad</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a:blip r:embed="rId2"/>
                      <a:tile tx="0" ty="0" sx="100000" sy="100000" flip="none" algn="tl"/>
                    </a:blipFill>
                  </a:tcPr>
                </a:tc>
                <a:tc>
                  <a:txBody>
                    <a:bodyPr/>
                    <a:lstStyle/>
                    <a:p>
                      <a:pPr marL="0" marR="0" lvl="0" indent="0" algn="l" defTabSz="457200" rtl="0" eaLnBrk="0" fontAlgn="base" latinLnBrk="0" hangingPunct="0">
                        <a:lnSpc>
                          <a:spcPct val="100000"/>
                        </a:lnSpc>
                        <a:spcBef>
                          <a:spcPts val="650"/>
                        </a:spcBef>
                        <a:spcAft>
                          <a:spcPct val="0"/>
                        </a:spcAft>
                        <a:buClr>
                          <a:srgbClr val="000000"/>
                        </a:buClr>
                        <a:buSzPct val="100000"/>
                        <a:buFont typeface="Times New Roman" pitchFamily="18" charset="0"/>
                        <a:buNone/>
                        <a:tabLst/>
                      </a:pPr>
                      <a:endParaRPr kumimoji="0" lang="en-I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tc>
                  <a:txBody>
                    <a:bodyPr/>
                    <a:lstStyle/>
                    <a:p>
                      <a:endParaRPr lang="en-IN" sz="1600" dirty="0">
                        <a:latin typeface="Times New Roman" panose="02020603050405020304" pitchFamily="18" charset="0"/>
                        <a:cs typeface="Times New Roman" panose="02020603050405020304" pitchFamily="18" charset="0"/>
                      </a:endParaRPr>
                    </a:p>
                  </a:txBody>
                  <a:tcPr marL="91464" marR="91464" marT="45735" marB="45735" anchor="ctr" horzOverflow="overflow">
                    <a:blipFill>
                      <a:blip r:embed="rId2"/>
                      <a:tile tx="0" ty="0" sx="100000" sy="100000" flip="none" algn="tl"/>
                    </a:blipFill>
                  </a:tcPr>
                </a:tc>
                <a:extLst>
                  <a:ext uri="{0D108BD9-81ED-4DB2-BD59-A6C34878D82A}">
                    <a16:rowId xmlns:a16="http://schemas.microsoft.com/office/drawing/2014/main" val="10010"/>
                  </a:ext>
                </a:extLst>
              </a:tr>
            </a:tbl>
          </a:graphicData>
        </a:graphic>
      </p:graphicFrame>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14611" y="820462"/>
            <a:ext cx="753047" cy="756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185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5677375" y="1984392"/>
            <a:ext cx="5353614" cy="2271726"/>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p>
            <a:pPr algn="ctr"/>
            <a:r>
              <a:rPr lang="en-US" sz="3600" b="1" dirty="0">
                <a:solidFill>
                  <a:srgbClr val="002060"/>
                </a:solidFill>
                <a:latin typeface="Times New Roman" panose="02020603050405020304" pitchFamily="18" charset="0"/>
                <a:cs typeface="Times New Roman" panose="02020603050405020304" pitchFamily="18" charset="0"/>
              </a:rPr>
              <a:t>STEP  - 1</a:t>
            </a:r>
          </a:p>
          <a:p>
            <a:pPr algn="ctr"/>
            <a:r>
              <a:rPr lang="en-US" sz="3600" b="1" u="sng" dirty="0">
                <a:solidFill>
                  <a:srgbClr val="002060"/>
                </a:solidFill>
                <a:latin typeface="Times New Roman" panose="02020603050405020304" pitchFamily="18" charset="0"/>
                <a:cs typeface="Times New Roman" panose="02020603050405020304" pitchFamily="18" charset="0"/>
              </a:rPr>
              <a:t>IDENTIFICATION OF PROBLEMS</a:t>
            </a:r>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025" y="175937"/>
            <a:ext cx="1543051" cy="15500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9064" y="1976078"/>
            <a:ext cx="4379421" cy="2152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603782" y="4706440"/>
            <a:ext cx="7597665" cy="461665"/>
          </a:xfrm>
          <a:prstGeom prst="rect">
            <a:avLst/>
          </a:prstGeom>
          <a:solidFill>
            <a:schemeClr val="accent2"/>
          </a:solidFill>
        </p:spPr>
        <p:txBody>
          <a:bodyPr wrap="square" rtlCol="0">
            <a:spAutoFit/>
          </a:bodyPr>
          <a:lstStyle/>
          <a:p>
            <a:r>
              <a:rPr lang="en-IN" sz="2400" b="1" dirty="0">
                <a:solidFill>
                  <a:srgbClr val="00B050"/>
                </a:solidFill>
                <a:latin typeface="Times New Roman" panose="02020603050405020304" pitchFamily="18" charset="0"/>
                <a:cs typeface="Times New Roman" panose="02020603050405020304" pitchFamily="18" charset="0"/>
              </a:rPr>
              <a:t>         </a:t>
            </a:r>
            <a:r>
              <a:rPr lang="en-IN" sz="2400" b="1" dirty="0">
                <a:solidFill>
                  <a:srgbClr val="FFFF00"/>
                </a:solidFill>
                <a:latin typeface="Times New Roman" panose="02020603050405020304" pitchFamily="18" charset="0"/>
                <a:cs typeface="Times New Roman" panose="02020603050405020304" pitchFamily="18" charset="0"/>
              </a:rPr>
              <a:t>Technique used : Brain Storming</a:t>
            </a:r>
          </a:p>
        </p:txBody>
      </p:sp>
    </p:spTree>
    <p:extLst>
      <p:ext uri="{BB962C8B-B14F-4D97-AF65-F5344CB8AC3E}">
        <p14:creationId xmlns:p14="http://schemas.microsoft.com/office/powerpoint/2010/main" val="67335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2000"/>
                                        <p:tgtEl>
                                          <p:spTgt spid="3"/>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550698"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0"/>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Table 4"/>
          <p:cNvGraphicFramePr>
            <a:graphicFrameLocks noGrp="1"/>
          </p:cNvGraphicFramePr>
          <p:nvPr>
            <p:extLst>
              <p:ext uri="{D42A27DB-BD31-4B8C-83A1-F6EECF244321}">
                <p14:modId xmlns:p14="http://schemas.microsoft.com/office/powerpoint/2010/main" val="4167294977"/>
              </p:ext>
            </p:extLst>
          </p:nvPr>
        </p:nvGraphicFramePr>
        <p:xfrm>
          <a:off x="895018" y="1582469"/>
          <a:ext cx="10385354" cy="4687395"/>
        </p:xfrm>
        <a:graphic>
          <a:graphicData uri="http://schemas.openxmlformats.org/drawingml/2006/table">
            <a:tbl>
              <a:tblPr firstRow="1" bandCol="1">
                <a:tableStyleId>{35758FB7-9AC5-4552-8A53-C91805E547FA}</a:tableStyleId>
              </a:tblPr>
              <a:tblGrid>
                <a:gridCol w="546107">
                  <a:extLst>
                    <a:ext uri="{9D8B030D-6E8A-4147-A177-3AD203B41FA5}">
                      <a16:colId xmlns:a16="http://schemas.microsoft.com/office/drawing/2014/main" val="20000"/>
                    </a:ext>
                  </a:extLst>
                </a:gridCol>
                <a:gridCol w="2781871">
                  <a:extLst>
                    <a:ext uri="{9D8B030D-6E8A-4147-A177-3AD203B41FA5}">
                      <a16:colId xmlns:a16="http://schemas.microsoft.com/office/drawing/2014/main" val="20001"/>
                    </a:ext>
                  </a:extLst>
                </a:gridCol>
                <a:gridCol w="536167">
                  <a:extLst>
                    <a:ext uri="{9D8B030D-6E8A-4147-A177-3AD203B41FA5}">
                      <a16:colId xmlns:a16="http://schemas.microsoft.com/office/drawing/2014/main" val="20002"/>
                    </a:ext>
                  </a:extLst>
                </a:gridCol>
                <a:gridCol w="2852498">
                  <a:extLst>
                    <a:ext uri="{9D8B030D-6E8A-4147-A177-3AD203B41FA5}">
                      <a16:colId xmlns:a16="http://schemas.microsoft.com/office/drawing/2014/main" val="20003"/>
                    </a:ext>
                  </a:extLst>
                </a:gridCol>
                <a:gridCol w="546107">
                  <a:extLst>
                    <a:ext uri="{9D8B030D-6E8A-4147-A177-3AD203B41FA5}">
                      <a16:colId xmlns:a16="http://schemas.microsoft.com/office/drawing/2014/main" val="20004"/>
                    </a:ext>
                  </a:extLst>
                </a:gridCol>
                <a:gridCol w="3122604">
                  <a:extLst>
                    <a:ext uri="{9D8B030D-6E8A-4147-A177-3AD203B41FA5}">
                      <a16:colId xmlns:a16="http://schemas.microsoft.com/office/drawing/2014/main" val="20005"/>
                    </a:ext>
                  </a:extLst>
                </a:gridCol>
              </a:tblGrid>
              <a:tr h="266065">
                <a:tc>
                  <a:txBody>
                    <a:bodyPr/>
                    <a:lstStyle/>
                    <a:p>
                      <a:pPr algn="ctr" rtl="0" fontAlgn="ctr"/>
                      <a:r>
                        <a:rPr lang="en-US" sz="1200" u="none" strike="noStrike" dirty="0">
                          <a:solidFill>
                            <a:schemeClr val="accent4">
                              <a:lumMod val="50000"/>
                            </a:schemeClr>
                          </a:solidFill>
                          <a:effectLst/>
                          <a:latin typeface="Arial" panose="020B0604020202020204" pitchFamily="34" charset="0"/>
                          <a:cs typeface="Arial" panose="020B0604020202020204" pitchFamily="34" charset="0"/>
                        </a:rPr>
                        <a:t>Sl. No.</a:t>
                      </a:r>
                      <a:endParaRPr lang="en-US" sz="1200" b="1" i="0" u="none" strike="noStrike" dirty="0">
                        <a:solidFill>
                          <a:schemeClr val="accent4">
                            <a:lumMod val="50000"/>
                          </a:schemeClr>
                        </a:solidFill>
                        <a:effectLst/>
                        <a:latin typeface="Arial" panose="020B0604020202020204" pitchFamily="34" charset="0"/>
                        <a:cs typeface="Arial" panose="020B0604020202020204" pitchFamily="34" charset="0"/>
                      </a:endParaRPr>
                    </a:p>
                  </a:txBody>
                  <a:tcPr marL="7940" marR="7940" marT="794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3"/>
                      <a:tile tx="0" ty="0" sx="100000" sy="100000" flip="none" algn="tl"/>
                    </a:blipFill>
                  </a:tcPr>
                </a:tc>
                <a:tc>
                  <a:txBody>
                    <a:bodyPr/>
                    <a:lstStyle/>
                    <a:p>
                      <a:pPr algn="ctr" rtl="0" fontAlgn="ctr"/>
                      <a:r>
                        <a:rPr lang="en-US" sz="1200" u="none" strike="noStrike" dirty="0">
                          <a:solidFill>
                            <a:schemeClr val="accent4">
                              <a:lumMod val="50000"/>
                            </a:schemeClr>
                          </a:solidFill>
                          <a:effectLst/>
                          <a:latin typeface="Arial" panose="020B0604020202020204" pitchFamily="34" charset="0"/>
                          <a:cs typeface="Arial" panose="020B0604020202020204" pitchFamily="34" charset="0"/>
                        </a:rPr>
                        <a:t>PROBLEM</a:t>
                      </a:r>
                      <a:endParaRPr lang="en-US" sz="1200" b="1" i="0" u="none" strike="noStrike" dirty="0">
                        <a:solidFill>
                          <a:schemeClr val="accent4">
                            <a:lumMod val="50000"/>
                          </a:schemeClr>
                        </a:solidFill>
                        <a:effectLst/>
                        <a:latin typeface="Arial" panose="020B0604020202020204" pitchFamily="34" charset="0"/>
                        <a:cs typeface="Arial" panose="020B0604020202020204" pitchFamily="34" charset="0"/>
                      </a:endParaRPr>
                    </a:p>
                  </a:txBody>
                  <a:tcPr marL="7940" marR="7940" marT="794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3"/>
                      <a:tile tx="0" ty="0" sx="100000" sy="100000" flip="none" algn="tl"/>
                    </a:blipFill>
                  </a:tcPr>
                </a:tc>
                <a:tc>
                  <a:txBody>
                    <a:bodyPr/>
                    <a:lstStyle/>
                    <a:p>
                      <a:pPr algn="ctr" rtl="0" fontAlgn="ctr"/>
                      <a:r>
                        <a:rPr lang="en-US" sz="1200" u="none" strike="noStrike" dirty="0">
                          <a:solidFill>
                            <a:schemeClr val="accent4">
                              <a:lumMod val="50000"/>
                            </a:schemeClr>
                          </a:solidFill>
                          <a:effectLst/>
                          <a:latin typeface="Arial" panose="020B0604020202020204" pitchFamily="34" charset="0"/>
                          <a:cs typeface="Arial" panose="020B0604020202020204" pitchFamily="34" charset="0"/>
                        </a:rPr>
                        <a:t>Sl. No.</a:t>
                      </a:r>
                      <a:endParaRPr lang="en-US" sz="1200" b="1" i="0" u="none" strike="noStrike" dirty="0">
                        <a:solidFill>
                          <a:schemeClr val="accent4">
                            <a:lumMod val="50000"/>
                          </a:schemeClr>
                        </a:solidFill>
                        <a:effectLst/>
                        <a:latin typeface="Arial" panose="020B0604020202020204" pitchFamily="34" charset="0"/>
                        <a:cs typeface="Arial" panose="020B0604020202020204" pitchFamily="34" charset="0"/>
                      </a:endParaRPr>
                    </a:p>
                  </a:txBody>
                  <a:tcPr marL="7940" marR="7940" marT="794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3"/>
                      <a:tile tx="0" ty="0" sx="100000" sy="100000" flip="none" algn="tl"/>
                    </a:blipFill>
                  </a:tcPr>
                </a:tc>
                <a:tc>
                  <a:txBody>
                    <a:bodyPr/>
                    <a:lstStyle/>
                    <a:p>
                      <a:pPr algn="ctr" rtl="0" fontAlgn="ctr"/>
                      <a:r>
                        <a:rPr lang="en-US" sz="1200" u="none" strike="noStrike" dirty="0">
                          <a:solidFill>
                            <a:schemeClr val="accent4">
                              <a:lumMod val="50000"/>
                            </a:schemeClr>
                          </a:solidFill>
                          <a:effectLst/>
                          <a:latin typeface="Arial" panose="020B0604020202020204" pitchFamily="34" charset="0"/>
                          <a:cs typeface="Arial" panose="020B0604020202020204" pitchFamily="34" charset="0"/>
                        </a:rPr>
                        <a:t>PROBLEM</a:t>
                      </a:r>
                      <a:endParaRPr lang="en-US" sz="1200" b="1" i="0" u="none" strike="noStrike" dirty="0">
                        <a:solidFill>
                          <a:schemeClr val="accent4">
                            <a:lumMod val="50000"/>
                          </a:schemeClr>
                        </a:solidFill>
                        <a:effectLst/>
                        <a:latin typeface="Arial" panose="020B0604020202020204" pitchFamily="34" charset="0"/>
                        <a:cs typeface="Arial" panose="020B0604020202020204" pitchFamily="34" charset="0"/>
                      </a:endParaRPr>
                    </a:p>
                  </a:txBody>
                  <a:tcPr marL="7940" marR="7940" marT="794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3"/>
                      <a:tile tx="0" ty="0" sx="100000" sy="100000" flip="none" algn="tl"/>
                    </a:blipFill>
                  </a:tcPr>
                </a:tc>
                <a:tc>
                  <a:txBody>
                    <a:bodyPr/>
                    <a:lstStyle/>
                    <a:p>
                      <a:pPr algn="ctr" rtl="0" fontAlgn="ctr"/>
                      <a:r>
                        <a:rPr lang="en-US" sz="1200" u="none" strike="noStrike" dirty="0">
                          <a:solidFill>
                            <a:schemeClr val="accent4">
                              <a:lumMod val="50000"/>
                            </a:schemeClr>
                          </a:solidFill>
                          <a:effectLst/>
                          <a:latin typeface="Arial" panose="020B0604020202020204" pitchFamily="34" charset="0"/>
                          <a:cs typeface="Arial" panose="020B0604020202020204" pitchFamily="34" charset="0"/>
                        </a:rPr>
                        <a:t>Sl. No.</a:t>
                      </a:r>
                      <a:endParaRPr lang="en-US" sz="1200" b="1" i="0" u="none" strike="noStrike" dirty="0">
                        <a:solidFill>
                          <a:schemeClr val="accent4">
                            <a:lumMod val="50000"/>
                          </a:schemeClr>
                        </a:solidFill>
                        <a:effectLst/>
                        <a:latin typeface="Arial" panose="020B0604020202020204" pitchFamily="34" charset="0"/>
                        <a:cs typeface="Arial" panose="020B0604020202020204" pitchFamily="34" charset="0"/>
                      </a:endParaRPr>
                    </a:p>
                  </a:txBody>
                  <a:tcPr marL="7940" marR="7940" marT="794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3"/>
                      <a:tile tx="0" ty="0" sx="100000" sy="100000" flip="none" algn="tl"/>
                    </a:blipFill>
                  </a:tcPr>
                </a:tc>
                <a:tc>
                  <a:txBody>
                    <a:bodyPr/>
                    <a:lstStyle/>
                    <a:p>
                      <a:pPr algn="ctr" rtl="0" fontAlgn="ctr"/>
                      <a:r>
                        <a:rPr lang="en-US" sz="1200" u="none" strike="noStrike" dirty="0">
                          <a:solidFill>
                            <a:schemeClr val="accent4">
                              <a:lumMod val="50000"/>
                            </a:schemeClr>
                          </a:solidFill>
                          <a:effectLst/>
                          <a:latin typeface="Arial" panose="020B0604020202020204" pitchFamily="34" charset="0"/>
                          <a:cs typeface="Arial" panose="020B0604020202020204" pitchFamily="34" charset="0"/>
                        </a:rPr>
                        <a:t>PROBLEM</a:t>
                      </a:r>
                      <a:endParaRPr lang="en-US" sz="1200" b="1" i="0" u="none" strike="noStrike" dirty="0">
                        <a:solidFill>
                          <a:schemeClr val="accent4">
                            <a:lumMod val="50000"/>
                          </a:schemeClr>
                        </a:solidFill>
                        <a:effectLst/>
                        <a:latin typeface="Arial" panose="020B0604020202020204" pitchFamily="34" charset="0"/>
                        <a:cs typeface="Arial" panose="020B0604020202020204" pitchFamily="34" charset="0"/>
                      </a:endParaRPr>
                    </a:p>
                  </a:txBody>
                  <a:tcPr marL="7940" marR="7940" marT="794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3"/>
                      <a:tile tx="0" ty="0" sx="100000" sy="100000" flip="none" algn="tl"/>
                    </a:blipFill>
                  </a:tcPr>
                </a:tc>
                <a:extLst>
                  <a:ext uri="{0D108BD9-81ED-4DB2-BD59-A6C34878D82A}">
                    <a16:rowId xmlns:a16="http://schemas.microsoft.com/office/drawing/2014/main" val="10000"/>
                  </a:ext>
                </a:extLst>
              </a:tr>
              <a:tr h="247846">
                <a:tc>
                  <a:txBody>
                    <a:bodyPr/>
                    <a:lstStyle/>
                    <a:p>
                      <a:pPr algn="ctr" fontAlgn="ctr"/>
                      <a:r>
                        <a:rPr lang="en-US" sz="1150" u="none" strike="noStrike" dirty="0">
                          <a:effectLst/>
                          <a:latin typeface="+mn-lt"/>
                        </a:rPr>
                        <a:t>1</a:t>
                      </a:r>
                      <a:endParaRPr lang="en-US" sz="1150" b="0" i="0" u="none" strike="noStrike" dirty="0">
                        <a:solidFill>
                          <a:srgbClr val="000000"/>
                        </a:solidFill>
                        <a:effectLst/>
                        <a:latin typeface="+mn-lt"/>
                      </a:endParaRP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l" rtl="0" fontAlgn="ctr"/>
                      <a:r>
                        <a:rPr lang="en-US" sz="1150" u="none" strike="noStrike" dirty="0">
                          <a:effectLst/>
                          <a:latin typeface="+mn-lt"/>
                        </a:rPr>
                        <a:t>RSV Trip for</a:t>
                      </a:r>
                      <a:r>
                        <a:rPr lang="en-US" sz="1150" u="none" strike="noStrike" baseline="0" dirty="0">
                          <a:effectLst/>
                          <a:latin typeface="+mn-lt"/>
                        </a:rPr>
                        <a:t> Liner</a:t>
                      </a:r>
                      <a:endParaRPr lang="en-US" sz="1150" b="0" i="0" u="none" strike="noStrike" dirty="0">
                        <a:solidFill>
                          <a:srgbClr val="000000"/>
                        </a:solidFill>
                        <a:effectLst/>
                        <a:latin typeface="+mn-lt"/>
                      </a:endParaRP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r>
                        <a:rPr lang="en-US" sz="1150" u="none" strike="noStrike" dirty="0">
                          <a:effectLst/>
                          <a:latin typeface="+mn-lt"/>
                        </a:rPr>
                        <a:t>16</a:t>
                      </a:r>
                      <a:endParaRPr lang="en-US" sz="1150" b="0" i="0" u="none" strike="noStrike" dirty="0">
                        <a:solidFill>
                          <a:srgbClr val="000000"/>
                        </a:solidFill>
                        <a:effectLst/>
                        <a:latin typeface="+mn-lt"/>
                      </a:endParaRP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Loco Bucket indication problem</a:t>
                      </a: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r>
                        <a:rPr lang="en-US" sz="1150" u="none" strike="noStrike" dirty="0">
                          <a:effectLst/>
                          <a:latin typeface="+mn-lt"/>
                        </a:rPr>
                        <a:t>31</a:t>
                      </a:r>
                      <a:endParaRPr lang="en-US" sz="1150" b="0" i="0" u="none" strike="noStrike" dirty="0">
                        <a:solidFill>
                          <a:srgbClr val="000000"/>
                        </a:solidFill>
                        <a:effectLst/>
                        <a:latin typeface="+mn-lt"/>
                      </a:endParaRP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Gas</a:t>
                      </a:r>
                      <a:r>
                        <a:rPr lang="en-US" sz="1150" b="0" i="0" u="none" strike="noStrike" baseline="0" dirty="0">
                          <a:solidFill>
                            <a:srgbClr val="000000"/>
                          </a:solidFill>
                          <a:effectLst/>
                          <a:latin typeface="+mn-lt"/>
                        </a:rPr>
                        <a:t> Circulation Fan Drive issue</a:t>
                      </a:r>
                      <a:endParaRPr lang="en-US" sz="1150" b="0" i="0" u="none" strike="noStrike" dirty="0">
                        <a:solidFill>
                          <a:srgbClr val="000000"/>
                        </a:solidFill>
                        <a:effectLst/>
                        <a:latin typeface="+mn-lt"/>
                      </a:endParaRP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extLst>
                  <a:ext uri="{0D108BD9-81ED-4DB2-BD59-A6C34878D82A}">
                    <a16:rowId xmlns:a16="http://schemas.microsoft.com/office/drawing/2014/main" val="10001"/>
                  </a:ext>
                </a:extLst>
              </a:tr>
              <a:tr h="247846">
                <a:tc>
                  <a:txBody>
                    <a:bodyPr/>
                    <a:lstStyle/>
                    <a:p>
                      <a:pPr algn="ctr" fontAlgn="ctr"/>
                      <a:r>
                        <a:rPr lang="en-US" sz="1150" u="none" strike="noStrike" dirty="0">
                          <a:effectLst/>
                          <a:latin typeface="+mn-lt"/>
                        </a:rPr>
                        <a:t>2</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u="none" strike="noStrike" dirty="0">
                          <a:effectLst/>
                          <a:latin typeface="+mn-lt"/>
                        </a:rPr>
                        <a:t>Nitrogen Consumption High than Design</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17</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APS Indication problem</a:t>
                      </a: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32</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I</a:t>
                      </a:r>
                      <a:r>
                        <a:rPr lang="en-US" sz="1150" b="0" i="0" u="none" strike="noStrike" baseline="0" dirty="0">
                          <a:solidFill>
                            <a:srgbClr val="000000"/>
                          </a:solidFill>
                          <a:effectLst/>
                          <a:latin typeface="+mn-lt"/>
                        </a:rPr>
                        <a:t>D fan drive issue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2"/>
                  </a:ext>
                </a:extLst>
              </a:tr>
              <a:tr h="369024">
                <a:tc>
                  <a:txBody>
                    <a:bodyPr/>
                    <a:lstStyle/>
                    <a:p>
                      <a:pPr algn="ctr" fontAlgn="ctr"/>
                      <a:r>
                        <a:rPr lang="en-US" sz="1150" u="none" strike="noStrike" dirty="0">
                          <a:effectLst/>
                          <a:latin typeface="+mn-lt"/>
                        </a:rPr>
                        <a:t>3</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GCF</a:t>
                      </a:r>
                      <a:r>
                        <a:rPr lang="en-US" sz="1150" b="0" i="0" u="none" strike="noStrike" baseline="0" dirty="0">
                          <a:solidFill>
                            <a:schemeClr val="dk1"/>
                          </a:solidFill>
                          <a:effectLst/>
                          <a:latin typeface="+mn-lt"/>
                        </a:rPr>
                        <a:t> Tripping for Low IA</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18</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u="none" strike="noStrike" dirty="0">
                          <a:effectLst/>
                          <a:latin typeface="+mn-lt"/>
                        </a:rPr>
                        <a:t>Crane</a:t>
                      </a:r>
                      <a:r>
                        <a:rPr lang="en-US" sz="1150" u="none" strike="noStrike" baseline="0" dirty="0">
                          <a:effectLst/>
                          <a:latin typeface="+mn-lt"/>
                        </a:rPr>
                        <a:t> operation frequent stoppage for APS Signal issue</a:t>
                      </a:r>
                      <a:endParaRPr lang="en-US" sz="1150" u="none" strike="noStrike" dirty="0">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33</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sng" strike="noStrike" dirty="0">
                          <a:solidFill>
                            <a:srgbClr val="000000"/>
                          </a:solidFill>
                          <a:effectLst/>
                          <a:latin typeface="+mn-lt"/>
                        </a:rPr>
                        <a:t>Gas</a:t>
                      </a:r>
                      <a:r>
                        <a:rPr lang="en-US" sz="1150" b="0" i="0" u="sng" strike="noStrike" baseline="0" dirty="0">
                          <a:solidFill>
                            <a:srgbClr val="000000"/>
                          </a:solidFill>
                          <a:effectLst/>
                          <a:latin typeface="+mn-lt"/>
                        </a:rPr>
                        <a:t> Analyzer problem</a:t>
                      </a:r>
                      <a:endParaRPr lang="en-US" sz="1150" b="0" i="0" u="sng"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3"/>
                  </a:ext>
                </a:extLst>
              </a:tr>
              <a:tr h="282355">
                <a:tc>
                  <a:txBody>
                    <a:bodyPr/>
                    <a:lstStyle/>
                    <a:p>
                      <a:pPr algn="ctr" fontAlgn="ctr"/>
                      <a:r>
                        <a:rPr lang="en-US" sz="1150" u="none" strike="noStrike" dirty="0">
                          <a:effectLst/>
                          <a:latin typeface="+mn-lt"/>
                        </a:rPr>
                        <a:t>4</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u="none" strike="noStrike" dirty="0">
                          <a:effectLst/>
                          <a:latin typeface="+mn-lt"/>
                        </a:rPr>
                        <a:t>GDS</a:t>
                      </a:r>
                      <a:r>
                        <a:rPr lang="en-US" sz="1150" u="none" strike="noStrike" baseline="0" dirty="0">
                          <a:effectLst/>
                          <a:latin typeface="+mn-lt"/>
                        </a:rPr>
                        <a:t> vibrator not working</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19</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RSV Dust generation from</a:t>
                      </a:r>
                      <a:r>
                        <a:rPr lang="en-US" sz="1150" b="0" i="0" u="none" strike="noStrike" baseline="0" dirty="0">
                          <a:solidFill>
                            <a:srgbClr val="000000"/>
                          </a:solidFill>
                          <a:effectLst/>
                          <a:latin typeface="+mn-lt"/>
                        </a:rPr>
                        <a:t> Vibrofeeder</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34</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u="none" strike="noStrike" dirty="0">
                          <a:effectLst/>
                          <a:latin typeface="+mn-lt"/>
                        </a:rPr>
                        <a:t>Frequently steam line leakages and steam trap failure </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4"/>
                  </a:ext>
                </a:extLst>
              </a:tr>
              <a:tr h="247846">
                <a:tc>
                  <a:txBody>
                    <a:bodyPr/>
                    <a:lstStyle/>
                    <a:p>
                      <a:pPr algn="ctr" fontAlgn="ctr"/>
                      <a:r>
                        <a:rPr lang="en-US" sz="1150" u="none" strike="noStrike" dirty="0">
                          <a:effectLst/>
                          <a:latin typeface="+mn-lt"/>
                        </a:rPr>
                        <a:t>5</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u="none" strike="noStrike" dirty="0">
                          <a:effectLst/>
                          <a:latin typeface="+mn-lt"/>
                        </a:rPr>
                        <a:t>GD</a:t>
                      </a:r>
                      <a:r>
                        <a:rPr lang="en-US" sz="1150" u="none" strike="noStrike" baseline="0" dirty="0">
                          <a:effectLst/>
                          <a:latin typeface="+mn-lt"/>
                        </a:rPr>
                        <a:t>S hopper level sensor not working</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20</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Water</a:t>
                      </a:r>
                      <a:r>
                        <a:rPr lang="en-US" sz="1150" b="0" i="0" u="none" strike="noStrike" baseline="0" dirty="0">
                          <a:solidFill>
                            <a:srgbClr val="000000"/>
                          </a:solidFill>
                          <a:effectLst/>
                          <a:latin typeface="+mn-lt"/>
                        </a:rPr>
                        <a:t> seal pump failure </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35</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Bucket Rotation Problem.</a:t>
                      </a:r>
                    </a:p>
                  </a:txBody>
                  <a:tcPr marL="7940" marR="7940" marT="7940" marB="0" anchor="ctr">
                    <a:blipFill>
                      <a:blip r:embed="rId3"/>
                      <a:tile tx="0" ty="0" sx="100000" sy="100000" flip="none" algn="tl"/>
                    </a:blipFill>
                  </a:tcPr>
                </a:tc>
                <a:extLst>
                  <a:ext uri="{0D108BD9-81ED-4DB2-BD59-A6C34878D82A}">
                    <a16:rowId xmlns:a16="http://schemas.microsoft.com/office/drawing/2014/main" val="10005"/>
                  </a:ext>
                </a:extLst>
              </a:tr>
              <a:tr h="197608">
                <a:tc>
                  <a:txBody>
                    <a:bodyPr/>
                    <a:lstStyle/>
                    <a:p>
                      <a:pPr algn="ctr" fontAlgn="ctr"/>
                      <a:r>
                        <a:rPr lang="en-US" sz="1150" u="none" strike="noStrike" dirty="0">
                          <a:effectLst/>
                          <a:latin typeface="+mn-lt"/>
                        </a:rPr>
                        <a:t>6</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GCF</a:t>
                      </a:r>
                      <a:r>
                        <a:rPr lang="en-US" sz="1150" b="0" i="0" u="none" strike="noStrike" baseline="0" dirty="0">
                          <a:solidFill>
                            <a:schemeClr val="dk1"/>
                          </a:solidFill>
                          <a:effectLst/>
                          <a:latin typeface="+mn-lt"/>
                        </a:rPr>
                        <a:t> Inlet Damper not working</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21</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 Bucket Elevator tripping</a:t>
                      </a:r>
                      <a:r>
                        <a:rPr lang="en-US" sz="1150" b="0" i="0" u="none" strike="noStrike" baseline="0" dirty="0">
                          <a:solidFill>
                            <a:schemeClr val="dk1"/>
                          </a:solidFill>
                          <a:effectLst/>
                          <a:latin typeface="+mn-lt"/>
                        </a:rPr>
                        <a:t> issue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b="0" i="0" u="none" strike="noStrike" dirty="0">
                          <a:solidFill>
                            <a:srgbClr val="000000"/>
                          </a:solidFill>
                          <a:effectLst/>
                          <a:latin typeface="+mn-lt"/>
                        </a:rPr>
                        <a:t>36</a:t>
                      </a: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 water seal pot pump trip</a:t>
                      </a:r>
                      <a:r>
                        <a:rPr lang="en-US" sz="1150" b="0" i="0" u="none" strike="noStrike" baseline="0" dirty="0">
                          <a:solidFill>
                            <a:srgbClr val="000000"/>
                          </a:solidFill>
                          <a:effectLst/>
                          <a:latin typeface="+mn-lt"/>
                        </a:rPr>
                        <a:t> issue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6"/>
                  </a:ext>
                </a:extLst>
              </a:tr>
              <a:tr h="197608">
                <a:tc>
                  <a:txBody>
                    <a:bodyPr/>
                    <a:lstStyle/>
                    <a:p>
                      <a:pPr algn="ctr" fontAlgn="ctr"/>
                      <a:r>
                        <a:rPr lang="en-US" sz="1150" u="none" strike="noStrike" dirty="0">
                          <a:effectLst/>
                          <a:latin typeface="+mn-lt"/>
                        </a:rPr>
                        <a:t>7</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Chamber</a:t>
                      </a:r>
                      <a:r>
                        <a:rPr lang="en-US" sz="1150" b="0" i="0" u="none" strike="noStrike" baseline="0" dirty="0">
                          <a:solidFill>
                            <a:schemeClr val="dk1"/>
                          </a:solidFill>
                          <a:effectLst/>
                          <a:latin typeface="+mn-lt"/>
                        </a:rPr>
                        <a:t> slide gate not working</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22</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PDC SDC</a:t>
                      </a:r>
                      <a:r>
                        <a:rPr lang="en-US" sz="1150" b="0" i="0" u="none" strike="noStrike" baseline="0" dirty="0">
                          <a:solidFill>
                            <a:srgbClr val="000000"/>
                          </a:solidFill>
                          <a:effectLst/>
                          <a:latin typeface="+mn-lt"/>
                        </a:rPr>
                        <a:t> RAV jamming</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b="0" i="0" u="none" strike="noStrike" dirty="0">
                          <a:solidFill>
                            <a:srgbClr val="000000"/>
                          </a:solidFill>
                          <a:effectLst/>
                          <a:latin typeface="+mn-lt"/>
                        </a:rPr>
                        <a:t>37</a:t>
                      </a: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 LOCO bucket</a:t>
                      </a:r>
                      <a:r>
                        <a:rPr lang="en-US" sz="1150" b="0" i="0" u="none" strike="noStrike" baseline="0" dirty="0">
                          <a:solidFill>
                            <a:srgbClr val="000000"/>
                          </a:solidFill>
                          <a:effectLst/>
                          <a:latin typeface="+mn-lt"/>
                        </a:rPr>
                        <a:t> present indication issue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7"/>
                  </a:ext>
                </a:extLst>
              </a:tr>
              <a:tr h="509472">
                <a:tc>
                  <a:txBody>
                    <a:bodyPr/>
                    <a:lstStyle/>
                    <a:p>
                      <a:pPr algn="ctr" fontAlgn="ctr"/>
                      <a:r>
                        <a:rPr lang="en-US" sz="1150" u="none" strike="noStrike" dirty="0">
                          <a:effectLst/>
                          <a:latin typeface="+mn-lt"/>
                        </a:rPr>
                        <a:t>8</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PDC SDC level sensor not working</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23</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baseline="0" dirty="0">
                          <a:solidFill>
                            <a:srgbClr val="000000"/>
                          </a:solidFill>
                          <a:effectLst/>
                          <a:latin typeface="+mn-lt"/>
                        </a:rPr>
                        <a:t> </a:t>
                      </a:r>
                      <a:r>
                        <a:rPr lang="en-US" sz="1600" b="1" i="0" u="none" strike="noStrike" baseline="0" dirty="0">
                          <a:solidFill>
                            <a:srgbClr val="FF0000"/>
                          </a:solidFill>
                          <a:effectLst/>
                          <a:latin typeface="Times New Roman" panose="02020603050405020304" pitchFamily="18" charset="0"/>
                          <a:cs typeface="Times New Roman" panose="02020603050405020304" pitchFamily="18" charset="0"/>
                        </a:rPr>
                        <a:t>PDC Cooling pipe leakage</a:t>
                      </a:r>
                      <a:endParaRPr lang="en-US" sz="115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8"/>
                  </a:ext>
                </a:extLst>
              </a:tr>
              <a:tr h="342071">
                <a:tc>
                  <a:txBody>
                    <a:bodyPr/>
                    <a:lstStyle/>
                    <a:p>
                      <a:pPr algn="ctr" fontAlgn="ctr"/>
                      <a:r>
                        <a:rPr lang="en-US" sz="1150" u="none" strike="noStrike" dirty="0">
                          <a:effectLst/>
                          <a:latin typeface="+mn-lt"/>
                        </a:rPr>
                        <a:t>9</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Charging Hopper Alignment</a:t>
                      </a:r>
                      <a:r>
                        <a:rPr lang="en-US" sz="1150" b="0" i="0" u="none" strike="noStrike" baseline="0" dirty="0">
                          <a:solidFill>
                            <a:schemeClr val="dk1"/>
                          </a:solidFill>
                          <a:effectLst/>
                          <a:latin typeface="+mn-lt"/>
                        </a:rPr>
                        <a:t> issue in Chamber</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b="0" i="0" u="none" strike="noStrike" dirty="0">
                          <a:solidFill>
                            <a:srgbClr val="000000"/>
                          </a:solidFill>
                          <a:effectLst/>
                          <a:latin typeface="+mn-lt"/>
                        </a:rPr>
                        <a:t>24</a:t>
                      </a:r>
                    </a:p>
                  </a:txBody>
                  <a:tcPr marL="7940" marR="7940" marT="7940" marB="0" anchor="ctr">
                    <a:blipFill>
                      <a:blip r:embed="rId3"/>
                      <a:tile tx="0" ty="0" sx="100000" sy="100000" flip="none" algn="tl"/>
                    </a:blip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Radar</a:t>
                      </a:r>
                      <a:r>
                        <a:rPr lang="en-US" sz="1200" b="0" i="0" u="none" strike="noStrike" baseline="0" dirty="0">
                          <a:solidFill>
                            <a:srgbClr val="000000"/>
                          </a:solidFill>
                          <a:effectLst/>
                          <a:latin typeface="+mn-lt"/>
                        </a:rPr>
                        <a:t> sensor Malfunctioning</a:t>
                      </a:r>
                      <a:endParaRPr lang="en-US" sz="1200" b="0" i="0" u="none" strike="noStrike" dirty="0">
                        <a:solidFill>
                          <a:srgbClr val="000000"/>
                        </a:solidFill>
                        <a:effectLst/>
                        <a:latin typeface="+mn-lt"/>
                      </a:endParaRPr>
                    </a:p>
                    <a:p>
                      <a:pPr algn="l" rtl="0" fontAlgn="ctr"/>
                      <a:endParaRPr lang="en-US" sz="1200" b="1" i="0" u="none" strike="noStrike" dirty="0">
                        <a:solidFill>
                          <a:srgbClr val="FF0000"/>
                        </a:solidFill>
                        <a:effectLst/>
                        <a:latin typeface="+mn-lt"/>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09"/>
                  </a:ext>
                </a:extLst>
              </a:tr>
              <a:tr h="328121">
                <a:tc>
                  <a:txBody>
                    <a:bodyPr/>
                    <a:lstStyle/>
                    <a:p>
                      <a:pPr algn="ctr" fontAlgn="ctr"/>
                      <a:r>
                        <a:rPr lang="en-US" sz="1150" u="none" strike="noStrike" dirty="0">
                          <a:effectLst/>
                          <a:latin typeface="+mn-lt"/>
                        </a:rPr>
                        <a:t>10</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Frequent conveyor stop resulting</a:t>
                      </a:r>
                      <a:r>
                        <a:rPr lang="en-US" sz="1150" b="0" i="0" u="none" strike="noStrike" baseline="0" dirty="0">
                          <a:solidFill>
                            <a:srgbClr val="000000"/>
                          </a:solidFill>
                          <a:effectLst/>
                          <a:latin typeface="+mn-lt"/>
                        </a:rPr>
                        <a:t> loss of Production</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25</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GDS Bag</a:t>
                      </a:r>
                      <a:r>
                        <a:rPr lang="en-US" sz="1150" b="0" i="0" u="none" strike="noStrike" baseline="0" dirty="0">
                          <a:solidFill>
                            <a:srgbClr val="000000"/>
                          </a:solidFill>
                          <a:effectLst/>
                          <a:latin typeface="+mn-lt"/>
                        </a:rPr>
                        <a:t> filter damaged</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10"/>
                  </a:ext>
                </a:extLst>
              </a:tr>
              <a:tr h="287567">
                <a:tc>
                  <a:txBody>
                    <a:bodyPr/>
                    <a:lstStyle/>
                    <a:p>
                      <a:pPr algn="ctr" fontAlgn="ctr"/>
                      <a:r>
                        <a:rPr lang="en-US" sz="1150" u="none" strike="noStrike" dirty="0">
                          <a:effectLst/>
                          <a:latin typeface="+mn-lt"/>
                        </a:rPr>
                        <a:t>11</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200" b="0" i="0" u="none" strike="noStrike" dirty="0">
                          <a:solidFill>
                            <a:schemeClr val="tx1"/>
                          </a:solidFill>
                          <a:effectLst/>
                          <a:latin typeface="+mn-lt"/>
                        </a:rPr>
                        <a:t>Frequent</a:t>
                      </a:r>
                      <a:r>
                        <a:rPr lang="en-US" sz="1200" b="0" i="0" u="none" strike="noStrike" baseline="0" dirty="0">
                          <a:solidFill>
                            <a:schemeClr val="tx1"/>
                          </a:solidFill>
                          <a:effectLst/>
                          <a:latin typeface="+mn-lt"/>
                        </a:rPr>
                        <a:t> </a:t>
                      </a:r>
                      <a:r>
                        <a:rPr lang="en-US" sz="1200" b="0" i="0" u="none" strike="noStrike" dirty="0">
                          <a:solidFill>
                            <a:schemeClr val="tx1"/>
                          </a:solidFill>
                          <a:effectLst/>
                          <a:latin typeface="+mn-lt"/>
                        </a:rPr>
                        <a:t>Bucke</a:t>
                      </a:r>
                      <a:r>
                        <a:rPr lang="en-US" sz="1200" b="0" i="0" u="none" strike="noStrike" baseline="0" dirty="0">
                          <a:solidFill>
                            <a:schemeClr val="tx1"/>
                          </a:solidFill>
                          <a:effectLst/>
                          <a:latin typeface="+mn-lt"/>
                        </a:rPr>
                        <a:t>t Liner damage</a:t>
                      </a:r>
                      <a:endParaRPr lang="en-US" sz="1200" b="0" i="0" u="none" strike="noStrike" dirty="0">
                        <a:solidFill>
                          <a:schemeClr val="tx1"/>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26</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 GDS Discharge</a:t>
                      </a:r>
                      <a:r>
                        <a:rPr lang="en-US" sz="1150" b="0" i="0" u="none" strike="noStrike" baseline="0" dirty="0">
                          <a:solidFill>
                            <a:schemeClr val="dk1"/>
                          </a:solidFill>
                          <a:effectLst/>
                          <a:latin typeface="+mn-lt"/>
                        </a:rPr>
                        <a:t> cylinder Issue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11"/>
                  </a:ext>
                </a:extLst>
              </a:tr>
              <a:tr h="339840">
                <a:tc>
                  <a:txBody>
                    <a:bodyPr/>
                    <a:lstStyle/>
                    <a:p>
                      <a:pPr algn="ctr" fontAlgn="ctr"/>
                      <a:r>
                        <a:rPr lang="en-US" sz="1150" u="none" strike="noStrike" dirty="0">
                          <a:effectLst/>
                          <a:latin typeface="+mn-lt"/>
                        </a:rPr>
                        <a:t>12</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Bucket Swapping takes time for unavailability of</a:t>
                      </a:r>
                      <a:r>
                        <a:rPr lang="en-US" sz="1150" b="0" i="0" u="none" strike="noStrike" baseline="0" dirty="0">
                          <a:solidFill>
                            <a:srgbClr val="000000"/>
                          </a:solidFill>
                          <a:effectLst/>
                          <a:latin typeface="+mn-lt"/>
                        </a:rPr>
                        <a:t> Carriage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27</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chemeClr val="dk1"/>
                          </a:solidFill>
                          <a:effectLst/>
                          <a:latin typeface="+mn-lt"/>
                        </a:rPr>
                        <a:t> Flow Chain</a:t>
                      </a:r>
                      <a:r>
                        <a:rPr lang="en-US" sz="1150" b="0" i="0" u="none" strike="noStrike" baseline="0" dirty="0">
                          <a:solidFill>
                            <a:schemeClr val="dk1"/>
                          </a:solidFill>
                          <a:effectLst/>
                          <a:latin typeface="+mn-lt"/>
                        </a:rPr>
                        <a:t> conveyor trip issue for sensor failure</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12"/>
                  </a:ext>
                </a:extLst>
              </a:tr>
              <a:tr h="247846">
                <a:tc>
                  <a:txBody>
                    <a:bodyPr/>
                    <a:lstStyle/>
                    <a:p>
                      <a:pPr algn="ctr" fontAlgn="ctr"/>
                      <a:r>
                        <a:rPr lang="en-US" sz="1150" u="none" strike="noStrike" dirty="0">
                          <a:effectLst/>
                          <a:latin typeface="+mn-lt"/>
                        </a:rPr>
                        <a:t>13</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Coke Conveyor</a:t>
                      </a:r>
                      <a:r>
                        <a:rPr lang="en-US" sz="1150" b="0" i="0" u="none" strike="noStrike" baseline="0" dirty="0">
                          <a:solidFill>
                            <a:srgbClr val="000000"/>
                          </a:solidFill>
                          <a:effectLst/>
                          <a:latin typeface="+mn-lt"/>
                        </a:rPr>
                        <a:t> Spillage </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28</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Seal pot jamming</a:t>
                      </a:r>
                      <a:r>
                        <a:rPr lang="en-US" sz="1150" b="0" i="0" u="none" strike="noStrike" baseline="0" dirty="0">
                          <a:solidFill>
                            <a:srgbClr val="000000"/>
                          </a:solidFill>
                          <a:effectLst/>
                          <a:latin typeface="+mn-lt"/>
                        </a:rPr>
                        <a:t> issue with Dust</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13"/>
                  </a:ext>
                </a:extLst>
              </a:tr>
              <a:tr h="247846">
                <a:tc>
                  <a:txBody>
                    <a:bodyPr/>
                    <a:lstStyle/>
                    <a:p>
                      <a:pPr algn="ctr" fontAlgn="ctr"/>
                      <a:r>
                        <a:rPr lang="en-US" sz="1150" u="none" strike="noStrike" dirty="0">
                          <a:effectLst/>
                          <a:latin typeface="+mn-lt"/>
                        </a:rPr>
                        <a:t>14</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Frequent</a:t>
                      </a:r>
                      <a:r>
                        <a:rPr lang="en-US" sz="1150" b="0" i="0" u="none" strike="noStrike" baseline="0" dirty="0">
                          <a:solidFill>
                            <a:srgbClr val="000000"/>
                          </a:solidFill>
                          <a:effectLst/>
                          <a:latin typeface="+mn-lt"/>
                        </a:rPr>
                        <a:t> jamming of GDS Hopper</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29</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00" b="0" i="0" u="none" strike="noStrike" dirty="0">
                          <a:solidFill>
                            <a:srgbClr val="000000"/>
                          </a:solidFill>
                          <a:effectLst/>
                          <a:latin typeface="+mn-lt"/>
                        </a:rPr>
                        <a:t>Visibility</a:t>
                      </a:r>
                      <a:r>
                        <a:rPr lang="en-US" sz="1100" b="0" i="0" u="none" strike="noStrike" baseline="0" dirty="0">
                          <a:solidFill>
                            <a:srgbClr val="000000"/>
                          </a:solidFill>
                          <a:effectLst/>
                          <a:latin typeface="+mn-lt"/>
                        </a:rPr>
                        <a:t> issue of Operator from Cabin</a:t>
                      </a:r>
                      <a:endParaRPr lang="en-US" sz="110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14"/>
                  </a:ext>
                </a:extLst>
              </a:tr>
              <a:tr h="247846">
                <a:tc>
                  <a:txBody>
                    <a:bodyPr/>
                    <a:lstStyle/>
                    <a:p>
                      <a:pPr algn="ctr" fontAlgn="ctr"/>
                      <a:r>
                        <a:rPr lang="en-US" sz="1150" u="none" strike="noStrike" dirty="0">
                          <a:effectLst/>
                          <a:latin typeface="+mn-lt"/>
                        </a:rPr>
                        <a:t>15</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Frequent</a:t>
                      </a:r>
                      <a:r>
                        <a:rPr lang="en-US" sz="1150" b="0" i="0" u="none" strike="noStrike" baseline="0" dirty="0">
                          <a:solidFill>
                            <a:srgbClr val="000000"/>
                          </a:solidFill>
                          <a:effectLst/>
                          <a:latin typeface="+mn-lt"/>
                        </a:rPr>
                        <a:t> jamming of </a:t>
                      </a:r>
                      <a:r>
                        <a:rPr lang="en-US" sz="1150" b="0" i="0" u="none" strike="noStrike" baseline="0" dirty="0" err="1">
                          <a:solidFill>
                            <a:srgbClr val="000000"/>
                          </a:solidFill>
                          <a:effectLst/>
                          <a:latin typeface="+mn-lt"/>
                        </a:rPr>
                        <a:t>Pugmill</a:t>
                      </a:r>
                      <a:r>
                        <a:rPr lang="en-US" sz="1150" b="0" i="0" u="none" strike="noStrike" baseline="0" dirty="0">
                          <a:solidFill>
                            <a:srgbClr val="000000"/>
                          </a:solidFill>
                          <a:effectLst/>
                          <a:latin typeface="+mn-lt"/>
                        </a:rPr>
                        <a:t> </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ctr" rtl="0" fontAlgn="ctr"/>
                      <a:r>
                        <a:rPr lang="en-US" sz="1150" u="none" strike="noStrike" dirty="0">
                          <a:effectLst/>
                          <a:latin typeface="+mn-lt"/>
                        </a:rPr>
                        <a:t>30</a:t>
                      </a: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r>
                        <a:rPr lang="en-US" sz="1150" b="0" i="0" u="none" strike="noStrike" dirty="0">
                          <a:solidFill>
                            <a:srgbClr val="000000"/>
                          </a:solidFill>
                          <a:effectLst/>
                          <a:latin typeface="+mn-lt"/>
                        </a:rPr>
                        <a:t>Charging crane drive fault</a:t>
                      </a:r>
                    </a:p>
                  </a:txBody>
                  <a:tcPr marL="7940" marR="7940" marT="7940" marB="0" anchor="ctr">
                    <a:blipFill>
                      <a:blip r:embed="rId3"/>
                      <a:tile tx="0" ty="0" sx="100000" sy="100000" flip="none" algn="tl"/>
                    </a:blipFill>
                  </a:tcPr>
                </a:tc>
                <a:tc>
                  <a:txBody>
                    <a:bodyPr/>
                    <a:lstStyle/>
                    <a:p>
                      <a:pPr algn="ctr"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a:blip r:embed="rId3"/>
                      <a:tile tx="0" ty="0" sx="100000" sy="100000" flip="none" algn="tl"/>
                    </a:blipFill>
                  </a:tcPr>
                </a:tc>
                <a:extLst>
                  <a:ext uri="{0D108BD9-81ED-4DB2-BD59-A6C34878D82A}">
                    <a16:rowId xmlns:a16="http://schemas.microsoft.com/office/drawing/2014/main" val="10015"/>
                  </a:ext>
                </a:extLst>
              </a:tr>
            </a:tbl>
          </a:graphicData>
        </a:graphic>
      </p:graphicFrame>
      <p:sp>
        <p:nvSpPr>
          <p:cNvPr id="6" name="TextBox 1"/>
          <p:cNvSpPr txBox="1">
            <a:spLocks noChangeArrowheads="1"/>
          </p:cNvSpPr>
          <p:nvPr/>
        </p:nvSpPr>
        <p:spPr bwMode="auto">
          <a:xfrm>
            <a:off x="3801100" y="550565"/>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1 Identification of Problem</a:t>
            </a:r>
          </a:p>
        </p:txBody>
      </p:sp>
      <p:sp>
        <p:nvSpPr>
          <p:cNvPr id="9" name="Title 2"/>
          <p:cNvSpPr txBox="1">
            <a:spLocks/>
          </p:cNvSpPr>
          <p:nvPr/>
        </p:nvSpPr>
        <p:spPr>
          <a:xfrm>
            <a:off x="2896275" y="1028470"/>
            <a:ext cx="6382840" cy="382304"/>
          </a:xfrm>
          <a:prstGeom prst="rect">
            <a:avLst/>
          </a:prstGeom>
          <a:ln w="6350" cap="flat" cmpd="sng" algn="ctr">
            <a:solidFill>
              <a:schemeClr val="tx1"/>
            </a:solidFill>
            <a:prstDash val="solid"/>
            <a:miter lim="800000"/>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ctr"/>
            <a:r>
              <a:rPr lang="en-US" sz="1800" dirty="0">
                <a:solidFill>
                  <a:srgbClr val="002060"/>
                </a:solidFill>
                <a:latin typeface="Times New Roman" panose="02020603050405020304" pitchFamily="18" charset="0"/>
                <a:cs typeface="Times New Roman" panose="02020603050405020304" pitchFamily="18" charset="0"/>
              </a:rPr>
              <a:t>PROBLEM IDENTIFICATION BANK</a:t>
            </a:r>
          </a:p>
        </p:txBody>
      </p:sp>
    </p:spTree>
    <p:extLst>
      <p:ext uri="{BB962C8B-B14F-4D97-AF65-F5344CB8AC3E}">
        <p14:creationId xmlns:p14="http://schemas.microsoft.com/office/powerpoint/2010/main" val="204067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5212979" y="1294083"/>
            <a:ext cx="6057900" cy="2914928"/>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p>
            <a:pPr algn="ctr"/>
            <a:r>
              <a:rPr lang="en-US" sz="4400" b="1" dirty="0">
                <a:solidFill>
                  <a:srgbClr val="002060"/>
                </a:solidFill>
                <a:latin typeface="Times New Roman" panose="02020603050405020304" pitchFamily="18" charset="0"/>
                <a:cs typeface="Times New Roman" panose="02020603050405020304" pitchFamily="18" charset="0"/>
              </a:rPr>
              <a:t>STEP  - 2</a:t>
            </a:r>
          </a:p>
          <a:p>
            <a:pPr algn="ctr"/>
            <a:r>
              <a:rPr lang="en-US" sz="4400" b="1" u="sng" dirty="0">
                <a:solidFill>
                  <a:srgbClr val="002060"/>
                </a:solidFill>
                <a:latin typeface="Times New Roman" panose="02020603050405020304" pitchFamily="18" charset="0"/>
                <a:cs typeface="Times New Roman" panose="02020603050405020304" pitchFamily="18" charset="0"/>
              </a:rPr>
              <a:t>Selection of Problem</a:t>
            </a:r>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05119" y="114544"/>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8714" y="685747"/>
            <a:ext cx="3995142" cy="5488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050068" y="4651579"/>
            <a:ext cx="6519863" cy="461665"/>
          </a:xfrm>
          <a:prstGeom prst="rect">
            <a:avLst/>
          </a:prstGeom>
          <a:solidFill>
            <a:schemeClr val="accent2"/>
          </a:solidFill>
        </p:spPr>
        <p:txBody>
          <a:bodyPr wrap="square" rtlCol="0">
            <a:spAutoFit/>
          </a:bodyPr>
          <a:lstStyle/>
          <a:p>
            <a:pPr algn="ctr"/>
            <a:r>
              <a:rPr lang="en-IN" sz="2400" b="1" dirty="0">
                <a:solidFill>
                  <a:srgbClr val="FFFF00"/>
                </a:solidFill>
                <a:latin typeface="Times New Roman" panose="02020603050405020304" pitchFamily="18" charset="0"/>
                <a:cs typeface="Times New Roman" panose="02020603050405020304" pitchFamily="18" charset="0"/>
              </a:rPr>
              <a:t>Tool used: Stratification and Bar graph</a:t>
            </a:r>
          </a:p>
        </p:txBody>
      </p:sp>
    </p:spTree>
    <p:extLst>
      <p:ext uri="{BB962C8B-B14F-4D97-AF65-F5344CB8AC3E}">
        <p14:creationId xmlns:p14="http://schemas.microsoft.com/office/powerpoint/2010/main" val="370997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2"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heel(2)">
                                      <p:cBhvr>
                                        <p:cTn id="1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26173" y="45921"/>
            <a:ext cx="1061377" cy="1066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txBox="1">
            <a:spLocks/>
          </p:cNvSpPr>
          <p:nvPr/>
        </p:nvSpPr>
        <p:spPr>
          <a:xfrm>
            <a:off x="915141" y="690664"/>
            <a:ext cx="10111032" cy="506998"/>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a:noAutofit/>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fontAlgn="ctr"/>
            <a:r>
              <a:rPr lang="en-US" sz="2800" dirty="0">
                <a:solidFill>
                  <a:srgbClr val="002060"/>
                </a:solidFill>
                <a:latin typeface="Times New Roman" panose="02020603050405020304" pitchFamily="18" charset="0"/>
                <a:cs typeface="Times New Roman" panose="02020603050405020304" pitchFamily="18" charset="0"/>
              </a:rPr>
              <a:t>PROBLEM IDENTIFICATION BANK(A/B/C)</a:t>
            </a:r>
          </a:p>
        </p:txBody>
      </p:sp>
      <p:sp>
        <p:nvSpPr>
          <p:cNvPr id="5" name="TextBox 1"/>
          <p:cNvSpPr txBox="1">
            <a:spLocks noChangeArrowheads="1"/>
          </p:cNvSpPr>
          <p:nvPr/>
        </p:nvSpPr>
        <p:spPr bwMode="auto">
          <a:xfrm>
            <a:off x="3806736" y="240371"/>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1800" dirty="0">
                <a:solidFill>
                  <a:srgbClr val="FFFF00"/>
                </a:solidFill>
                <a:latin typeface="Times New Roman" panose="02020603050405020304" pitchFamily="18" charset="0"/>
                <a:cs typeface="Times New Roman" panose="02020603050405020304" pitchFamily="18" charset="0"/>
              </a:rPr>
              <a:t>Step 2 Selection of Problem</a:t>
            </a:r>
          </a:p>
        </p:txBody>
      </p:sp>
      <p:graphicFrame>
        <p:nvGraphicFramePr>
          <p:cNvPr id="6" name="Table 5"/>
          <p:cNvGraphicFramePr>
            <a:graphicFrameLocks noGrp="1"/>
          </p:cNvGraphicFramePr>
          <p:nvPr>
            <p:extLst>
              <p:ext uri="{D42A27DB-BD31-4B8C-83A1-F6EECF244321}">
                <p14:modId xmlns:p14="http://schemas.microsoft.com/office/powerpoint/2010/main" val="2818465501"/>
              </p:ext>
            </p:extLst>
          </p:nvPr>
        </p:nvGraphicFramePr>
        <p:xfrm>
          <a:off x="864515" y="1344127"/>
          <a:ext cx="10457634" cy="4780201"/>
        </p:xfrm>
        <a:graphic>
          <a:graphicData uri="http://schemas.openxmlformats.org/drawingml/2006/table">
            <a:tbl>
              <a:tblPr firstRow="1">
                <a:tableStyleId>{35758FB7-9AC5-4552-8A53-C91805E547FA}</a:tableStyleId>
              </a:tblPr>
              <a:tblGrid>
                <a:gridCol w="603920">
                  <a:extLst>
                    <a:ext uri="{9D8B030D-6E8A-4147-A177-3AD203B41FA5}">
                      <a16:colId xmlns:a16="http://schemas.microsoft.com/office/drawing/2014/main" val="20000"/>
                    </a:ext>
                  </a:extLst>
                </a:gridCol>
                <a:gridCol w="3076378">
                  <a:extLst>
                    <a:ext uri="{9D8B030D-6E8A-4147-A177-3AD203B41FA5}">
                      <a16:colId xmlns:a16="http://schemas.microsoft.com/office/drawing/2014/main" val="20001"/>
                    </a:ext>
                  </a:extLst>
                </a:gridCol>
                <a:gridCol w="516173">
                  <a:extLst>
                    <a:ext uri="{9D8B030D-6E8A-4147-A177-3AD203B41FA5}">
                      <a16:colId xmlns:a16="http://schemas.microsoft.com/office/drawing/2014/main" val="20002"/>
                    </a:ext>
                  </a:extLst>
                </a:gridCol>
                <a:gridCol w="516173">
                  <a:extLst>
                    <a:ext uri="{9D8B030D-6E8A-4147-A177-3AD203B41FA5}">
                      <a16:colId xmlns:a16="http://schemas.microsoft.com/office/drawing/2014/main" val="20003"/>
                    </a:ext>
                  </a:extLst>
                </a:gridCol>
                <a:gridCol w="516173">
                  <a:extLst>
                    <a:ext uri="{9D8B030D-6E8A-4147-A177-3AD203B41FA5}">
                      <a16:colId xmlns:a16="http://schemas.microsoft.com/office/drawing/2014/main" val="20004"/>
                    </a:ext>
                  </a:extLst>
                </a:gridCol>
                <a:gridCol w="603920">
                  <a:extLst>
                    <a:ext uri="{9D8B030D-6E8A-4147-A177-3AD203B41FA5}">
                      <a16:colId xmlns:a16="http://schemas.microsoft.com/office/drawing/2014/main" val="20005"/>
                    </a:ext>
                  </a:extLst>
                </a:gridCol>
                <a:gridCol w="3076378">
                  <a:extLst>
                    <a:ext uri="{9D8B030D-6E8A-4147-A177-3AD203B41FA5}">
                      <a16:colId xmlns:a16="http://schemas.microsoft.com/office/drawing/2014/main" val="20006"/>
                    </a:ext>
                  </a:extLst>
                </a:gridCol>
                <a:gridCol w="516173">
                  <a:extLst>
                    <a:ext uri="{9D8B030D-6E8A-4147-A177-3AD203B41FA5}">
                      <a16:colId xmlns:a16="http://schemas.microsoft.com/office/drawing/2014/main" val="20007"/>
                    </a:ext>
                  </a:extLst>
                </a:gridCol>
                <a:gridCol w="516173">
                  <a:extLst>
                    <a:ext uri="{9D8B030D-6E8A-4147-A177-3AD203B41FA5}">
                      <a16:colId xmlns:a16="http://schemas.microsoft.com/office/drawing/2014/main" val="20008"/>
                    </a:ext>
                  </a:extLst>
                </a:gridCol>
                <a:gridCol w="516173">
                  <a:extLst>
                    <a:ext uri="{9D8B030D-6E8A-4147-A177-3AD203B41FA5}">
                      <a16:colId xmlns:a16="http://schemas.microsoft.com/office/drawing/2014/main" val="20009"/>
                    </a:ext>
                  </a:extLst>
                </a:gridCol>
              </a:tblGrid>
              <a:tr h="428469">
                <a:tc>
                  <a:txBody>
                    <a:bodyPr/>
                    <a:lstStyle/>
                    <a:p>
                      <a:pPr algn="ctr" rtl="0" fontAlgn="ctr"/>
                      <a:r>
                        <a:rPr lang="en-US" sz="105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Sl. No.</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56000"/>
                      </a:blip>
                      <a:srcRect/>
                      <a:tile tx="0" ty="0" sx="100000" sy="100000" flip="none" algn="tl"/>
                    </a:blipFill>
                  </a:tcPr>
                </a:tc>
                <a:tc>
                  <a:txBody>
                    <a:bodyPr/>
                    <a:lstStyle/>
                    <a:p>
                      <a:pPr algn="ctr" rtl="0" fontAlgn="ctr"/>
                      <a:r>
                        <a:rPr lang="en-US" sz="105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PROBLEM</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56000"/>
                      </a:blip>
                      <a:srcRect/>
                      <a:tile tx="0" ty="0" sx="100000" sy="100000" flip="none" algn="tl"/>
                    </a:blipFill>
                  </a:tcPr>
                </a:tc>
                <a:tc gridSpan="3">
                  <a:txBody>
                    <a:bodyPr/>
                    <a:lstStyle/>
                    <a:p>
                      <a:pPr algn="ctr" rtl="0" fontAlgn="ctr"/>
                      <a:r>
                        <a:rPr lang="en-US" sz="105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PRIORITY</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56000"/>
                      </a:blip>
                      <a:srcRect/>
                      <a:tile tx="0" ty="0" sx="100000" sy="100000" flip="none" algn="tl"/>
                    </a:blipFill>
                  </a:tcPr>
                </a:tc>
                <a:tc hMerge="1">
                  <a:txBody>
                    <a:bodyPr/>
                    <a:lstStyle/>
                    <a:p>
                      <a:endParaRPr lang="en-US"/>
                    </a:p>
                  </a:txBody>
                  <a:tcPr/>
                </a:tc>
                <a:tc hMerge="1">
                  <a:txBody>
                    <a:bodyPr/>
                    <a:lstStyle/>
                    <a:p>
                      <a:endParaRPr lang="en-US"/>
                    </a:p>
                  </a:txBody>
                  <a:tcPr/>
                </a:tc>
                <a:tc>
                  <a:txBody>
                    <a:bodyPr/>
                    <a:lstStyle/>
                    <a:p>
                      <a:pPr algn="ctr" rtl="0" fontAlgn="ctr"/>
                      <a:r>
                        <a:rPr lang="en-US" sz="105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Sl. No.</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56000"/>
                      </a:blip>
                      <a:srcRect/>
                      <a:tile tx="0" ty="0" sx="100000" sy="100000" flip="none" algn="tl"/>
                    </a:blipFill>
                  </a:tcPr>
                </a:tc>
                <a:tc>
                  <a:txBody>
                    <a:bodyPr/>
                    <a:lstStyle/>
                    <a:p>
                      <a:pPr algn="ctr" rtl="0" fontAlgn="ctr"/>
                      <a:r>
                        <a:rPr lang="en-US" sz="105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PROBLEM</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56000"/>
                      </a:blip>
                      <a:srcRect/>
                      <a:tile tx="0" ty="0" sx="100000" sy="100000" flip="none" algn="tl"/>
                    </a:blipFill>
                  </a:tcPr>
                </a:tc>
                <a:tc gridSpan="3">
                  <a:txBody>
                    <a:bodyPr/>
                    <a:lstStyle/>
                    <a:p>
                      <a:pPr algn="ctr" rtl="0" fontAlgn="ctr"/>
                      <a:r>
                        <a:rPr lang="en-US" sz="105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PRIORITY</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56000"/>
                      </a:blip>
                      <a:srcRect/>
                      <a:tile tx="0" ty="0" sx="100000" sy="100000" flip="none" algn="tl"/>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60450">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a:t>
                      </a: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l" rtl="0" fontAlgn="ctr"/>
                      <a:r>
                        <a:rPr lang="en-US" sz="1050" u="none" strike="noStrike" dirty="0">
                          <a:effectLst/>
                          <a:latin typeface="Times New Roman" panose="02020603050405020304" pitchFamily="18" charset="0"/>
                          <a:cs typeface="Times New Roman" panose="02020603050405020304" pitchFamily="18" charset="0"/>
                        </a:rPr>
                        <a:t>RSV Trip for</a:t>
                      </a:r>
                      <a:r>
                        <a:rPr lang="en-US" sz="1050" u="none" strike="noStrike" baseline="0" dirty="0">
                          <a:effectLst/>
                          <a:latin typeface="Times New Roman" panose="02020603050405020304" pitchFamily="18" charset="0"/>
                          <a:cs typeface="Times New Roman" panose="02020603050405020304" pitchFamily="18" charset="0"/>
                        </a:rPr>
                        <a:t> Liner</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16</a:t>
                      </a: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Loco Bucket indication problem</a:t>
                      </a:r>
                    </a:p>
                  </a:txBody>
                  <a:tcPr marL="7940" marR="7940" marT="7940"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lnT w="12700" cap="flat" cmpd="sng" algn="ctr">
                      <a:solidFill>
                        <a:schemeClr val="bg1"/>
                      </a:solidFill>
                      <a:prstDash val="solid"/>
                      <a:round/>
                      <a:headEnd type="none" w="med" len="med"/>
                      <a:tailEnd type="none" w="med" len="med"/>
                    </a:lnT>
                    <a:blipFill>
                      <a:blip r:embed="rId3"/>
                      <a:tile tx="0" ty="0" sx="100000" sy="100000" flip="none" algn="tl"/>
                    </a:blipFill>
                  </a:tcPr>
                </a:tc>
                <a:extLst>
                  <a:ext uri="{0D108BD9-81ED-4DB2-BD59-A6C34878D82A}">
                    <a16:rowId xmlns:a16="http://schemas.microsoft.com/office/drawing/2014/main" val="10001"/>
                  </a:ext>
                </a:extLst>
              </a:tr>
              <a:tr h="290214">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a:t>
                      </a:r>
                    </a:p>
                  </a:txBody>
                  <a:tcPr marL="7619" marR="7619" marT="7619" marB="0" anchor="ctr">
                    <a:blipFill>
                      <a:blip r:embed="rId3"/>
                      <a:tile tx="0" ty="0" sx="100000" sy="100000" flip="none" algn="tl"/>
                    </a:blipFill>
                  </a:tcPr>
                </a:tc>
                <a:tc>
                  <a:txBody>
                    <a:bodyPr/>
                    <a:lstStyle/>
                    <a:p>
                      <a:pPr algn="l" rtl="0" fontAlgn="ctr"/>
                      <a:r>
                        <a:rPr lang="en-US" sz="1050" u="none" strike="noStrike" dirty="0">
                          <a:effectLst/>
                          <a:latin typeface="Times New Roman" panose="02020603050405020304" pitchFamily="18" charset="0"/>
                          <a:cs typeface="Times New Roman" panose="02020603050405020304" pitchFamily="18" charset="0"/>
                        </a:rPr>
                        <a:t>Nitrogen Consumption High than Design</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17</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APS Indication problem</a:t>
                      </a: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2"/>
                  </a:ext>
                </a:extLst>
              </a:tr>
              <a:tr h="386955">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3</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GCF</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Tripping for Low IA</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18</a:t>
                      </a:r>
                    </a:p>
                  </a:txBody>
                  <a:tcPr marL="7619" marR="7619" marT="7619" marB="0" anchor="ctr">
                    <a:blipFill>
                      <a:blip r:embed="rId3"/>
                      <a:tile tx="0" ty="0" sx="100000" sy="100000" flip="none" algn="tl"/>
                    </a:blipFill>
                  </a:tcPr>
                </a:tc>
                <a:tc>
                  <a:txBody>
                    <a:bodyPr/>
                    <a:lstStyle/>
                    <a:p>
                      <a:pPr algn="l" rtl="0" fontAlgn="ctr"/>
                      <a:r>
                        <a:rPr lang="en-US" sz="1050" u="none" strike="noStrike" dirty="0">
                          <a:effectLst/>
                          <a:latin typeface="Times New Roman" panose="02020603050405020304" pitchFamily="18" charset="0"/>
                          <a:cs typeface="Times New Roman" panose="02020603050405020304" pitchFamily="18" charset="0"/>
                        </a:rPr>
                        <a:t>Crane</a:t>
                      </a:r>
                      <a:r>
                        <a:rPr lang="en-US" sz="1050" u="none" strike="noStrike" baseline="0" dirty="0">
                          <a:effectLst/>
                          <a:latin typeface="Times New Roman" panose="02020603050405020304" pitchFamily="18" charset="0"/>
                          <a:cs typeface="Times New Roman" panose="02020603050405020304" pitchFamily="18" charset="0"/>
                        </a:rPr>
                        <a:t> operation frequent stoppage for APS Signal issue</a:t>
                      </a:r>
                      <a:endParaRPr lang="en-US" sz="1050" u="none" strike="noStrike" dirty="0">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3"/>
                  </a:ext>
                </a:extLst>
              </a:tr>
              <a:tr h="386955">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4</a:t>
                      </a:r>
                    </a:p>
                  </a:txBody>
                  <a:tcPr marL="7619" marR="7619" marT="7619" marB="0" anchor="ctr">
                    <a:blipFill>
                      <a:blip r:embed="rId3"/>
                      <a:tile tx="0" ty="0" sx="100000" sy="100000" flip="none" algn="tl"/>
                    </a:blipFill>
                  </a:tcPr>
                </a:tc>
                <a:tc>
                  <a:txBody>
                    <a:bodyPr/>
                    <a:lstStyle/>
                    <a:p>
                      <a:pPr algn="l" rtl="0" fontAlgn="ctr"/>
                      <a:r>
                        <a:rPr lang="en-US" sz="1050" u="none" strike="noStrike" dirty="0">
                          <a:effectLst/>
                          <a:latin typeface="Times New Roman" panose="02020603050405020304" pitchFamily="18" charset="0"/>
                          <a:cs typeface="Times New Roman" panose="02020603050405020304" pitchFamily="18" charset="0"/>
                        </a:rPr>
                        <a:t>GDS</a:t>
                      </a:r>
                      <a:r>
                        <a:rPr lang="en-US" sz="1050" u="none" strike="noStrike" baseline="0" dirty="0">
                          <a:effectLst/>
                          <a:latin typeface="Times New Roman" panose="02020603050405020304" pitchFamily="18" charset="0"/>
                          <a:cs typeface="Times New Roman" panose="02020603050405020304" pitchFamily="18" charset="0"/>
                        </a:rPr>
                        <a:t> vibrator not working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19</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RSV Dust generation from</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Vibrofeeder</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4"/>
                  </a:ext>
                </a:extLst>
              </a:tr>
              <a:tr h="260450">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5</a:t>
                      </a:r>
                    </a:p>
                  </a:txBody>
                  <a:tcPr marL="7619" marR="7619" marT="7619" marB="0" anchor="ctr">
                    <a:blipFill>
                      <a:blip r:embed="rId3"/>
                      <a:tile tx="0" ty="0" sx="100000" sy="100000" flip="none" algn="tl"/>
                    </a:blipFill>
                  </a:tcPr>
                </a:tc>
                <a:tc>
                  <a:txBody>
                    <a:bodyPr/>
                    <a:lstStyle/>
                    <a:p>
                      <a:pPr algn="l" rtl="0" fontAlgn="ctr"/>
                      <a:r>
                        <a:rPr lang="en-US" sz="1050" u="none" strike="noStrike" dirty="0">
                          <a:effectLst/>
                          <a:latin typeface="Times New Roman" panose="02020603050405020304" pitchFamily="18" charset="0"/>
                          <a:cs typeface="Times New Roman" panose="02020603050405020304" pitchFamily="18" charset="0"/>
                        </a:rPr>
                        <a:t>GD</a:t>
                      </a:r>
                      <a:r>
                        <a:rPr lang="en-US" sz="1050" u="none" strike="noStrike" baseline="0" dirty="0">
                          <a:effectLst/>
                          <a:latin typeface="Times New Roman" panose="02020603050405020304" pitchFamily="18" charset="0"/>
                          <a:cs typeface="Times New Roman" panose="02020603050405020304" pitchFamily="18" charset="0"/>
                        </a:rPr>
                        <a:t>S hopper level sensor not working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20</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Water</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seal pump failure </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5"/>
                  </a:ext>
                </a:extLst>
              </a:tr>
              <a:tr h="260450">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6</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GCF</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Inlet Damper not working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21</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 Bucket Elevator tripping</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issue</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6"/>
                  </a:ext>
                </a:extLst>
              </a:tr>
              <a:tr h="260450">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7</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Chamber</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slide gate not working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C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22</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PDC SDC</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RAV jamming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7"/>
                  </a:ext>
                </a:extLst>
              </a:tr>
              <a:tr h="260450">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8</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PDC SDC level sensor not working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00" u="none" strike="noStrike" kern="1200" dirty="0">
                          <a:solidFill>
                            <a:schemeClr val="tx1"/>
                          </a:solidFill>
                          <a:effectLst/>
                          <a:latin typeface="Times New Roman" panose="02020603050405020304" pitchFamily="18" charset="0"/>
                          <a:ea typeface="+mn-ea"/>
                          <a:cs typeface="Times New Roman" panose="02020603050405020304" pitchFamily="18" charset="0"/>
                        </a:rPr>
                        <a:t>23</a:t>
                      </a:r>
                    </a:p>
                  </a:txBody>
                  <a:tcPr marL="7619" marR="7619" marT="7619" marB="0" anchor="ctr">
                    <a:blipFill>
                      <a:blip r:embed="rId3"/>
                      <a:tile tx="0" ty="0" sx="100000" sy="100000" flip="none" algn="tl"/>
                    </a:blipFill>
                  </a:tcPr>
                </a:tc>
                <a:tc>
                  <a:txBody>
                    <a:bodyPr/>
                    <a:lstStyle/>
                    <a:p>
                      <a:pPr algn="l" rtl="0" fontAlgn="ctr"/>
                      <a:r>
                        <a:rPr lang="en-US" sz="1100" b="0" i="0" u="none" strike="noStrike" baseline="0" dirty="0">
                          <a:solidFill>
                            <a:schemeClr val="tx1"/>
                          </a:solidFill>
                          <a:effectLst/>
                          <a:latin typeface="Times New Roman" panose="02020603050405020304" pitchFamily="18" charset="0"/>
                          <a:cs typeface="Times New Roman" panose="02020603050405020304" pitchFamily="18" charset="0"/>
                        </a:rPr>
                        <a:t>PDC Cooling pipe leakage</a:t>
                      </a:r>
                      <a:endParaRPr lang="en-US" sz="10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C</a:t>
                      </a:r>
                    </a:p>
                  </a:txBody>
                  <a:tcPr marL="7619" marR="7619" marT="7619" marB="0" anchor="ctr">
                    <a:blipFill>
                      <a:blip r:embed="rId3"/>
                      <a:tile tx="0" ty="0" sx="100000" sy="100000" flip="none" algn="tl"/>
                    </a:blipFill>
                  </a:tcPr>
                </a:tc>
                <a:extLst>
                  <a:ext uri="{0D108BD9-81ED-4DB2-BD59-A6C34878D82A}">
                    <a16:rowId xmlns:a16="http://schemas.microsoft.com/office/drawing/2014/main" val="10008"/>
                  </a:ext>
                </a:extLst>
              </a:tr>
              <a:tr h="260450">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9</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Charging Hopper Alignment</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issue in Chamber</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24</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Radar</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sensor Malfunctioning</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09"/>
                  </a:ext>
                </a:extLst>
              </a:tr>
              <a:tr h="327118">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10</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Frequent conveyor stop resulting</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loss of Production</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25</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GDS Bag</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filter damaged</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10"/>
                  </a:ext>
                </a:extLst>
              </a:tr>
              <a:tr h="272574">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11</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tx1"/>
                          </a:solidFill>
                          <a:effectLst/>
                          <a:latin typeface="Times New Roman" panose="02020603050405020304" pitchFamily="18" charset="0"/>
                          <a:cs typeface="Times New Roman" panose="02020603050405020304" pitchFamily="18" charset="0"/>
                        </a:rPr>
                        <a:t>Frequent</a:t>
                      </a:r>
                      <a:r>
                        <a:rPr lang="en-US" sz="1050" b="0" i="0" u="none" strike="noStrike" baseline="0" dirty="0">
                          <a:solidFill>
                            <a:schemeClr val="tx1"/>
                          </a:solidFill>
                          <a:effectLst/>
                          <a:latin typeface="Times New Roman" panose="02020603050405020304" pitchFamily="18" charset="0"/>
                          <a:cs typeface="Times New Roman" panose="02020603050405020304" pitchFamily="18" charset="0"/>
                        </a:rPr>
                        <a:t> </a:t>
                      </a:r>
                      <a:r>
                        <a:rPr lang="en-US" sz="1050" b="0" i="0" u="none" strike="noStrike" dirty="0">
                          <a:solidFill>
                            <a:schemeClr val="tx1"/>
                          </a:solidFill>
                          <a:effectLst/>
                          <a:latin typeface="Times New Roman" panose="02020603050405020304" pitchFamily="18" charset="0"/>
                          <a:cs typeface="Times New Roman" panose="02020603050405020304" pitchFamily="18" charset="0"/>
                        </a:rPr>
                        <a:t>Bucke</a:t>
                      </a:r>
                      <a:r>
                        <a:rPr lang="en-US" sz="1050" b="0" i="0" u="none" strike="noStrike" baseline="0" dirty="0">
                          <a:solidFill>
                            <a:schemeClr val="tx1"/>
                          </a:solidFill>
                          <a:effectLst/>
                          <a:latin typeface="Times New Roman" panose="02020603050405020304" pitchFamily="18" charset="0"/>
                          <a:cs typeface="Times New Roman" panose="02020603050405020304" pitchFamily="18" charset="0"/>
                        </a:rPr>
                        <a:t>t Liner damage</a:t>
                      </a:r>
                      <a:endParaRPr lang="en-US" sz="105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26</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 GDS Discharge</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cylinder Issue</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11"/>
                  </a:ext>
                </a:extLst>
              </a:tr>
              <a:tr h="363403">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12</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Bucket Swapping takes time for unavailability of</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Carriage</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C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27</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chemeClr val="dk1"/>
                          </a:solidFill>
                          <a:effectLst/>
                          <a:latin typeface="Times New Roman" panose="02020603050405020304" pitchFamily="18" charset="0"/>
                          <a:cs typeface="Times New Roman" panose="02020603050405020304" pitchFamily="18" charset="0"/>
                        </a:rPr>
                        <a:t> Flow Chain</a:t>
                      </a:r>
                      <a:r>
                        <a:rPr lang="en-US" sz="1050" b="0" i="0" u="none" strike="noStrike" baseline="0" dirty="0">
                          <a:solidFill>
                            <a:schemeClr val="dk1"/>
                          </a:solidFill>
                          <a:effectLst/>
                          <a:latin typeface="Times New Roman" panose="02020603050405020304" pitchFamily="18" charset="0"/>
                          <a:cs typeface="Times New Roman" panose="02020603050405020304" pitchFamily="18" charset="0"/>
                        </a:rPr>
                        <a:t> conveyor trip issue for sensor failure</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12"/>
                  </a:ext>
                </a:extLst>
              </a:tr>
              <a:tr h="254528">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13</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Coke Conveyor</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Spillage </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28</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Seal pot jamming</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issue with Dust</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13"/>
                  </a:ext>
                </a:extLst>
              </a:tr>
              <a:tr h="321184">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14</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Frequent</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jamming of GDS Hopper</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29</a:t>
                      </a:r>
                    </a:p>
                  </a:txBody>
                  <a:tcPr marL="7619" marR="7619" marT="7619" marB="0" anchor="ctr">
                    <a:blipFill>
                      <a:blip r:embed="rId3"/>
                      <a:tile tx="0" ty="0" sx="100000" sy="100000" flip="none" algn="tl"/>
                    </a:blipFill>
                  </a:tcPr>
                </a:tc>
                <a:tc>
                  <a:txBody>
                    <a:bodyPr/>
                    <a:lstStyle/>
                    <a:p>
                      <a:pPr algn="l" rtl="0"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Visibility</a:t>
                      </a:r>
                      <a:r>
                        <a:rPr lang="en-US" sz="1000" b="0" i="0" u="none" strike="noStrike" baseline="0" dirty="0">
                          <a:solidFill>
                            <a:srgbClr val="000000"/>
                          </a:solidFill>
                          <a:effectLst/>
                          <a:latin typeface="Times New Roman" panose="02020603050405020304" pitchFamily="18" charset="0"/>
                          <a:cs typeface="Times New Roman" panose="02020603050405020304" pitchFamily="18" charset="0"/>
                        </a:rPr>
                        <a:t> issue of Operator from Cabin</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B</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14"/>
                  </a:ext>
                </a:extLst>
              </a:tr>
              <a:tr h="186101">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15</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Frequent</a:t>
                      </a:r>
                      <a:r>
                        <a:rPr lang="en-US" sz="1050" b="0" i="0" u="none" strike="noStrike" baseline="0" dirty="0">
                          <a:solidFill>
                            <a:srgbClr val="000000"/>
                          </a:solidFill>
                          <a:effectLst/>
                          <a:latin typeface="Times New Roman" panose="02020603050405020304" pitchFamily="18" charset="0"/>
                          <a:cs typeface="Times New Roman" panose="02020603050405020304" pitchFamily="18" charset="0"/>
                        </a:rPr>
                        <a:t> jamming of Pug mill </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30</a:t>
                      </a:r>
                    </a:p>
                  </a:txBody>
                  <a:tcPr marL="7619" marR="7619" marT="7619" marB="0" anchor="ctr">
                    <a:blipFill>
                      <a:blip r:embed="rId3"/>
                      <a:tile tx="0" ty="0" sx="100000" sy="100000" flip="none" algn="tl"/>
                    </a:blipFill>
                  </a:tcPr>
                </a:tc>
                <a:tc>
                  <a:txBody>
                    <a:bodyPr/>
                    <a:lstStyle/>
                    <a:p>
                      <a:pPr algn="l" rtl="0"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Charging crane drive fault</a:t>
                      </a:r>
                    </a:p>
                  </a:txBody>
                  <a:tcPr marL="7940" marR="7940" marT="7940" marB="0" anchor="ctr">
                    <a:blipFill>
                      <a:blip r:embed="rId3"/>
                      <a:tile tx="0" ty="0" sx="100000" sy="100000" flip="none" algn="tl"/>
                    </a:blipFill>
                  </a:tcPr>
                </a:tc>
                <a:tc>
                  <a:txBody>
                    <a:bodyPr/>
                    <a:lstStyle/>
                    <a:p>
                      <a:pPr algn="ctr" rtl="0" fontAlgn="ctr"/>
                      <a:r>
                        <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rPr>
                        <a:t>A</a:t>
                      </a: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tc>
                  <a:txBody>
                    <a:bodyPr/>
                    <a:lstStyle/>
                    <a:p>
                      <a:pPr algn="ctr" rtl="0" fontAlgn="ctr"/>
                      <a:endParaRPr lang="en-US" sz="105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19" marR="7619" marT="7619" marB="0" anchor="ctr">
                    <a:blipFill>
                      <a:blip r:embed="rId3"/>
                      <a:tile tx="0" ty="0" sx="100000" sy="100000" flip="none" algn="tl"/>
                    </a:blipFill>
                  </a:tcPr>
                </a:tc>
                <a:extLst>
                  <a:ext uri="{0D108BD9-81ED-4DB2-BD59-A6C34878D82A}">
                    <a16:rowId xmlns:a16="http://schemas.microsoft.com/office/drawing/2014/main" val="10015"/>
                  </a:ext>
                </a:extLst>
              </a:tr>
            </a:tbl>
          </a:graphicData>
        </a:graphic>
      </p:graphicFrame>
      <p:sp>
        <p:nvSpPr>
          <p:cNvPr id="7" name="TextBox 6"/>
          <p:cNvSpPr txBox="1"/>
          <p:nvPr/>
        </p:nvSpPr>
        <p:spPr>
          <a:xfrm>
            <a:off x="5591175" y="6655898"/>
            <a:ext cx="338554"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12</a:t>
            </a:r>
          </a:p>
        </p:txBody>
      </p:sp>
      <p:sp>
        <p:nvSpPr>
          <p:cNvPr id="8" name="Rectangle 7"/>
          <p:cNvSpPr/>
          <p:nvPr/>
        </p:nvSpPr>
        <p:spPr>
          <a:xfrm>
            <a:off x="0" y="6488668"/>
            <a:ext cx="2155398"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9" name="Slide Number Placeholder 3"/>
          <p:cNvSpPr>
            <a:spLocks noGrp="1"/>
          </p:cNvSpPr>
          <p:nvPr>
            <p:ph type="sldNum" sz="quarter" idx="12"/>
          </p:nvPr>
        </p:nvSpPr>
        <p:spPr>
          <a:xfrm>
            <a:off x="8610600" y="6356350"/>
            <a:ext cx="2743200" cy="365125"/>
          </a:xfrm>
        </p:spPr>
        <p:txBody>
          <a:bodyPr/>
          <a:lstStyle/>
          <a:p>
            <a:fld id="{512EAFE9-BCEF-42D3-8A25-05251F72DB13}"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5212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25996" y="152369"/>
            <a:ext cx="961058" cy="96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txBox="1">
            <a:spLocks/>
          </p:cNvSpPr>
          <p:nvPr/>
        </p:nvSpPr>
        <p:spPr>
          <a:xfrm>
            <a:off x="978146" y="976424"/>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a:normAutofit fontScale="97500"/>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fontAlgn="ctr"/>
            <a:r>
              <a:rPr lang="en-US" sz="2800" dirty="0">
                <a:solidFill>
                  <a:srgbClr val="002060"/>
                </a:solidFill>
                <a:latin typeface="Times New Roman" panose="02020603050405020304" pitchFamily="18" charset="0"/>
                <a:cs typeface="Times New Roman" panose="02020603050405020304" pitchFamily="18" charset="0"/>
              </a:rPr>
              <a:t>PROBLEM IDENTIFICATION BANK(A/B/C)</a:t>
            </a:r>
          </a:p>
        </p:txBody>
      </p:sp>
      <p:sp>
        <p:nvSpPr>
          <p:cNvPr id="5" name="TextBox 1"/>
          <p:cNvSpPr txBox="1">
            <a:spLocks noChangeArrowheads="1"/>
          </p:cNvSpPr>
          <p:nvPr/>
        </p:nvSpPr>
        <p:spPr bwMode="auto">
          <a:xfrm>
            <a:off x="3951375" y="465754"/>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graphicFrame>
        <p:nvGraphicFramePr>
          <p:cNvPr id="6" name="Table 5"/>
          <p:cNvGraphicFramePr>
            <a:graphicFrameLocks noGrp="1"/>
          </p:cNvGraphicFramePr>
          <p:nvPr>
            <p:extLst>
              <p:ext uri="{D42A27DB-BD31-4B8C-83A1-F6EECF244321}">
                <p14:modId xmlns:p14="http://schemas.microsoft.com/office/powerpoint/2010/main" val="2359355789"/>
              </p:ext>
            </p:extLst>
          </p:nvPr>
        </p:nvGraphicFramePr>
        <p:xfrm>
          <a:off x="978146" y="1748028"/>
          <a:ext cx="6187425" cy="4415996"/>
        </p:xfrm>
        <a:graphic>
          <a:graphicData uri="http://schemas.openxmlformats.org/drawingml/2006/table">
            <a:tbl>
              <a:tblPr firstRow="1">
                <a:tableStyleId>{35758FB7-9AC5-4552-8A53-C91805E547FA}</a:tableStyleId>
              </a:tblPr>
              <a:tblGrid>
                <a:gridCol w="601411">
                  <a:extLst>
                    <a:ext uri="{9D8B030D-6E8A-4147-A177-3AD203B41FA5}">
                      <a16:colId xmlns:a16="http://schemas.microsoft.com/office/drawing/2014/main" val="20000"/>
                    </a:ext>
                  </a:extLst>
                </a:gridCol>
                <a:gridCol w="3063593">
                  <a:extLst>
                    <a:ext uri="{9D8B030D-6E8A-4147-A177-3AD203B41FA5}">
                      <a16:colId xmlns:a16="http://schemas.microsoft.com/office/drawing/2014/main" val="20001"/>
                    </a:ext>
                  </a:extLst>
                </a:gridCol>
                <a:gridCol w="818278">
                  <a:extLst>
                    <a:ext uri="{9D8B030D-6E8A-4147-A177-3AD203B41FA5}">
                      <a16:colId xmlns:a16="http://schemas.microsoft.com/office/drawing/2014/main" val="20002"/>
                    </a:ext>
                  </a:extLst>
                </a:gridCol>
                <a:gridCol w="797100">
                  <a:extLst>
                    <a:ext uri="{9D8B030D-6E8A-4147-A177-3AD203B41FA5}">
                      <a16:colId xmlns:a16="http://schemas.microsoft.com/office/drawing/2014/main" val="20003"/>
                    </a:ext>
                  </a:extLst>
                </a:gridCol>
                <a:gridCol w="907043">
                  <a:extLst>
                    <a:ext uri="{9D8B030D-6E8A-4147-A177-3AD203B41FA5}">
                      <a16:colId xmlns:a16="http://schemas.microsoft.com/office/drawing/2014/main" val="20004"/>
                    </a:ext>
                  </a:extLst>
                </a:gridCol>
              </a:tblGrid>
              <a:tr h="445635">
                <a:tc>
                  <a:txBody>
                    <a:bodyPr/>
                    <a:lstStyle/>
                    <a:p>
                      <a:pPr algn="ctr" rtl="0" fontAlgn="ctr"/>
                      <a:r>
                        <a:rPr lang="en-US" sz="120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Sl. No.</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47000"/>
                      </a:blip>
                      <a:srcRect/>
                      <a:tile tx="0" ty="0" sx="100000" sy="100000" flip="none" algn="tl"/>
                    </a:blipFill>
                  </a:tcPr>
                </a:tc>
                <a:tc>
                  <a:txBody>
                    <a:bodyPr/>
                    <a:lstStyle/>
                    <a:p>
                      <a:pPr algn="ctr" rtl="0" fontAlgn="ctr"/>
                      <a:r>
                        <a:rPr lang="en-US" sz="120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PROBLEM</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47000"/>
                      </a:blip>
                      <a:srcRect/>
                      <a:tile tx="0" ty="0" sx="100000" sy="100000" flip="none" algn="tl"/>
                    </a:blipFill>
                  </a:tcPr>
                </a:tc>
                <a:tc gridSpan="3">
                  <a:txBody>
                    <a:bodyPr/>
                    <a:lstStyle/>
                    <a:p>
                      <a:pPr algn="ctr" rtl="0" fontAlgn="ctr"/>
                      <a:r>
                        <a:rPr lang="en-US" sz="120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rPr>
                        <a:t>PRIORITY</a:t>
                      </a:r>
                    </a:p>
                  </a:txBody>
                  <a:tcPr marL="7619" marR="7619" marT="7619"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dpi="0" rotWithShape="1">
                      <a:blip r:embed="rId3">
                        <a:alphaModFix amt="47000"/>
                      </a:blip>
                      <a:srcRect/>
                      <a:tile tx="0" ty="0" sx="100000" sy="100000" flip="none" algn="tl"/>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48208">
                <a:tc>
                  <a:txBody>
                    <a:bodyPr/>
                    <a:lstStyle/>
                    <a:p>
                      <a:pPr algn="ctr" rtl="0" fontAlgn="ctr"/>
                      <a:r>
                        <a:rPr lang="en-US" sz="1200" b="0" i="0" u="none" strike="noStrike" dirty="0">
                          <a:solidFill>
                            <a:srgbClr val="000000"/>
                          </a:solidFill>
                          <a:effectLst/>
                          <a:latin typeface="+mn-lt"/>
                        </a:rPr>
                        <a:t>31</a:t>
                      </a:r>
                    </a:p>
                  </a:txBody>
                  <a:tcPr marL="9525" marR="9525" marT="9525" marB="0" anchor="ctr">
                    <a:lnT w="12700" cap="flat" cmpd="sng" algn="ctr">
                      <a:solidFill>
                        <a:schemeClr val="bg1"/>
                      </a:solidFill>
                      <a:prstDash val="solid"/>
                      <a:round/>
                      <a:headEnd type="none" w="med" len="med"/>
                      <a:tailEnd type="none" w="med" len="med"/>
                    </a:lnT>
                    <a:blipFill dpi="0" rotWithShape="1">
                      <a:blip r:embed="rId3"/>
                      <a:srcRect/>
                      <a:tile tx="0" ty="0" sx="100000" sy="100000" flip="none" algn="tl"/>
                    </a:blipFill>
                  </a:tcPr>
                </a:tc>
                <a:tc>
                  <a:txBody>
                    <a:bodyPr/>
                    <a:lstStyle/>
                    <a:p>
                      <a:pPr algn="l" rtl="0" fontAlgn="ctr"/>
                      <a:r>
                        <a:rPr lang="en-US" sz="1150" b="0" i="0" u="none" strike="noStrike" dirty="0">
                          <a:solidFill>
                            <a:srgbClr val="000000"/>
                          </a:solidFill>
                          <a:effectLst/>
                          <a:latin typeface="+mn-lt"/>
                        </a:rPr>
                        <a:t>Gas</a:t>
                      </a:r>
                      <a:r>
                        <a:rPr lang="en-US" sz="1150" b="0" i="0" u="none" strike="noStrike" baseline="0" dirty="0">
                          <a:solidFill>
                            <a:srgbClr val="000000"/>
                          </a:solidFill>
                          <a:effectLst/>
                          <a:latin typeface="+mn-lt"/>
                        </a:rPr>
                        <a:t> Circulation Fan Drive Fault</a:t>
                      </a:r>
                      <a:endParaRPr lang="en-US" sz="1150" b="0" i="0" u="none" strike="noStrike" dirty="0">
                        <a:solidFill>
                          <a:srgbClr val="000000"/>
                        </a:solidFill>
                        <a:effectLst/>
                        <a:latin typeface="+mn-lt"/>
                      </a:endParaRPr>
                    </a:p>
                  </a:txBody>
                  <a:tcPr marL="7940" marR="7940" marT="7940" marB="0" anchor="ctr">
                    <a:lnT w="12700" cap="flat" cmpd="sng" algn="ctr">
                      <a:solidFill>
                        <a:schemeClr val="bg1"/>
                      </a:solidFill>
                      <a:prstDash val="solid"/>
                      <a:round/>
                      <a:headEnd type="none" w="med" len="med"/>
                      <a:tailEnd type="none" w="med" len="med"/>
                    </a:lnT>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A</a:t>
                      </a:r>
                    </a:p>
                  </a:txBody>
                  <a:tcPr marL="9525" marR="9525" marT="9525" marB="0" anchor="ctr">
                    <a:lnT w="12700" cap="flat" cmpd="sng" algn="ctr">
                      <a:solidFill>
                        <a:schemeClr val="bg1"/>
                      </a:solidFill>
                      <a:prstDash val="solid"/>
                      <a:round/>
                      <a:headEnd type="none" w="med" len="med"/>
                      <a:tailEnd type="none" w="med" len="med"/>
                    </a:lnT>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lnT w="12700" cap="flat" cmpd="sng" algn="ctr">
                      <a:solidFill>
                        <a:schemeClr val="bg1"/>
                      </a:solidFill>
                      <a:prstDash val="solid"/>
                      <a:round/>
                      <a:headEnd type="none" w="med" len="med"/>
                      <a:tailEnd type="none" w="med" len="med"/>
                    </a:lnT>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lnT w="12700" cap="flat" cmpd="sng" algn="ctr">
                      <a:solidFill>
                        <a:schemeClr val="bg1"/>
                      </a:solidFill>
                      <a:prstDash val="solid"/>
                      <a:round/>
                      <a:headEnd type="none" w="med" len="med"/>
                      <a:tailEnd type="none" w="med" len="med"/>
                    </a:lnT>
                    <a:blipFill dpi="0" rotWithShape="1">
                      <a:blip r:embed="rId3"/>
                      <a:srcRect/>
                      <a:tile tx="0" ty="0" sx="100000" sy="100000" flip="none" algn="tl"/>
                    </a:blipFill>
                  </a:tcPr>
                </a:tc>
                <a:extLst>
                  <a:ext uri="{0D108BD9-81ED-4DB2-BD59-A6C34878D82A}">
                    <a16:rowId xmlns:a16="http://schemas.microsoft.com/office/drawing/2014/main" val="10001"/>
                  </a:ext>
                </a:extLst>
              </a:tr>
              <a:tr h="277117">
                <a:tc>
                  <a:txBody>
                    <a:bodyPr/>
                    <a:lstStyle/>
                    <a:p>
                      <a:pPr algn="ctr" rtl="0" fontAlgn="ctr"/>
                      <a:r>
                        <a:rPr lang="en-US" sz="1200" b="0" i="0" u="none" strike="noStrike" dirty="0">
                          <a:solidFill>
                            <a:srgbClr val="000000"/>
                          </a:solidFill>
                          <a:effectLst/>
                          <a:latin typeface="+mn-lt"/>
                        </a:rPr>
                        <a:t>32</a:t>
                      </a:r>
                    </a:p>
                  </a:txBody>
                  <a:tcPr marL="9525" marR="9525" marT="9525" marB="0" anchor="ctr">
                    <a:blipFill dpi="0" rotWithShape="1">
                      <a:blip r:embed="rId3"/>
                      <a:srcRect/>
                      <a:tile tx="0" ty="0" sx="100000" sy="100000" flip="none" algn="tl"/>
                    </a:blipFill>
                  </a:tcPr>
                </a:tc>
                <a:tc>
                  <a:txBody>
                    <a:bodyPr/>
                    <a:lstStyle/>
                    <a:p>
                      <a:pPr algn="l" rtl="0" fontAlgn="ctr"/>
                      <a:r>
                        <a:rPr lang="en-US" sz="1150" b="0" i="0" u="none" strike="noStrike" dirty="0">
                          <a:solidFill>
                            <a:srgbClr val="000000"/>
                          </a:solidFill>
                          <a:effectLst/>
                          <a:latin typeface="+mn-lt"/>
                        </a:rPr>
                        <a:t>I</a:t>
                      </a:r>
                      <a:r>
                        <a:rPr lang="en-US" sz="1150" b="0" i="0" u="none" strike="noStrike" baseline="0" dirty="0">
                          <a:solidFill>
                            <a:srgbClr val="000000"/>
                          </a:solidFill>
                          <a:effectLst/>
                          <a:latin typeface="+mn-lt"/>
                        </a:rPr>
                        <a:t>D fan drive Fault</a:t>
                      </a: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A</a:t>
                      </a: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2"/>
                  </a:ext>
                </a:extLst>
              </a:tr>
              <a:tr h="368764">
                <a:tc>
                  <a:txBody>
                    <a:bodyPr/>
                    <a:lstStyle/>
                    <a:p>
                      <a:pPr algn="ctr" rtl="0" fontAlgn="ctr"/>
                      <a:r>
                        <a:rPr lang="en-US" sz="1200" b="0" i="0" u="none" strike="noStrike" dirty="0">
                          <a:solidFill>
                            <a:srgbClr val="000000"/>
                          </a:solidFill>
                          <a:effectLst/>
                          <a:latin typeface="+mn-lt"/>
                        </a:rPr>
                        <a:t>33</a:t>
                      </a:r>
                    </a:p>
                  </a:txBody>
                  <a:tcPr marL="9525" marR="9525" marT="9525" marB="0" anchor="ctr">
                    <a:blipFill dpi="0" rotWithShape="1">
                      <a:blip r:embed="rId3"/>
                      <a:srcRect/>
                      <a:tile tx="0" ty="0" sx="100000" sy="100000" flip="none" algn="tl"/>
                    </a:blipFill>
                  </a:tcPr>
                </a:tc>
                <a:tc>
                  <a:txBody>
                    <a:bodyPr/>
                    <a:lstStyle/>
                    <a:p>
                      <a:pPr algn="l" rtl="0" fontAlgn="ctr"/>
                      <a:r>
                        <a:rPr lang="en-US" sz="1150" b="0" i="0" u="sng" strike="noStrike" dirty="0">
                          <a:solidFill>
                            <a:srgbClr val="000000"/>
                          </a:solidFill>
                          <a:effectLst/>
                          <a:latin typeface="+mn-lt"/>
                        </a:rPr>
                        <a:t>Gas</a:t>
                      </a:r>
                      <a:r>
                        <a:rPr lang="en-US" sz="1150" b="0" i="0" u="sng" strike="noStrike" baseline="0" dirty="0">
                          <a:solidFill>
                            <a:srgbClr val="000000"/>
                          </a:solidFill>
                          <a:effectLst/>
                          <a:latin typeface="+mn-lt"/>
                        </a:rPr>
                        <a:t> Analyzer problem</a:t>
                      </a:r>
                      <a:endParaRPr lang="en-US" sz="1150" b="0" i="0" u="sng"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B</a:t>
                      </a: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3"/>
                  </a:ext>
                </a:extLst>
              </a:tr>
              <a:tr h="372111">
                <a:tc>
                  <a:txBody>
                    <a:bodyPr/>
                    <a:lstStyle/>
                    <a:p>
                      <a:pPr algn="ctr" rtl="0" fontAlgn="ctr"/>
                      <a:r>
                        <a:rPr lang="en-US" sz="1200" b="0" i="0" u="none" strike="noStrike" dirty="0">
                          <a:solidFill>
                            <a:srgbClr val="000000"/>
                          </a:solidFill>
                          <a:effectLst/>
                          <a:latin typeface="+mn-lt"/>
                        </a:rPr>
                        <a:t>34</a:t>
                      </a:r>
                    </a:p>
                  </a:txBody>
                  <a:tcPr marL="9525" marR="9525" marT="9525" marB="0" anchor="ctr">
                    <a:blipFill dpi="0" rotWithShape="1">
                      <a:blip r:embed="rId3"/>
                      <a:srcRect/>
                      <a:tile tx="0" ty="0" sx="100000" sy="100000" flip="none" algn="tl"/>
                    </a:blipFill>
                  </a:tcPr>
                </a:tc>
                <a:tc>
                  <a:txBody>
                    <a:bodyPr/>
                    <a:lstStyle/>
                    <a:p>
                      <a:pPr algn="l" rtl="0" fontAlgn="ctr"/>
                      <a:r>
                        <a:rPr lang="en-US" sz="1150" u="none" strike="noStrike" dirty="0">
                          <a:effectLst/>
                          <a:latin typeface="+mn-lt"/>
                        </a:rPr>
                        <a:t>Frequently steam line leakages and steam trap failure </a:t>
                      </a: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B</a:t>
                      </a: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4"/>
                  </a:ext>
                </a:extLst>
              </a:tr>
              <a:tr h="248208">
                <a:tc>
                  <a:txBody>
                    <a:bodyPr/>
                    <a:lstStyle/>
                    <a:p>
                      <a:pPr algn="ctr" rtl="0" fontAlgn="ctr"/>
                      <a:r>
                        <a:rPr lang="en-US" sz="1200" b="0" i="0" u="none" strike="noStrike" dirty="0">
                          <a:solidFill>
                            <a:srgbClr val="000000"/>
                          </a:solidFill>
                          <a:effectLst/>
                          <a:latin typeface="+mn-lt"/>
                        </a:rPr>
                        <a:t>35</a:t>
                      </a:r>
                    </a:p>
                  </a:txBody>
                  <a:tcPr marL="9525" marR="9525" marT="9525" marB="0" anchor="ctr">
                    <a:blipFill dpi="0" rotWithShape="1">
                      <a:blip r:embed="rId3"/>
                      <a:srcRect/>
                      <a:tile tx="0" ty="0" sx="100000" sy="100000" flip="none" algn="tl"/>
                    </a:blipFill>
                  </a:tcPr>
                </a:tc>
                <a:tc>
                  <a:txBody>
                    <a:bodyPr/>
                    <a:lstStyle/>
                    <a:p>
                      <a:pPr algn="l" rtl="0" fontAlgn="ctr"/>
                      <a:r>
                        <a:rPr lang="en-US" sz="1150" b="0" i="0" u="none" strike="noStrike" dirty="0">
                          <a:solidFill>
                            <a:srgbClr val="000000"/>
                          </a:solidFill>
                          <a:effectLst/>
                          <a:latin typeface="+mn-lt"/>
                        </a:rPr>
                        <a:t>Bucket Rotation Problem.</a:t>
                      </a:r>
                    </a:p>
                  </a:txBody>
                  <a:tcPr marL="7940" marR="7940" marT="7940"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A</a:t>
                      </a: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5"/>
                  </a:ext>
                </a:extLst>
              </a:tr>
              <a:tr h="248208">
                <a:tc>
                  <a:txBody>
                    <a:bodyPr/>
                    <a:lstStyle/>
                    <a:p>
                      <a:pPr algn="ctr" rtl="0" fontAlgn="ctr"/>
                      <a:r>
                        <a:rPr lang="en-US" sz="1200" b="0" i="0" u="none" strike="noStrike" dirty="0">
                          <a:solidFill>
                            <a:srgbClr val="000000"/>
                          </a:solidFill>
                          <a:effectLst/>
                          <a:latin typeface="+mn-lt"/>
                        </a:rPr>
                        <a:t>36</a:t>
                      </a:r>
                    </a:p>
                  </a:txBody>
                  <a:tcPr marL="9525" marR="9525" marT="9525" marB="0" anchor="ctr">
                    <a:blipFill dpi="0" rotWithShape="1">
                      <a:blip r:embed="rId3"/>
                      <a:srcRect/>
                      <a:tile tx="0" ty="0" sx="100000" sy="100000" flip="none" algn="tl"/>
                    </a:blipFill>
                  </a:tcPr>
                </a:tc>
                <a:tc>
                  <a:txBody>
                    <a:bodyPr/>
                    <a:lstStyle/>
                    <a:p>
                      <a:pPr algn="l" rtl="0" fontAlgn="ctr"/>
                      <a:r>
                        <a:rPr lang="en-US" sz="1150" b="0" i="0" u="none" strike="noStrike" dirty="0">
                          <a:solidFill>
                            <a:srgbClr val="000000"/>
                          </a:solidFill>
                          <a:effectLst/>
                          <a:latin typeface="+mn-lt"/>
                        </a:rPr>
                        <a:t> water seal pot pump trip</a:t>
                      </a:r>
                      <a:r>
                        <a:rPr lang="en-US" sz="1150" b="0" i="0" u="none" strike="noStrike" baseline="0" dirty="0">
                          <a:solidFill>
                            <a:srgbClr val="000000"/>
                          </a:solidFill>
                          <a:effectLst/>
                          <a:latin typeface="+mn-lt"/>
                        </a:rPr>
                        <a:t> issue</a:t>
                      </a: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A</a:t>
                      </a: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6"/>
                  </a:ext>
                </a:extLst>
              </a:tr>
              <a:tr h="248208">
                <a:tc>
                  <a:txBody>
                    <a:bodyPr/>
                    <a:lstStyle/>
                    <a:p>
                      <a:pPr algn="ctr" rtl="0" fontAlgn="ctr"/>
                      <a:r>
                        <a:rPr lang="en-US" sz="1200" b="0" i="0" u="none" strike="noStrike" dirty="0">
                          <a:solidFill>
                            <a:srgbClr val="000000"/>
                          </a:solidFill>
                          <a:effectLst/>
                          <a:latin typeface="+mn-lt"/>
                        </a:rPr>
                        <a:t>37</a:t>
                      </a:r>
                    </a:p>
                  </a:txBody>
                  <a:tcPr marL="9525" marR="9525" marT="9525" marB="0" anchor="ctr">
                    <a:blipFill dpi="0" rotWithShape="1">
                      <a:blip r:embed="rId3"/>
                      <a:srcRect/>
                      <a:tile tx="0" ty="0" sx="100000" sy="100000" flip="none" algn="tl"/>
                    </a:blipFill>
                  </a:tcPr>
                </a:tc>
                <a:tc>
                  <a:txBody>
                    <a:bodyPr/>
                    <a:lstStyle/>
                    <a:p>
                      <a:pPr algn="l" rtl="0" fontAlgn="ctr"/>
                      <a:r>
                        <a:rPr lang="en-US" sz="1150" b="0" i="0" u="none" strike="noStrike" dirty="0">
                          <a:solidFill>
                            <a:srgbClr val="000000"/>
                          </a:solidFill>
                          <a:effectLst/>
                          <a:latin typeface="+mn-lt"/>
                        </a:rPr>
                        <a:t> LOCO bucket</a:t>
                      </a:r>
                      <a:r>
                        <a:rPr lang="en-US" sz="1150" b="0" i="0" u="none" strike="noStrike" baseline="0" dirty="0">
                          <a:solidFill>
                            <a:srgbClr val="000000"/>
                          </a:solidFill>
                          <a:effectLst/>
                          <a:latin typeface="+mn-lt"/>
                        </a:rPr>
                        <a:t> present indication issue</a:t>
                      </a: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A</a:t>
                      </a: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7"/>
                  </a:ext>
                </a:extLst>
              </a:tr>
              <a:tr h="248208">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8"/>
                  </a:ext>
                </a:extLst>
              </a:tr>
              <a:tr h="248208">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09"/>
                  </a:ext>
                </a:extLst>
              </a:tr>
              <a:tr h="199732">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10"/>
                  </a:ext>
                </a:extLst>
              </a:tr>
              <a:tr h="248208">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11"/>
                  </a:ext>
                </a:extLst>
              </a:tr>
              <a:tr h="277117">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12"/>
                  </a:ext>
                </a:extLst>
              </a:tr>
              <a:tr h="290124">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13"/>
                  </a:ext>
                </a:extLst>
              </a:tr>
              <a:tr h="248208">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14"/>
                  </a:ext>
                </a:extLst>
              </a:tr>
              <a:tr h="199732">
                <a:tc>
                  <a:txBody>
                    <a:bodyPr/>
                    <a:lstStyle/>
                    <a:p>
                      <a:pPr algn="ctr" rtl="0" fontAlgn="ctr"/>
                      <a:endParaRPr lang="en-US" sz="1200" b="0" i="0" u="none" strike="noStrike" dirty="0">
                        <a:solidFill>
                          <a:srgbClr val="000000"/>
                        </a:solidFill>
                        <a:effectLst/>
                        <a:latin typeface="+mn-lt"/>
                      </a:endParaRPr>
                    </a:p>
                  </a:txBody>
                  <a:tcPr marL="9525" marR="9525" marT="9525" marB="0" anchor="ctr">
                    <a:blipFill dpi="0" rotWithShape="1">
                      <a:blip r:embed="rId3"/>
                      <a:srcRect/>
                      <a:tile tx="0" ty="0" sx="100000" sy="100000" flip="none" algn="tl"/>
                    </a:blipFill>
                  </a:tcPr>
                </a:tc>
                <a:tc>
                  <a:txBody>
                    <a:bodyPr/>
                    <a:lstStyle/>
                    <a:p>
                      <a:pPr algn="l" rtl="0" fontAlgn="ctr"/>
                      <a:endParaRPr lang="en-US" sz="1150" b="0" i="0" u="none" strike="noStrike" dirty="0">
                        <a:solidFill>
                          <a:srgbClr val="000000"/>
                        </a:solidFill>
                        <a:effectLst/>
                        <a:latin typeface="+mn-lt"/>
                      </a:endParaRPr>
                    </a:p>
                  </a:txBody>
                  <a:tcPr marL="7940" marR="7940" marT="7940"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endParaRPr lang="en-US" sz="1200" u="none" strike="noStrike" kern="1200" dirty="0">
                        <a:solidFill>
                          <a:schemeClr val="dk1"/>
                        </a:solidFill>
                        <a:effectLst/>
                        <a:latin typeface="+mn-lt"/>
                        <a:ea typeface="+mn-ea"/>
                        <a:cs typeface="+mn-cs"/>
                      </a:endParaRPr>
                    </a:p>
                  </a:txBody>
                  <a:tcPr marL="9525" marR="9525" marT="9525" marB="0" anchor="ctr">
                    <a:blipFill dpi="0" rotWithShape="1">
                      <a:blip r:embed="rId3"/>
                      <a:srcRect/>
                      <a:tile tx="0" ty="0" sx="100000" sy="100000" flip="none" algn="tl"/>
                    </a:blipFill>
                  </a:tcPr>
                </a:tc>
                <a:tc>
                  <a:txBody>
                    <a:bodyPr/>
                    <a:lstStyle/>
                    <a:p>
                      <a:pPr algn="ctr" rtl="0" fontAlgn="ctr"/>
                      <a:r>
                        <a:rPr lang="en-US" sz="1200" u="none" strike="noStrike" kern="1200" dirty="0">
                          <a:solidFill>
                            <a:schemeClr val="dk1"/>
                          </a:solidFill>
                          <a:effectLst/>
                          <a:latin typeface="+mn-lt"/>
                          <a:ea typeface="+mn-ea"/>
                          <a:cs typeface="+mn-cs"/>
                        </a:rPr>
                        <a:t> </a:t>
                      </a:r>
                    </a:p>
                  </a:txBody>
                  <a:tcPr marL="9525" marR="9525" marT="9525" marB="0" anchor="ctr">
                    <a:blipFill dpi="0" rotWithShape="1">
                      <a:blip r:embed="rId3"/>
                      <a:srcRect/>
                      <a:tile tx="0" ty="0" sx="100000" sy="100000" flip="none" algn="tl"/>
                    </a:blipFill>
                  </a:tcPr>
                </a:tc>
                <a:extLst>
                  <a:ext uri="{0D108BD9-81ED-4DB2-BD59-A6C34878D82A}">
                    <a16:rowId xmlns:a16="http://schemas.microsoft.com/office/drawing/2014/main" val="10015"/>
                  </a:ext>
                </a:extLst>
              </a:tr>
            </a:tbl>
          </a:graphicData>
        </a:graphic>
      </p:graphicFrame>
      <p:sp>
        <p:nvSpPr>
          <p:cNvPr id="7" name="TextBox 6"/>
          <p:cNvSpPr txBox="1"/>
          <p:nvPr/>
        </p:nvSpPr>
        <p:spPr>
          <a:xfrm>
            <a:off x="6008656" y="6935631"/>
            <a:ext cx="338554"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13</a:t>
            </a:r>
          </a:p>
        </p:txBody>
      </p:sp>
      <p:sp>
        <p:nvSpPr>
          <p:cNvPr id="8" name="Slide Number Placeholder 3"/>
          <p:cNvSpPr>
            <a:spLocks noGrp="1"/>
          </p:cNvSpPr>
          <p:nvPr>
            <p:ph type="sldNum" sz="quarter" idx="12"/>
          </p:nvPr>
        </p:nvSpPr>
        <p:spPr>
          <a:xfrm>
            <a:off x="8751916" y="6572481"/>
            <a:ext cx="2743200" cy="365125"/>
          </a:xfrm>
        </p:spPr>
        <p:txBody>
          <a:bodyPr/>
          <a:lstStyle/>
          <a:p>
            <a:fld id="{512EAFE9-BCEF-42D3-8A25-05251F72DB13}"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9" name="Google Shape;252;p14"/>
          <p:cNvSpPr/>
          <p:nvPr/>
        </p:nvSpPr>
        <p:spPr>
          <a:xfrm>
            <a:off x="7458338" y="3306542"/>
            <a:ext cx="3788782" cy="1077178"/>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spcFirstLastPara="1" wrap="square" lIns="91425" tIns="45700" rIns="91425" bIns="45700" anchor="t" anchorCtr="0">
            <a:spAutoFit/>
          </a:bodyPr>
          <a:lstStyle/>
          <a:p>
            <a:r>
              <a:rPr lang="en-IN" sz="1600" dirty="0">
                <a:solidFill>
                  <a:schemeClr val="tx1"/>
                </a:solidFill>
                <a:latin typeface="Times New Roman" panose="02020603050405020304" pitchFamily="18" charset="0"/>
                <a:ea typeface="Calibri"/>
                <a:cs typeface="Times New Roman" panose="02020603050405020304" pitchFamily="18" charset="0"/>
                <a:sym typeface="Calibri"/>
              </a:rPr>
              <a:t>Complexity: </a:t>
            </a:r>
            <a:endParaRPr sz="1600" dirty="0">
              <a:solidFill>
                <a:schemeClr val="tx1"/>
              </a:solidFill>
              <a:latin typeface="Times New Roman" panose="02020603050405020304" pitchFamily="18" charset="0"/>
              <a:cs typeface="Times New Roman" panose="02020603050405020304" pitchFamily="18" charset="0"/>
            </a:endParaRPr>
          </a:p>
          <a:p>
            <a:r>
              <a:rPr lang="en-IN" sz="1600" dirty="0">
                <a:solidFill>
                  <a:schemeClr val="tx1"/>
                </a:solidFill>
                <a:latin typeface="Times New Roman" panose="02020603050405020304" pitchFamily="18" charset="0"/>
                <a:ea typeface="Calibri"/>
                <a:cs typeface="Times New Roman" panose="02020603050405020304" pitchFamily="18" charset="0"/>
                <a:sym typeface="Calibri"/>
              </a:rPr>
              <a:t>A: Within Department </a:t>
            </a:r>
            <a:endParaRPr sz="1600" dirty="0">
              <a:solidFill>
                <a:schemeClr val="tx1"/>
              </a:solidFill>
              <a:latin typeface="Times New Roman" panose="02020603050405020304" pitchFamily="18" charset="0"/>
              <a:cs typeface="Times New Roman" panose="02020603050405020304" pitchFamily="18" charset="0"/>
            </a:endParaRPr>
          </a:p>
          <a:p>
            <a:r>
              <a:rPr lang="en-IN" sz="1600" dirty="0">
                <a:solidFill>
                  <a:schemeClr val="tx1"/>
                </a:solidFill>
                <a:latin typeface="Times New Roman" panose="02020603050405020304" pitchFamily="18" charset="0"/>
                <a:ea typeface="Calibri"/>
                <a:cs typeface="Times New Roman" panose="02020603050405020304" pitchFamily="18" charset="0"/>
                <a:sym typeface="Calibri"/>
              </a:rPr>
              <a:t>B: Cross Functional</a:t>
            </a:r>
            <a:endParaRPr sz="1600" dirty="0">
              <a:solidFill>
                <a:schemeClr val="tx1"/>
              </a:solidFill>
              <a:latin typeface="Times New Roman" panose="02020603050405020304" pitchFamily="18" charset="0"/>
              <a:cs typeface="Times New Roman" panose="02020603050405020304" pitchFamily="18" charset="0"/>
            </a:endParaRPr>
          </a:p>
          <a:p>
            <a:r>
              <a:rPr lang="en-IN" sz="1600" dirty="0">
                <a:solidFill>
                  <a:schemeClr val="tx1"/>
                </a:solidFill>
                <a:latin typeface="Times New Roman" panose="02020603050405020304" pitchFamily="18" charset="0"/>
                <a:ea typeface="Calibri"/>
                <a:cs typeface="Times New Roman" panose="02020603050405020304" pitchFamily="18" charset="0"/>
                <a:sym typeface="Calibri"/>
              </a:rPr>
              <a:t>C: Management Support </a:t>
            </a:r>
            <a:endParaRPr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966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550698"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graphicFrame>
        <p:nvGraphicFramePr>
          <p:cNvPr id="3" name="Chart 2"/>
          <p:cNvGraphicFramePr>
            <a:graphicFrameLocks/>
          </p:cNvGraphicFramePr>
          <p:nvPr>
            <p:extLst>
              <p:ext uri="{D42A27DB-BD31-4B8C-83A1-F6EECF244321}">
                <p14:modId xmlns:p14="http://schemas.microsoft.com/office/powerpoint/2010/main" val="2656868969"/>
              </p:ext>
            </p:extLst>
          </p:nvPr>
        </p:nvGraphicFramePr>
        <p:xfrm>
          <a:off x="1036135" y="1991864"/>
          <a:ext cx="5808285" cy="3938156"/>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80428" y="145304"/>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
          <p:cNvSpPr txBox="1">
            <a:spLocks noChangeArrowheads="1"/>
          </p:cNvSpPr>
          <p:nvPr/>
        </p:nvSpPr>
        <p:spPr bwMode="auto">
          <a:xfrm>
            <a:off x="3642112" y="547186"/>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graphicFrame>
        <p:nvGraphicFramePr>
          <p:cNvPr id="7" name="Table 6"/>
          <p:cNvGraphicFramePr>
            <a:graphicFrameLocks noGrp="1"/>
          </p:cNvGraphicFramePr>
          <p:nvPr>
            <p:extLst>
              <p:ext uri="{D42A27DB-BD31-4B8C-83A1-F6EECF244321}">
                <p14:modId xmlns:p14="http://schemas.microsoft.com/office/powerpoint/2010/main" val="1711981587"/>
              </p:ext>
            </p:extLst>
          </p:nvPr>
        </p:nvGraphicFramePr>
        <p:xfrm>
          <a:off x="7149535" y="1991864"/>
          <a:ext cx="4022770" cy="2837830"/>
        </p:xfrm>
        <a:graphic>
          <a:graphicData uri="http://schemas.openxmlformats.org/drawingml/2006/table">
            <a:tbl>
              <a:tblPr>
                <a:tableStyleId>{5C22544A-7EE6-4342-B048-85BDC9FD1C3A}</a:tableStyleId>
              </a:tblPr>
              <a:tblGrid>
                <a:gridCol w="2060174">
                  <a:extLst>
                    <a:ext uri="{9D8B030D-6E8A-4147-A177-3AD203B41FA5}">
                      <a16:colId xmlns:a16="http://schemas.microsoft.com/office/drawing/2014/main" val="20000"/>
                    </a:ext>
                  </a:extLst>
                </a:gridCol>
                <a:gridCol w="1962596">
                  <a:extLst>
                    <a:ext uri="{9D8B030D-6E8A-4147-A177-3AD203B41FA5}">
                      <a16:colId xmlns:a16="http://schemas.microsoft.com/office/drawing/2014/main" val="20001"/>
                    </a:ext>
                  </a:extLst>
                </a:gridCol>
              </a:tblGrid>
              <a:tr h="786016">
                <a:tc>
                  <a:txBody>
                    <a:bodyPr/>
                    <a:lstStyle/>
                    <a:p>
                      <a:pPr algn="ctr" fontAlgn="b"/>
                      <a:r>
                        <a:rPr lang="en-US" sz="1600" b="1" kern="1200" dirty="0">
                          <a:solidFill>
                            <a:srgbClr val="002060"/>
                          </a:solidFill>
                          <a:latin typeface="+mn-lt"/>
                          <a:ea typeface="+mn-ea"/>
                          <a:cs typeface="+mn-cs"/>
                        </a:rPr>
                        <a:t>Complexity</a:t>
                      </a:r>
                    </a:p>
                  </a:txBody>
                  <a:tcPr marL="9525" marR="9525" marT="9525" marB="0" anchor="ctr">
                    <a:cell3D prstMaterial="dkEdge">
                      <a:bevel/>
                      <a:lightRig rig="flood" dir="t"/>
                    </a:cell3D>
                    <a:solidFill>
                      <a:schemeClr val="accent5">
                        <a:lumMod val="60000"/>
                        <a:lumOff val="40000"/>
                      </a:schemeClr>
                    </a:solidFill>
                  </a:tcPr>
                </a:tc>
                <a:tc>
                  <a:txBody>
                    <a:bodyPr/>
                    <a:lstStyle/>
                    <a:p>
                      <a:pPr algn="ctr" fontAlgn="b"/>
                      <a:r>
                        <a:rPr lang="en-US" sz="1600" b="1" kern="1200" dirty="0">
                          <a:solidFill>
                            <a:srgbClr val="002060"/>
                          </a:solidFill>
                          <a:latin typeface="+mn-lt"/>
                          <a:ea typeface="+mn-ea"/>
                          <a:cs typeface="+mn-cs"/>
                        </a:rPr>
                        <a:t>No. of Problems</a:t>
                      </a:r>
                    </a:p>
                  </a:txBody>
                  <a:tcPr marL="9525" marR="9525" marT="9525" marB="0" anchor="ctr">
                    <a:cell3D prstMaterial="dkEdge">
                      <a:bevel/>
                      <a:lightRig rig="flood" dir="t"/>
                    </a:cell3D>
                    <a:solidFill>
                      <a:schemeClr val="accent5">
                        <a:lumMod val="60000"/>
                        <a:lumOff val="40000"/>
                      </a:schemeClr>
                    </a:solidFill>
                  </a:tcPr>
                </a:tc>
                <a:extLst>
                  <a:ext uri="{0D108BD9-81ED-4DB2-BD59-A6C34878D82A}">
                    <a16:rowId xmlns:a16="http://schemas.microsoft.com/office/drawing/2014/main" val="10000"/>
                  </a:ext>
                </a:extLst>
              </a:tr>
              <a:tr h="559586">
                <a:tc>
                  <a:txBody>
                    <a:bodyPr/>
                    <a:lstStyle/>
                    <a:p>
                      <a:pPr algn="ctr" fontAlgn="b"/>
                      <a:r>
                        <a:rPr lang="en-US" sz="1600" b="1" kern="1200" dirty="0">
                          <a:solidFill>
                            <a:srgbClr val="002060"/>
                          </a:solidFill>
                          <a:latin typeface="+mn-lt"/>
                          <a:ea typeface="+mn-ea"/>
                          <a:cs typeface="+mn-cs"/>
                        </a:rPr>
                        <a:t>A CATEGORY</a:t>
                      </a:r>
                    </a:p>
                  </a:txBody>
                  <a:tcPr marL="9525" marR="9525" marT="9525" marB="0" anchor="ctr">
                    <a:cell3D prstMaterial="dkEdge">
                      <a:bevel/>
                      <a:lightRig rig="flood" dir="t"/>
                    </a:cell3D>
                    <a:solidFill>
                      <a:schemeClr val="accent5">
                        <a:lumMod val="60000"/>
                        <a:lumOff val="40000"/>
                      </a:schemeClr>
                    </a:solidFill>
                  </a:tcPr>
                </a:tc>
                <a:tc>
                  <a:txBody>
                    <a:bodyPr/>
                    <a:lstStyle/>
                    <a:p>
                      <a:pPr algn="ctr" fontAlgn="b"/>
                      <a:r>
                        <a:rPr lang="en-US" sz="1600" b="1" kern="1200" dirty="0">
                          <a:solidFill>
                            <a:srgbClr val="002060"/>
                          </a:solidFill>
                          <a:latin typeface="+mn-lt"/>
                          <a:ea typeface="+mn-ea"/>
                          <a:cs typeface="+mn-cs"/>
                        </a:rPr>
                        <a:t>25</a:t>
                      </a:r>
                    </a:p>
                  </a:txBody>
                  <a:tcPr marL="9525" marR="9525" marT="9525" marB="0" anchor="ctr">
                    <a:cell3D prstMaterial="dkEdge">
                      <a:bevel/>
                      <a:lightRig rig="flood" dir="t"/>
                    </a:cell3D>
                    <a:solidFill>
                      <a:schemeClr val="accent5">
                        <a:lumMod val="60000"/>
                        <a:lumOff val="40000"/>
                      </a:schemeClr>
                    </a:solidFill>
                  </a:tcPr>
                </a:tc>
                <a:extLst>
                  <a:ext uri="{0D108BD9-81ED-4DB2-BD59-A6C34878D82A}">
                    <a16:rowId xmlns:a16="http://schemas.microsoft.com/office/drawing/2014/main" val="10001"/>
                  </a:ext>
                </a:extLst>
              </a:tr>
              <a:tr h="746114">
                <a:tc>
                  <a:txBody>
                    <a:bodyPr/>
                    <a:lstStyle/>
                    <a:p>
                      <a:pPr algn="ctr" fontAlgn="b"/>
                      <a:r>
                        <a:rPr lang="en-US" sz="1600" b="1" kern="1200" dirty="0">
                          <a:solidFill>
                            <a:srgbClr val="002060"/>
                          </a:solidFill>
                          <a:latin typeface="+mn-lt"/>
                          <a:ea typeface="+mn-ea"/>
                          <a:cs typeface="+mn-cs"/>
                        </a:rPr>
                        <a:t>B CATEGORY</a:t>
                      </a:r>
                    </a:p>
                  </a:txBody>
                  <a:tcPr marL="9525" marR="9525" marT="9525" marB="0" anchor="ctr">
                    <a:cell3D prstMaterial="dkEdge">
                      <a:bevel/>
                      <a:lightRig rig="flood" dir="t"/>
                    </a:cell3D>
                    <a:solidFill>
                      <a:schemeClr val="accent5">
                        <a:lumMod val="60000"/>
                        <a:lumOff val="40000"/>
                      </a:schemeClr>
                    </a:solidFill>
                  </a:tcPr>
                </a:tc>
                <a:tc>
                  <a:txBody>
                    <a:bodyPr/>
                    <a:lstStyle/>
                    <a:p>
                      <a:pPr algn="ctr" fontAlgn="b"/>
                      <a:r>
                        <a:rPr lang="en-US" sz="1600" b="1" kern="1200" dirty="0">
                          <a:solidFill>
                            <a:srgbClr val="002060"/>
                          </a:solidFill>
                          <a:latin typeface="+mn-lt"/>
                          <a:ea typeface="+mn-ea"/>
                          <a:cs typeface="+mn-cs"/>
                        </a:rPr>
                        <a:t>9</a:t>
                      </a:r>
                    </a:p>
                  </a:txBody>
                  <a:tcPr marL="9525" marR="9525" marT="9525" marB="0" anchor="ctr">
                    <a:cell3D prstMaterial="dkEdge">
                      <a:bevel/>
                      <a:lightRig rig="flood" dir="t"/>
                    </a:cell3D>
                    <a:solidFill>
                      <a:schemeClr val="accent5">
                        <a:lumMod val="60000"/>
                        <a:lumOff val="40000"/>
                      </a:schemeClr>
                    </a:solidFill>
                  </a:tcPr>
                </a:tc>
                <a:extLst>
                  <a:ext uri="{0D108BD9-81ED-4DB2-BD59-A6C34878D82A}">
                    <a16:rowId xmlns:a16="http://schemas.microsoft.com/office/drawing/2014/main" val="10002"/>
                  </a:ext>
                </a:extLst>
              </a:tr>
              <a:tr h="746114">
                <a:tc>
                  <a:txBody>
                    <a:bodyPr/>
                    <a:lstStyle/>
                    <a:p>
                      <a:pPr algn="ctr" fontAlgn="b"/>
                      <a:r>
                        <a:rPr lang="en-US" sz="1600" b="1" kern="1200" dirty="0">
                          <a:solidFill>
                            <a:srgbClr val="002060"/>
                          </a:solidFill>
                          <a:latin typeface="+mn-lt"/>
                          <a:ea typeface="+mn-ea"/>
                          <a:cs typeface="+mn-cs"/>
                        </a:rPr>
                        <a:t>C CATEGORY</a:t>
                      </a:r>
                    </a:p>
                  </a:txBody>
                  <a:tcPr marL="9525" marR="9525" marT="9525" marB="0" anchor="ctr">
                    <a:cell3D prstMaterial="dkEdge">
                      <a:bevel/>
                      <a:lightRig rig="flood" dir="t"/>
                    </a:cell3D>
                    <a:solidFill>
                      <a:schemeClr val="accent5">
                        <a:lumMod val="60000"/>
                        <a:lumOff val="40000"/>
                      </a:schemeClr>
                    </a:solidFill>
                  </a:tcPr>
                </a:tc>
                <a:tc>
                  <a:txBody>
                    <a:bodyPr/>
                    <a:lstStyle/>
                    <a:p>
                      <a:pPr algn="ctr" fontAlgn="b"/>
                      <a:r>
                        <a:rPr lang="en-US" sz="1600" b="1" kern="1200" dirty="0">
                          <a:solidFill>
                            <a:srgbClr val="002060"/>
                          </a:solidFill>
                          <a:latin typeface="+mn-lt"/>
                          <a:ea typeface="+mn-ea"/>
                          <a:cs typeface="+mn-cs"/>
                        </a:rPr>
                        <a:t>3</a:t>
                      </a:r>
                    </a:p>
                  </a:txBody>
                  <a:tcPr marL="9525" marR="9525" marT="9525" marB="0" anchor="ctr">
                    <a:cell3D prstMaterial="dkEdge">
                      <a:bevel/>
                      <a:lightRig rig="flood" dir="t"/>
                    </a:cell3D>
                    <a:solidFill>
                      <a:schemeClr val="accent5">
                        <a:lumMod val="60000"/>
                        <a:lumOff val="40000"/>
                      </a:schemeClr>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7149535" y="5262858"/>
            <a:ext cx="3352800" cy="861774"/>
          </a:xfrm>
          <a:prstGeom prst="rect">
            <a:avLst/>
          </a:prstGeom>
          <a:noFill/>
        </p:spPr>
        <p:txBody>
          <a:bodyPr wrap="square" lIns="91440" tIns="45720" rIns="91440" bIns="45720">
            <a:spAutoFit/>
          </a:bodyPr>
          <a:lstStyle/>
          <a:p>
            <a:r>
              <a:rPr lang="en-US" sz="1600" b="1" dirty="0">
                <a:solidFill>
                  <a:srgbClr val="002060"/>
                </a:solidFill>
                <a:latin typeface="Times New Roman" panose="02020603050405020304" pitchFamily="18" charset="0"/>
                <a:cs typeface="Times New Roman" panose="02020603050405020304" pitchFamily="18" charset="0"/>
              </a:rPr>
              <a:t>A- Within department</a:t>
            </a:r>
          </a:p>
          <a:p>
            <a:r>
              <a:rPr lang="en-US" sz="1600" b="1" dirty="0">
                <a:solidFill>
                  <a:srgbClr val="002060"/>
                </a:solidFill>
                <a:latin typeface="Times New Roman" panose="02020603050405020304" pitchFamily="18" charset="0"/>
                <a:cs typeface="Times New Roman" panose="02020603050405020304" pitchFamily="18" charset="0"/>
              </a:rPr>
              <a:t>B- Cross functional</a:t>
            </a:r>
          </a:p>
          <a:p>
            <a:r>
              <a:rPr lang="en-US" sz="1600" b="1" dirty="0">
                <a:solidFill>
                  <a:srgbClr val="002060"/>
                </a:solidFill>
                <a:latin typeface="Times New Roman" panose="02020603050405020304" pitchFamily="18" charset="0"/>
                <a:cs typeface="Times New Roman" panose="02020603050405020304" pitchFamily="18" charset="0"/>
              </a:rPr>
              <a:t>C- Management support</a:t>
            </a:r>
          </a:p>
        </p:txBody>
      </p:sp>
      <p:sp>
        <p:nvSpPr>
          <p:cNvPr id="9" name="Rectangle 8"/>
          <p:cNvSpPr/>
          <p:nvPr/>
        </p:nvSpPr>
        <p:spPr>
          <a:xfrm>
            <a:off x="0" y="6488668"/>
            <a:ext cx="2155398"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15" name="Title 2"/>
          <p:cNvSpPr txBox="1">
            <a:spLocks/>
          </p:cNvSpPr>
          <p:nvPr/>
        </p:nvSpPr>
        <p:spPr>
          <a:xfrm>
            <a:off x="952029" y="1053790"/>
            <a:ext cx="9828399" cy="659081"/>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a:noAutofit/>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3200" dirty="0">
                <a:solidFill>
                  <a:srgbClr val="002060"/>
                </a:solidFill>
                <a:latin typeface="Times New Roman" panose="02020603050405020304" pitchFamily="18" charset="0"/>
                <a:cs typeface="Times New Roman" panose="02020603050405020304" pitchFamily="18" charset="0"/>
              </a:rPr>
              <a:t>BRAINSTROMING (A/B/C Analysis)</a:t>
            </a:r>
            <a:endParaRPr lang="en-I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90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824203480"/>
              </p:ext>
            </p:extLst>
          </p:nvPr>
        </p:nvGraphicFramePr>
        <p:xfrm>
          <a:off x="902151" y="1400142"/>
          <a:ext cx="10361594" cy="4859412"/>
        </p:xfrm>
        <a:graphic>
          <a:graphicData uri="http://schemas.openxmlformats.org/drawingml/2006/table">
            <a:tbl>
              <a:tblPr firstRow="1">
                <a:tableStyleId>{35758FB7-9AC5-4552-8A53-C91805E547FA}</a:tableStyleId>
              </a:tblPr>
              <a:tblGrid>
                <a:gridCol w="473971">
                  <a:extLst>
                    <a:ext uri="{9D8B030D-6E8A-4147-A177-3AD203B41FA5}">
                      <a16:colId xmlns:a16="http://schemas.microsoft.com/office/drawing/2014/main" val="20000"/>
                    </a:ext>
                  </a:extLst>
                </a:gridCol>
                <a:gridCol w="2605874">
                  <a:extLst>
                    <a:ext uri="{9D8B030D-6E8A-4147-A177-3AD203B41FA5}">
                      <a16:colId xmlns:a16="http://schemas.microsoft.com/office/drawing/2014/main" val="20001"/>
                    </a:ext>
                  </a:extLst>
                </a:gridCol>
                <a:gridCol w="745821">
                  <a:extLst>
                    <a:ext uri="{9D8B030D-6E8A-4147-A177-3AD203B41FA5}">
                      <a16:colId xmlns:a16="http://schemas.microsoft.com/office/drawing/2014/main" val="20002"/>
                    </a:ext>
                  </a:extLst>
                </a:gridCol>
                <a:gridCol w="749151">
                  <a:extLst>
                    <a:ext uri="{9D8B030D-6E8A-4147-A177-3AD203B41FA5}">
                      <a16:colId xmlns:a16="http://schemas.microsoft.com/office/drawing/2014/main" val="20003"/>
                    </a:ext>
                  </a:extLst>
                </a:gridCol>
                <a:gridCol w="474532">
                  <a:extLst>
                    <a:ext uri="{9D8B030D-6E8A-4147-A177-3AD203B41FA5}">
                      <a16:colId xmlns:a16="http://schemas.microsoft.com/office/drawing/2014/main" val="20004"/>
                    </a:ext>
                  </a:extLst>
                </a:gridCol>
                <a:gridCol w="3817273">
                  <a:extLst>
                    <a:ext uri="{9D8B030D-6E8A-4147-A177-3AD203B41FA5}">
                      <a16:colId xmlns:a16="http://schemas.microsoft.com/office/drawing/2014/main" val="20005"/>
                    </a:ext>
                  </a:extLst>
                </a:gridCol>
                <a:gridCol w="745821">
                  <a:extLst>
                    <a:ext uri="{9D8B030D-6E8A-4147-A177-3AD203B41FA5}">
                      <a16:colId xmlns:a16="http://schemas.microsoft.com/office/drawing/2014/main" val="20006"/>
                    </a:ext>
                  </a:extLst>
                </a:gridCol>
                <a:gridCol w="749151">
                  <a:extLst>
                    <a:ext uri="{9D8B030D-6E8A-4147-A177-3AD203B41FA5}">
                      <a16:colId xmlns:a16="http://schemas.microsoft.com/office/drawing/2014/main" val="20007"/>
                    </a:ext>
                  </a:extLst>
                </a:gridCol>
              </a:tblGrid>
              <a:tr h="444101">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Sl. No</a:t>
                      </a:r>
                      <a:r>
                        <a:rPr lang="en-US" sz="1100" u="none" strike="noStrike" kern="1200" dirty="0">
                          <a:effectLst/>
                          <a:latin typeface="Times New Roman" panose="02020603050405020304" pitchFamily="18" charset="0"/>
                          <a:cs typeface="Times New Roman" panose="02020603050405020304" pitchFamily="18" charset="0"/>
                        </a:rPr>
                        <a:t>.</a:t>
                      </a:r>
                      <a:endParaRPr lang="en-US" sz="1100" b="1" u="none" strike="noStrike" kern="1200" dirty="0">
                        <a:solidFill>
                          <a:schemeClr val="accent4">
                            <a:lumMod val="50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LIST OF PROBLEM</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Category A</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QC /Kaizen</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Sl. No.</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LIST OF PROBLEM</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Category A</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tc>
                  <a:txBody>
                    <a:bodyPr/>
                    <a:lstStyle/>
                    <a:p>
                      <a:pPr marL="0" algn="ctr" defTabSz="914674" rtl="0" eaLnBrk="1" fontAlgn="ctr" latinLnBrk="0" hangingPunct="1"/>
                      <a:r>
                        <a:rPr lang="en-US" sz="1100" u="none" strike="noStrike" kern="1200" dirty="0">
                          <a:solidFill>
                            <a:schemeClr val="tx1">
                              <a:lumMod val="95000"/>
                              <a:lumOff val="5000"/>
                            </a:schemeClr>
                          </a:solidFill>
                          <a:effectLst/>
                          <a:latin typeface="Times New Roman" panose="02020603050405020304" pitchFamily="18" charset="0"/>
                          <a:cs typeface="Times New Roman" panose="02020603050405020304" pitchFamily="18" charset="0"/>
                        </a:rPr>
                        <a:t>QC /Kaizen</a:t>
                      </a:r>
                      <a:endParaRPr lang="en-US" sz="1100" b="1" u="none" strike="noStrike"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endParaRPr>
                    </a:p>
                  </a:txBody>
                  <a:tcPr marL="9525" marR="9525" marT="9525" marB="0" anchor="ctr">
                    <a:blipFill dpi="0" rotWithShape="1">
                      <a:blip r:embed="rId2">
                        <a:alphaModFix amt="39000"/>
                      </a:blip>
                      <a:srcRect/>
                      <a:tile tx="0" ty="0" sx="100000" sy="100000" flip="none" algn="tl"/>
                    </a:blipFill>
                  </a:tcPr>
                </a:tc>
                <a:extLst>
                  <a:ext uri="{0D108BD9-81ED-4DB2-BD59-A6C34878D82A}">
                    <a16:rowId xmlns:a16="http://schemas.microsoft.com/office/drawing/2014/main" val="10000"/>
                  </a:ext>
                </a:extLst>
              </a:tr>
              <a:tr h="220050">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u="none" strike="noStrike" dirty="0">
                          <a:effectLst/>
                          <a:latin typeface="Times New Roman" panose="02020603050405020304" pitchFamily="18" charset="0"/>
                          <a:cs typeface="Times New Roman" panose="02020603050405020304" pitchFamily="18" charset="0"/>
                        </a:rPr>
                        <a:t>RSV Trip for</a:t>
                      </a:r>
                      <a:r>
                        <a:rPr lang="en-US" sz="1100" u="none" strike="noStrike" baseline="0" dirty="0">
                          <a:effectLst/>
                          <a:latin typeface="Times New Roman" panose="02020603050405020304" pitchFamily="18" charset="0"/>
                          <a:cs typeface="Times New Roman" panose="02020603050405020304" pitchFamily="18" charset="0"/>
                        </a:rPr>
                        <a:t> Liner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15</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Radar</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sensor Malfunctioning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1"/>
                  </a:ext>
                </a:extLst>
              </a:tr>
              <a:tr h="422716">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u="none" strike="noStrike" dirty="0">
                          <a:effectLst/>
                          <a:latin typeface="Times New Roman" panose="02020603050405020304" pitchFamily="18" charset="0"/>
                          <a:cs typeface="Times New Roman" panose="02020603050405020304" pitchFamily="18" charset="0"/>
                        </a:rPr>
                        <a:t>Nitrogen Consumption High than Design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16</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GDS Bag</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filter damaged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2"/>
                  </a:ext>
                </a:extLst>
              </a:tr>
              <a:tr h="220050">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u="none" strike="noStrike" dirty="0">
                          <a:effectLst/>
                          <a:latin typeface="Times New Roman" panose="02020603050405020304" pitchFamily="18" charset="0"/>
                          <a:cs typeface="Times New Roman" panose="02020603050405020304" pitchFamily="18" charset="0"/>
                        </a:rPr>
                        <a:t>GDS</a:t>
                      </a:r>
                      <a:r>
                        <a:rPr lang="en-US" sz="1100" u="none" strike="noStrike" baseline="0" dirty="0">
                          <a:effectLst/>
                          <a:latin typeface="Times New Roman" panose="02020603050405020304" pitchFamily="18" charset="0"/>
                          <a:cs typeface="Times New Roman" panose="02020603050405020304" pitchFamily="18" charset="0"/>
                        </a:rPr>
                        <a:t> vibrator not working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17</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chemeClr val="dk1"/>
                          </a:solidFill>
                          <a:effectLst/>
                          <a:latin typeface="Times New Roman" panose="02020603050405020304" pitchFamily="18" charset="0"/>
                          <a:cs typeface="Times New Roman" panose="02020603050405020304" pitchFamily="18" charset="0"/>
                        </a:rPr>
                        <a:t>GDS Discharge</a:t>
                      </a:r>
                      <a:r>
                        <a:rPr lang="en-US" sz="1100" b="0" i="0" u="none" strike="noStrike" baseline="0" dirty="0">
                          <a:solidFill>
                            <a:schemeClr val="dk1"/>
                          </a:solidFill>
                          <a:effectLst/>
                          <a:latin typeface="Times New Roman" panose="02020603050405020304" pitchFamily="18" charset="0"/>
                          <a:cs typeface="Times New Roman" panose="02020603050405020304" pitchFamily="18" charset="0"/>
                        </a:rPr>
                        <a:t> cylinder Issue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3"/>
                  </a:ext>
                </a:extLst>
              </a:tr>
              <a:tr h="421181">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u="none" strike="noStrike" dirty="0">
                          <a:effectLst/>
                          <a:latin typeface="Times New Roman" panose="02020603050405020304" pitchFamily="18" charset="0"/>
                          <a:cs typeface="Times New Roman" panose="02020603050405020304" pitchFamily="18" charset="0"/>
                        </a:rPr>
                        <a:t>GD</a:t>
                      </a:r>
                      <a:r>
                        <a:rPr lang="en-US" sz="1100" u="none" strike="noStrike" baseline="0" dirty="0">
                          <a:effectLst/>
                          <a:latin typeface="Times New Roman" panose="02020603050405020304" pitchFamily="18" charset="0"/>
                          <a:cs typeface="Times New Roman" panose="02020603050405020304" pitchFamily="18" charset="0"/>
                        </a:rPr>
                        <a:t>S hopper level sensor not working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18</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chemeClr val="dk1"/>
                          </a:solidFill>
                          <a:effectLst/>
                          <a:latin typeface="Times New Roman" panose="02020603050405020304" pitchFamily="18" charset="0"/>
                          <a:cs typeface="Times New Roman" panose="02020603050405020304" pitchFamily="18" charset="0"/>
                        </a:rPr>
                        <a:t> Flow Chain</a:t>
                      </a:r>
                      <a:r>
                        <a:rPr lang="en-US" sz="1100" b="0" i="0" u="none" strike="noStrike" baseline="0" dirty="0">
                          <a:solidFill>
                            <a:schemeClr val="dk1"/>
                          </a:solidFill>
                          <a:effectLst/>
                          <a:latin typeface="Times New Roman" panose="02020603050405020304" pitchFamily="18" charset="0"/>
                          <a:cs typeface="Times New Roman" panose="02020603050405020304" pitchFamily="18" charset="0"/>
                        </a:rPr>
                        <a:t> conveyor trip issue for sensor failure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4"/>
                  </a:ext>
                </a:extLst>
              </a:tr>
              <a:tr h="220050">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chemeClr val="dk1"/>
                          </a:solidFill>
                          <a:effectLst/>
                          <a:latin typeface="Times New Roman" panose="02020603050405020304" pitchFamily="18" charset="0"/>
                          <a:cs typeface="Times New Roman" panose="02020603050405020304" pitchFamily="18" charset="0"/>
                        </a:rPr>
                        <a:t>GCF</a:t>
                      </a:r>
                      <a:r>
                        <a:rPr lang="en-US" sz="1100" b="0" i="0" u="none" strike="noStrike" baseline="0" dirty="0">
                          <a:solidFill>
                            <a:schemeClr val="dk1"/>
                          </a:solidFill>
                          <a:effectLst/>
                          <a:latin typeface="Times New Roman" panose="02020603050405020304" pitchFamily="18" charset="0"/>
                          <a:cs typeface="Times New Roman" panose="02020603050405020304" pitchFamily="18" charset="0"/>
                        </a:rPr>
                        <a:t> Inlet Damper not working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19</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Seal pot jamming</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issue with Dust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5"/>
                  </a:ext>
                </a:extLst>
              </a:tr>
              <a:tr h="220050">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chemeClr val="dk1"/>
                          </a:solidFill>
                          <a:effectLst/>
                          <a:latin typeface="Times New Roman" panose="02020603050405020304" pitchFamily="18" charset="0"/>
                          <a:cs typeface="Times New Roman" panose="02020603050405020304" pitchFamily="18" charset="0"/>
                        </a:rPr>
                        <a:t>PDC SDC level sensor not working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Charging crane drive fault</a:t>
                      </a: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6"/>
                  </a:ext>
                </a:extLst>
              </a:tr>
              <a:tr h="421181">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chemeClr val="dk1"/>
                          </a:solidFill>
                          <a:effectLst/>
                          <a:latin typeface="Times New Roman" panose="02020603050405020304" pitchFamily="18" charset="0"/>
                          <a:cs typeface="Times New Roman" panose="02020603050405020304" pitchFamily="18" charset="0"/>
                        </a:rPr>
                        <a:t>Charging Hopper Alignment</a:t>
                      </a:r>
                      <a:r>
                        <a:rPr lang="en-US" sz="1100" b="0" i="0" u="none" strike="noStrike" baseline="0" dirty="0">
                          <a:solidFill>
                            <a:schemeClr val="dk1"/>
                          </a:solidFill>
                          <a:effectLst/>
                          <a:latin typeface="Times New Roman" panose="02020603050405020304" pitchFamily="18" charset="0"/>
                          <a:cs typeface="Times New Roman" panose="02020603050405020304" pitchFamily="18" charset="0"/>
                        </a:rPr>
                        <a:t> issue in Chamber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21</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Gas</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Circulation Fan Drive Fault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7"/>
                  </a:ext>
                </a:extLst>
              </a:tr>
              <a:tr h="220050">
                <a:tc>
                  <a:txBody>
                    <a:bodyPr/>
                    <a:lstStyle/>
                    <a:p>
                      <a:pPr algn="ctr" fontAlgn="ctr"/>
                      <a:r>
                        <a:rPr lang="en-US" sz="1100" b="0" u="none" strike="noStrike" dirty="0">
                          <a:solidFill>
                            <a:schemeClr val="tx1">
                              <a:lumMod val="95000"/>
                              <a:lumOff val="5000"/>
                            </a:schemeClr>
                          </a:solidFill>
                          <a:effectLst/>
                          <a:latin typeface="Times New Roman" panose="02020603050405020304" pitchFamily="18" charset="0"/>
                          <a:cs typeface="Times New Roman" panose="02020603050405020304" pitchFamily="18" charset="0"/>
                        </a:rPr>
                        <a:t>8</a:t>
                      </a:r>
                      <a:endParaRPr lang="en-US" sz="1100" b="0" i="0" u="none" strike="noStrike" dirty="0">
                        <a:solidFill>
                          <a:schemeClr val="tx1">
                            <a:lumMod val="95000"/>
                            <a:lumOff val="5000"/>
                          </a:schemeClr>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Coke Conveyor</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Spillage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22</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I</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D fan drive Fault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8"/>
                  </a:ext>
                </a:extLst>
              </a:tr>
              <a:tr h="421181">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Frequent</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jamming of GDS Hopper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23</a:t>
                      </a:r>
                    </a:p>
                  </a:txBody>
                  <a:tcPr marL="9525" marR="9525" marT="9525" marB="0" anchor="ctr">
                    <a:blipFill dpi="0" rotWithShape="1">
                      <a:blip r:embed="rId2"/>
                      <a:srcRect/>
                      <a:tile tx="0" ty="0" sx="100000" sy="100000" flip="none" algn="tl"/>
                    </a:blip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Bucket Rotation Problem.</a:t>
                      </a: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9"/>
                  </a:ext>
                </a:extLst>
              </a:tr>
              <a:tr h="220050">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1" i="0" u="none" strike="noStrike" baseline="0" dirty="0">
                          <a:solidFill>
                            <a:schemeClr val="tx1"/>
                          </a:solidFill>
                          <a:effectLst/>
                          <a:latin typeface="Times New Roman" panose="02020603050405020304" pitchFamily="18" charset="0"/>
                          <a:cs typeface="Times New Roman" panose="02020603050405020304" pitchFamily="18" charset="0"/>
                        </a:rPr>
                        <a:t>PDC Cooling pipe leakage</a:t>
                      </a:r>
                      <a:endParaRPr lang="en-US" sz="10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QC</a:t>
                      </a: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24</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water seal pot pump trip</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issue</a:t>
                      </a:r>
                      <a:endParaRPr lang="en-US"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p>
                      <a:pPr algn="ctr"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10"/>
                  </a:ext>
                </a:extLst>
              </a:tr>
              <a:tr h="422716">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RSV Dust generation from</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Vibrofeeder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p>
                      <a:pPr algn="ctr"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LOCO bucket</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present indication issue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p>
                      <a:pPr algn="ctr"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11"/>
                  </a:ext>
                </a:extLst>
              </a:tr>
              <a:tr h="220050">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Water</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seal pump failure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a:t>
                      </a: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l" defTabSz="914674" rtl="0" eaLnBrk="1" fontAlgn="auto" latinLnBrk="0" hangingPunct="1">
                        <a:lnSpc>
                          <a:spcPct val="100000"/>
                        </a:lnSpc>
                        <a:spcBef>
                          <a:spcPts val="0"/>
                        </a:spcBef>
                        <a:spcAft>
                          <a:spcPts val="0"/>
                        </a:spcAft>
                        <a:buClrTx/>
                        <a:buSzTx/>
                        <a:buFontTx/>
                        <a:buNone/>
                        <a:tabLst/>
                        <a:defRPr/>
                      </a:pP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a:t>
                      </a:r>
                    </a:p>
                  </a:txBody>
                  <a:tcPr marL="9525" marR="9525" marT="9525" marB="0" anchor="ctr">
                    <a:blipFill dpi="0" rotWithShape="1">
                      <a:blip r:embed="rId2"/>
                      <a:srcRect/>
                      <a:tile tx="0" ty="0" sx="100000" sy="100000" flip="none" algn="tl"/>
                    </a:blipFill>
                  </a:tcPr>
                </a:tc>
                <a:tc>
                  <a:txBody>
                    <a:bodyPr/>
                    <a:lstStyle/>
                    <a:p>
                      <a:pPr algn="ctr"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708841087"/>
                  </a:ext>
                </a:extLst>
              </a:tr>
              <a:tr h="220050">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13</a:t>
                      </a:r>
                    </a:p>
                  </a:txBody>
                  <a:tcPr marL="9525" marR="9525" marT="9525" marB="0" anchor="ctr">
                    <a:blipFill dpi="0" rotWithShape="1">
                      <a:blip r:embed="rId2"/>
                      <a:srcRect/>
                      <a:tile tx="0" ty="0" sx="100000" sy="100000" flip="none" algn="tl"/>
                    </a:blipFill>
                  </a:tcPr>
                </a:tc>
                <a:tc>
                  <a:txBody>
                    <a:bodyPr/>
                    <a:lstStyle/>
                    <a:p>
                      <a:pPr algn="l" rtl="0" fontAlgn="ctr"/>
                      <a:r>
                        <a:rPr lang="en-US" sz="1100" b="0" i="0" u="none" strike="noStrike" dirty="0">
                          <a:solidFill>
                            <a:schemeClr val="dk1"/>
                          </a:solidFill>
                          <a:effectLst/>
                          <a:latin typeface="Times New Roman" panose="02020603050405020304" pitchFamily="18" charset="0"/>
                          <a:cs typeface="Times New Roman" panose="02020603050405020304" pitchFamily="18" charset="0"/>
                        </a:rPr>
                        <a:t>Bucket Elevator tripping</a:t>
                      </a:r>
                      <a:r>
                        <a:rPr lang="en-US" sz="1100" b="0" i="0" u="none" strike="noStrike" baseline="0" dirty="0">
                          <a:solidFill>
                            <a:schemeClr val="dk1"/>
                          </a:solidFill>
                          <a:effectLst/>
                          <a:latin typeface="Times New Roman" panose="02020603050405020304" pitchFamily="18" charset="0"/>
                          <a:cs typeface="Times New Roman" panose="02020603050405020304" pitchFamily="18" charset="0"/>
                        </a:rPr>
                        <a:t> issue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ctr"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12"/>
                  </a:ext>
                </a:extLst>
              </a:tr>
              <a:tr h="421181">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14</a:t>
                      </a:r>
                    </a:p>
                  </a:txBody>
                  <a:tcPr marL="9525" marR="9525" marT="9525" marB="0" anchor="ctr">
                    <a:blipFill dpi="0" rotWithShape="1">
                      <a:blip r:embed="rId2"/>
                      <a:srcRect/>
                      <a:tile tx="0" ty="0" sx="100000" sy="100000" flip="none" algn="tl"/>
                    </a:blip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100" u="none" strike="noStrike" dirty="0">
                          <a:effectLst/>
                          <a:latin typeface="Times New Roman" panose="02020603050405020304" pitchFamily="18" charset="0"/>
                          <a:cs typeface="Times New Roman" panose="02020603050405020304" pitchFamily="18" charset="0"/>
                        </a:rPr>
                        <a: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PDC SDC</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RAV jamming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a:t>
                      </a:r>
                    </a:p>
                  </a:txBody>
                  <a:tcPr marL="9525" marR="9525" marT="9525" marB="0" anchor="ctr">
                    <a:blipFill dpi="0" rotWithShape="1">
                      <a:blip r:embed="rId2"/>
                      <a:srcRect/>
                      <a:tile tx="0" ty="0" sx="100000" sy="100000" flip="none" algn="tl"/>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Kaizen</a:t>
                      </a:r>
                    </a:p>
                  </a:txBody>
                  <a:tcPr marL="9525" marR="9525" marT="9525" marB="0" anchor="ctr">
                    <a:blipFill dpi="0" rotWithShape="1">
                      <a:blip r:embed="rId2"/>
                      <a:srcRect/>
                      <a:tile tx="0" ty="0" sx="100000" sy="100000" flip="none" algn="tl"/>
                    </a:blipFill>
                  </a:tcPr>
                </a:tc>
                <a:tc>
                  <a:txBody>
                    <a:bodyPr/>
                    <a:lstStyle/>
                    <a:p>
                      <a:pPr algn="ctr"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tc>
                  <a:txBody>
                    <a:bodyPr/>
                    <a:lstStyle/>
                    <a:p>
                      <a:pPr algn="l" rtl="0"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940" marR="7940" marT="7940" marB="0" anchor="ctr">
                    <a:blipFill dpi="0" rotWithShape="1">
                      <a:blip r:embed="rId2"/>
                      <a:srcRect/>
                      <a:tile tx="0" ty="0" sx="100000" sy="100000" flip="none" algn="tl"/>
                    </a:blip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a:t>
                      </a:r>
                    </a:p>
                  </a:txBody>
                  <a:tcPr marL="9525" marR="9525" marT="9525" marB="0" anchor="ctr">
                    <a:blipFill dpi="0" rotWithShape="1">
                      <a:blip r:embed="rId2"/>
                      <a:srcRect/>
                      <a:tile tx="0" ty="0" sx="100000" sy="100000" flip="none" algn="tl"/>
                    </a:blipFill>
                  </a:tcPr>
                </a:tc>
                <a:tc>
                  <a:txBody>
                    <a:bodyPr/>
                    <a:lstStyle/>
                    <a:p>
                      <a:pPr algn="ctr"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651581526"/>
                  </a:ext>
                </a:extLst>
              </a:tr>
            </a:tbl>
          </a:graphicData>
        </a:graphic>
      </p:graphicFrame>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54748" y="1"/>
            <a:ext cx="1077501" cy="1082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txBox="1">
            <a:spLocks/>
          </p:cNvSpPr>
          <p:nvPr/>
        </p:nvSpPr>
        <p:spPr>
          <a:xfrm>
            <a:off x="1316744" y="805137"/>
            <a:ext cx="9532408" cy="482272"/>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a:noAutofit/>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fontAlgn="ctr"/>
            <a:r>
              <a:rPr lang="en-US" sz="2800" dirty="0">
                <a:solidFill>
                  <a:srgbClr val="002060"/>
                </a:solidFill>
                <a:latin typeface="Times New Roman" panose="02020603050405020304" pitchFamily="18" charset="0"/>
                <a:cs typeface="Times New Roman" panose="02020603050405020304" pitchFamily="18" charset="0"/>
              </a:rPr>
              <a:t>BRAINSTROMING (A/B/C Analysis)</a:t>
            </a:r>
          </a:p>
        </p:txBody>
      </p:sp>
      <p:sp>
        <p:nvSpPr>
          <p:cNvPr id="6" name="TextBox 1"/>
          <p:cNvSpPr txBox="1">
            <a:spLocks noChangeArrowheads="1"/>
          </p:cNvSpPr>
          <p:nvPr/>
        </p:nvSpPr>
        <p:spPr bwMode="auto">
          <a:xfrm>
            <a:off x="3801092" y="373868"/>
            <a:ext cx="4332913" cy="272389"/>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sp>
        <p:nvSpPr>
          <p:cNvPr id="8" name="Rectangle 7"/>
          <p:cNvSpPr/>
          <p:nvPr/>
        </p:nvSpPr>
        <p:spPr>
          <a:xfrm>
            <a:off x="0" y="6488668"/>
            <a:ext cx="2167603" cy="376788"/>
          </a:xfrm>
          <a:prstGeom prst="rect">
            <a:avLst/>
          </a:prstGeom>
        </p:spPr>
        <p:txBody>
          <a:bodyPr wrap="square">
            <a:spAutoFit/>
          </a:bodyPr>
          <a:lstStyle/>
          <a:p>
            <a:r>
              <a:rPr lang="en-IN" dirty="0">
                <a:solidFill>
                  <a:schemeClr val="tx2">
                    <a:lumMod val="75000"/>
                  </a:schemeClr>
                </a:solidFill>
              </a:rPr>
              <a:t>JSW Steel Ltd, Dolvi</a:t>
            </a:r>
            <a:endParaRPr lang="en-US" dirty="0"/>
          </a:p>
        </p:txBody>
      </p:sp>
    </p:spTree>
    <p:extLst>
      <p:ext uri="{BB962C8B-B14F-4D97-AF65-F5344CB8AC3E}">
        <p14:creationId xmlns:p14="http://schemas.microsoft.com/office/powerpoint/2010/main" val="2225610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413504333"/>
              </p:ext>
            </p:extLst>
          </p:nvPr>
        </p:nvGraphicFramePr>
        <p:xfrm>
          <a:off x="665925" y="1608633"/>
          <a:ext cx="10606134" cy="4485914"/>
        </p:xfrm>
        <a:graphic>
          <a:graphicData uri="http://schemas.openxmlformats.org/drawingml/2006/table">
            <a:tbl>
              <a:tblPr firstRow="1">
                <a:tableStyleId>{35758FB7-9AC5-4552-8A53-C91805E547FA}</a:tableStyleId>
              </a:tblPr>
              <a:tblGrid>
                <a:gridCol w="358978">
                  <a:extLst>
                    <a:ext uri="{9D8B030D-6E8A-4147-A177-3AD203B41FA5}">
                      <a16:colId xmlns:a16="http://schemas.microsoft.com/office/drawing/2014/main" val="20000"/>
                    </a:ext>
                  </a:extLst>
                </a:gridCol>
                <a:gridCol w="3206275">
                  <a:extLst>
                    <a:ext uri="{9D8B030D-6E8A-4147-A177-3AD203B41FA5}">
                      <a16:colId xmlns:a16="http://schemas.microsoft.com/office/drawing/2014/main" val="20001"/>
                    </a:ext>
                  </a:extLst>
                </a:gridCol>
                <a:gridCol w="1388226">
                  <a:extLst>
                    <a:ext uri="{9D8B030D-6E8A-4147-A177-3AD203B41FA5}">
                      <a16:colId xmlns:a16="http://schemas.microsoft.com/office/drawing/2014/main" val="20002"/>
                    </a:ext>
                  </a:extLst>
                </a:gridCol>
                <a:gridCol w="997527">
                  <a:extLst>
                    <a:ext uri="{9D8B030D-6E8A-4147-A177-3AD203B41FA5}">
                      <a16:colId xmlns:a16="http://schemas.microsoft.com/office/drawing/2014/main" val="20003"/>
                    </a:ext>
                  </a:extLst>
                </a:gridCol>
                <a:gridCol w="658306">
                  <a:extLst>
                    <a:ext uri="{9D8B030D-6E8A-4147-A177-3AD203B41FA5}">
                      <a16:colId xmlns:a16="http://schemas.microsoft.com/office/drawing/2014/main" val="20004"/>
                    </a:ext>
                  </a:extLst>
                </a:gridCol>
                <a:gridCol w="666137">
                  <a:extLst>
                    <a:ext uri="{9D8B030D-6E8A-4147-A177-3AD203B41FA5}">
                      <a16:colId xmlns:a16="http://schemas.microsoft.com/office/drawing/2014/main" val="20005"/>
                    </a:ext>
                  </a:extLst>
                </a:gridCol>
                <a:gridCol w="666137">
                  <a:extLst>
                    <a:ext uri="{9D8B030D-6E8A-4147-A177-3AD203B41FA5}">
                      <a16:colId xmlns:a16="http://schemas.microsoft.com/office/drawing/2014/main" val="20006"/>
                    </a:ext>
                  </a:extLst>
                </a:gridCol>
                <a:gridCol w="666137">
                  <a:extLst>
                    <a:ext uri="{9D8B030D-6E8A-4147-A177-3AD203B41FA5}">
                      <a16:colId xmlns:a16="http://schemas.microsoft.com/office/drawing/2014/main" val="20007"/>
                    </a:ext>
                  </a:extLst>
                </a:gridCol>
                <a:gridCol w="666137">
                  <a:extLst>
                    <a:ext uri="{9D8B030D-6E8A-4147-A177-3AD203B41FA5}">
                      <a16:colId xmlns:a16="http://schemas.microsoft.com/office/drawing/2014/main" val="20008"/>
                    </a:ext>
                  </a:extLst>
                </a:gridCol>
                <a:gridCol w="666137">
                  <a:extLst>
                    <a:ext uri="{9D8B030D-6E8A-4147-A177-3AD203B41FA5}">
                      <a16:colId xmlns:a16="http://schemas.microsoft.com/office/drawing/2014/main" val="20009"/>
                    </a:ext>
                  </a:extLst>
                </a:gridCol>
                <a:gridCol w="666137">
                  <a:extLst>
                    <a:ext uri="{9D8B030D-6E8A-4147-A177-3AD203B41FA5}">
                      <a16:colId xmlns:a16="http://schemas.microsoft.com/office/drawing/2014/main" val="20010"/>
                    </a:ext>
                  </a:extLst>
                </a:gridCol>
              </a:tblGrid>
              <a:tr h="913101">
                <a:tc rowSpan="2">
                  <a:txBody>
                    <a:bodyPr/>
                    <a:lstStyle/>
                    <a:p>
                      <a:pPr marL="0" algn="ctr" defTabSz="914674" rtl="0" eaLnBrk="1" fontAlgn="ctr" latinLnBrk="0" hangingPunct="1"/>
                      <a:r>
                        <a:rPr lang="en-US" sz="1400" u="none" strike="noStrike" kern="1200" dirty="0">
                          <a:solidFill>
                            <a:schemeClr val="tx1"/>
                          </a:solidFill>
                          <a:effectLst/>
                        </a:rPr>
                        <a:t>Sl.no.</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rowSpan="2">
                  <a:txBody>
                    <a:bodyPr/>
                    <a:lstStyle/>
                    <a:p>
                      <a:pPr marL="0" algn="ctr" defTabSz="914674" rtl="0" eaLnBrk="1" fontAlgn="ctr" latinLnBrk="0" hangingPunct="1"/>
                      <a:r>
                        <a:rPr lang="en-US" sz="1400" u="none" strike="noStrike" kern="1200" dirty="0">
                          <a:solidFill>
                            <a:schemeClr val="tx1"/>
                          </a:solidFill>
                          <a:effectLst/>
                        </a:rPr>
                        <a:t>LIST OF PROBLEM</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rowSpan="2">
                  <a:txBody>
                    <a:bodyPr/>
                    <a:lstStyle/>
                    <a:p>
                      <a:pPr marL="0" algn="ctr" defTabSz="914674" rtl="0" eaLnBrk="1" fontAlgn="ctr" latinLnBrk="0" hangingPunct="1"/>
                      <a:r>
                        <a:rPr lang="en-US" sz="1400" u="none" strike="noStrike" kern="1200" dirty="0">
                          <a:solidFill>
                            <a:schemeClr val="tx1"/>
                          </a:solidFill>
                          <a:effectLst/>
                        </a:rPr>
                        <a:t>Category A</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rowSpan="2">
                  <a:txBody>
                    <a:bodyPr/>
                    <a:lstStyle/>
                    <a:p>
                      <a:pPr marL="0" algn="ctr" defTabSz="914674" rtl="0" eaLnBrk="1" fontAlgn="ctr" latinLnBrk="0" hangingPunct="1"/>
                      <a:r>
                        <a:rPr lang="en-US" sz="1400" u="none" strike="noStrike" kern="1200" dirty="0">
                          <a:solidFill>
                            <a:schemeClr val="tx1"/>
                          </a:solidFill>
                          <a:effectLst/>
                        </a:rPr>
                        <a:t>QC /Kaizen</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gridSpan="7">
                  <a:txBody>
                    <a:bodyPr/>
                    <a:lstStyle/>
                    <a:p>
                      <a:pPr marL="0" algn="ctr" defTabSz="914674" rtl="0" eaLnBrk="1" fontAlgn="ctr" latinLnBrk="0" hangingPunct="1"/>
                      <a:r>
                        <a:rPr lang="en-US" sz="1400" u="none" strike="noStrike" kern="1200" dirty="0">
                          <a:solidFill>
                            <a:schemeClr val="tx1"/>
                          </a:solidFill>
                          <a:effectLst/>
                        </a:rPr>
                        <a:t>IMPACT </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84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algn="ctr" defTabSz="914674" rtl="0" eaLnBrk="1" fontAlgn="ctr" latinLnBrk="0" hangingPunct="1"/>
                      <a:r>
                        <a:rPr lang="en-US" sz="1400" u="none" strike="noStrike" kern="1200" dirty="0">
                          <a:solidFill>
                            <a:schemeClr val="tx1"/>
                          </a:solidFill>
                          <a:effectLst/>
                        </a:rPr>
                        <a:t>P</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a:txBody>
                    <a:bodyPr/>
                    <a:lstStyle/>
                    <a:p>
                      <a:pPr marL="0" algn="ctr" defTabSz="914674" rtl="0" eaLnBrk="1" fontAlgn="ctr" latinLnBrk="0" hangingPunct="1"/>
                      <a:r>
                        <a:rPr lang="en-US" sz="1400" u="none" strike="noStrike" kern="1200" dirty="0">
                          <a:solidFill>
                            <a:schemeClr val="tx1"/>
                          </a:solidFill>
                          <a:effectLst/>
                        </a:rPr>
                        <a:t>Q</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a:txBody>
                    <a:bodyPr/>
                    <a:lstStyle/>
                    <a:p>
                      <a:pPr marL="0" algn="ctr" defTabSz="914674" rtl="0" eaLnBrk="1" fontAlgn="ctr" latinLnBrk="0" hangingPunct="1"/>
                      <a:r>
                        <a:rPr lang="en-US" sz="1400" u="none" strike="noStrike" kern="1200" dirty="0">
                          <a:solidFill>
                            <a:schemeClr val="tx1"/>
                          </a:solidFill>
                          <a:effectLst/>
                        </a:rPr>
                        <a:t>C</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a:txBody>
                    <a:bodyPr/>
                    <a:lstStyle/>
                    <a:p>
                      <a:pPr marL="0" algn="ctr" defTabSz="914674" rtl="0" eaLnBrk="1" fontAlgn="ctr" latinLnBrk="0" hangingPunct="1"/>
                      <a:r>
                        <a:rPr lang="en-US" sz="1400" u="none" strike="noStrike" kern="1200" dirty="0">
                          <a:solidFill>
                            <a:schemeClr val="tx1"/>
                          </a:solidFill>
                          <a:effectLst/>
                        </a:rPr>
                        <a:t>D</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a:txBody>
                    <a:bodyPr/>
                    <a:lstStyle/>
                    <a:p>
                      <a:pPr marL="0" algn="ctr" defTabSz="914674" rtl="0" eaLnBrk="1" fontAlgn="ctr" latinLnBrk="0" hangingPunct="1"/>
                      <a:r>
                        <a:rPr lang="en-US" sz="1400" u="none" strike="noStrike" kern="1200" dirty="0">
                          <a:solidFill>
                            <a:schemeClr val="tx1"/>
                          </a:solidFill>
                          <a:effectLst/>
                        </a:rPr>
                        <a:t>M</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a:txBody>
                    <a:bodyPr/>
                    <a:lstStyle/>
                    <a:p>
                      <a:pPr marL="0" algn="ctr" defTabSz="914674" rtl="0" eaLnBrk="1" fontAlgn="ctr" latinLnBrk="0" hangingPunct="1"/>
                      <a:r>
                        <a:rPr lang="en-US" sz="1400" u="none" strike="noStrike" kern="1200" dirty="0">
                          <a:solidFill>
                            <a:schemeClr val="tx1"/>
                          </a:solidFill>
                          <a:effectLst/>
                        </a:rPr>
                        <a:t>E</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tc>
                  <a:txBody>
                    <a:bodyPr/>
                    <a:lstStyle/>
                    <a:p>
                      <a:pPr marL="0" algn="ctr" defTabSz="914674" rtl="0" eaLnBrk="1" fontAlgn="ctr" latinLnBrk="0" hangingPunct="1"/>
                      <a:r>
                        <a:rPr lang="en-US" sz="1400" u="none" strike="noStrike" kern="1200" dirty="0">
                          <a:solidFill>
                            <a:schemeClr val="tx1"/>
                          </a:solidFill>
                          <a:effectLst/>
                        </a:rPr>
                        <a:t>S</a:t>
                      </a:r>
                      <a:endParaRPr lang="en-US" sz="1400" b="1" u="none" strike="noStrike" kern="1200" dirty="0">
                        <a:solidFill>
                          <a:schemeClr val="tx1"/>
                        </a:solidFill>
                        <a:effectLst/>
                        <a:latin typeface="+mn-lt"/>
                        <a:ea typeface="+mn-ea"/>
                        <a:cs typeface="+mn-cs"/>
                      </a:endParaRPr>
                    </a:p>
                  </a:txBody>
                  <a:tcPr marL="9525" marR="9525" marT="9525" marB="0" anchor="ctr">
                    <a:lnL w="12700" cap="flat" cmpd="sng" algn="ctr">
                      <a:solidFill>
                        <a:srgbClr val="F6F6F6"/>
                      </a:solidFill>
                      <a:prstDash val="solid"/>
                      <a:round/>
                      <a:headEnd type="none" w="med" len="med"/>
                      <a:tailEnd type="none" w="med" len="med"/>
                    </a:lnL>
                    <a:lnR w="12700" cap="flat" cmpd="sng" algn="ctr">
                      <a:solidFill>
                        <a:srgbClr val="F6F6F6"/>
                      </a:solidFill>
                      <a:prstDash val="solid"/>
                      <a:round/>
                      <a:headEnd type="none" w="med" len="med"/>
                      <a:tailEnd type="none" w="med" len="med"/>
                    </a:lnR>
                    <a:lnT w="12700" cap="flat" cmpd="sng" algn="ctr">
                      <a:solidFill>
                        <a:srgbClr val="F6F6F6"/>
                      </a:solidFill>
                      <a:prstDash val="solid"/>
                      <a:round/>
                      <a:headEnd type="none" w="med" len="med"/>
                      <a:tailEnd type="none" w="med" len="med"/>
                    </a:lnT>
                    <a:lnB w="12700" cap="flat" cmpd="sng" algn="ctr">
                      <a:solidFill>
                        <a:srgbClr val="F6F6F6"/>
                      </a:solidFill>
                      <a:prstDash val="solid"/>
                      <a:round/>
                      <a:headEnd type="none" w="med" len="med"/>
                      <a:tailEnd type="none" w="med" len="med"/>
                    </a:lnB>
                    <a:blipFill dpi="0" rotWithShape="1">
                      <a:blip r:embed="rId2">
                        <a:alphaModFix amt="61000"/>
                      </a:blip>
                      <a:srcRect/>
                      <a:tile tx="0" ty="0" sx="100000" sy="100000" flip="none" algn="tl"/>
                    </a:blipFill>
                  </a:tcPr>
                </a:tc>
                <a:extLst>
                  <a:ext uri="{0D108BD9-81ED-4DB2-BD59-A6C34878D82A}">
                    <a16:rowId xmlns:a16="http://schemas.microsoft.com/office/drawing/2014/main" val="10001"/>
                  </a:ext>
                </a:extLst>
              </a:tr>
              <a:tr h="456551">
                <a:tc>
                  <a:txBody>
                    <a:bodyPr/>
                    <a:lstStyle/>
                    <a:p>
                      <a:pPr algn="ctr" fontAlgn="ctr"/>
                      <a:r>
                        <a:rPr lang="en-US" sz="1400" b="0" i="0" u="none" strike="noStrike" dirty="0">
                          <a:solidFill>
                            <a:srgbClr val="000000"/>
                          </a:solidFill>
                          <a:effectLst/>
                          <a:latin typeface="+mn-lt"/>
                        </a:rPr>
                        <a:t>1</a:t>
                      </a: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400" u="none" strike="noStrike" dirty="0">
                          <a:effectLst/>
                          <a:latin typeface="+mn-lt"/>
                        </a:rPr>
                        <a:t>RSV Trip for</a:t>
                      </a:r>
                      <a:r>
                        <a:rPr lang="en-US" sz="1400" u="none" strike="noStrike" baseline="0" dirty="0">
                          <a:effectLst/>
                          <a:latin typeface="+mn-lt"/>
                        </a:rPr>
                        <a:t> Liner</a:t>
                      </a:r>
                      <a:endParaRPr lang="en-US" sz="1400" b="0" i="0" u="none" strike="noStrike" dirty="0">
                        <a:solidFill>
                          <a:srgbClr val="000000"/>
                        </a:solidFill>
                        <a:effectLst/>
                        <a:latin typeface="+mn-lt"/>
                      </a:endParaRP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ctr"/>
                      <a:r>
                        <a:rPr lang="en-US" sz="1400" u="none" strike="noStrike" dirty="0">
                          <a:effectLst/>
                          <a:latin typeface="+mn-lt"/>
                        </a:rPr>
                        <a:t>A</a:t>
                      </a:r>
                      <a:endParaRPr lang="en-US" sz="1400" b="0" i="0" u="none" strike="noStrike" dirty="0">
                        <a:solidFill>
                          <a:srgbClr val="000000"/>
                        </a:solidFill>
                        <a:effectLst/>
                        <a:latin typeface="+mn-lt"/>
                      </a:endParaRP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r>
                        <a:rPr lang="en-US" sz="1400" u="none" strike="noStrike" dirty="0">
                          <a:effectLst/>
                          <a:latin typeface="+mn-lt"/>
                        </a:rPr>
                        <a:t>QC</a:t>
                      </a:r>
                      <a:endParaRPr lang="en-US" sz="1400" b="0" i="0" u="none" strike="noStrike" dirty="0">
                        <a:solidFill>
                          <a:srgbClr val="000000"/>
                        </a:solidFill>
                        <a:effectLst/>
                        <a:latin typeface="+mn-lt"/>
                      </a:endParaRP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P</a:t>
                      </a: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Q</a:t>
                      </a: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C</a:t>
                      </a: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S</a:t>
                      </a:r>
                    </a:p>
                  </a:txBody>
                  <a:tcPr marL="9525" marR="9525" marT="9525" marB="0" anchor="ctr">
                    <a:lnT w="12700" cap="flat" cmpd="sng" algn="ctr">
                      <a:solidFill>
                        <a:srgbClr val="F6F6F6"/>
                      </a:solidFill>
                      <a:prstDash val="solid"/>
                      <a:round/>
                      <a:headEnd type="none" w="med" len="med"/>
                      <a:tailEnd type="none" w="med" len="med"/>
                    </a:lnT>
                    <a:blipFill dpi="0" rotWithShape="1">
                      <a:blip r:embed="rId2"/>
                      <a:srcRect/>
                      <a:tile tx="0" ty="0" sx="100000" sy="100000" flip="none" algn="tl"/>
                    </a:blipFill>
                  </a:tcPr>
                </a:tc>
                <a:extLst>
                  <a:ext uri="{0D108BD9-81ED-4DB2-BD59-A6C34878D82A}">
                    <a16:rowId xmlns:a16="http://schemas.microsoft.com/office/drawing/2014/main" val="10002"/>
                  </a:ext>
                </a:extLst>
              </a:tr>
              <a:tr h="529690">
                <a:tc>
                  <a:txBody>
                    <a:bodyPr/>
                    <a:lstStyle/>
                    <a:p>
                      <a:pPr algn="ctr" fontAlgn="ctr"/>
                      <a:r>
                        <a:rPr lang="en-US" sz="1400" b="0" i="0" u="none" strike="noStrike" dirty="0">
                          <a:solidFill>
                            <a:schemeClr val="dk1"/>
                          </a:solidFill>
                          <a:effectLst/>
                          <a:latin typeface="+mn-lt"/>
                        </a:rPr>
                        <a:t>2</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marL="0" marR="0" indent="0" algn="l" defTabSz="914674" rtl="0" eaLnBrk="1" fontAlgn="b" latinLnBrk="0" hangingPunct="1">
                        <a:lnSpc>
                          <a:spcPct val="100000"/>
                        </a:lnSpc>
                        <a:spcBef>
                          <a:spcPts val="0"/>
                        </a:spcBef>
                        <a:spcAft>
                          <a:spcPts val="0"/>
                        </a:spcAft>
                        <a:buClrTx/>
                        <a:buSzTx/>
                        <a:buFontTx/>
                        <a:buNone/>
                        <a:tabLst/>
                        <a:defRPr/>
                      </a:pPr>
                      <a:r>
                        <a:rPr lang="en-US" sz="1400" u="none" strike="noStrike" dirty="0">
                          <a:effectLst/>
                          <a:latin typeface="+mn-lt"/>
                        </a:rPr>
                        <a:t>Nitrogen Consumption High than Design</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ctr"/>
                      <a:r>
                        <a:rPr lang="en-US" sz="1400" u="none" strike="noStrike" dirty="0">
                          <a:effectLst/>
                          <a:latin typeface="+mn-lt"/>
                        </a:rPr>
                        <a:t>A</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u="none" strike="noStrike" dirty="0">
                          <a:effectLst/>
                          <a:latin typeface="+mn-lt"/>
                        </a:rPr>
                        <a:t>QC</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Q</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C</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3"/>
                  </a:ext>
                </a:extLst>
              </a:tr>
              <a:tr h="217685">
                <a:tc>
                  <a:txBody>
                    <a:bodyPr/>
                    <a:lstStyle/>
                    <a:p>
                      <a:pPr algn="ctr" fontAlgn="ctr"/>
                      <a:r>
                        <a:rPr lang="en-US" sz="1400" b="0" i="0" u="none" strike="noStrike" dirty="0">
                          <a:solidFill>
                            <a:srgbClr val="000000"/>
                          </a:solidFill>
                          <a:effectLst/>
                          <a:latin typeface="+mn-lt"/>
                        </a:rPr>
                        <a:t>10</a:t>
                      </a:r>
                    </a:p>
                  </a:txBody>
                  <a:tcPr marL="9525" marR="9525" marT="9525" marB="0" anchor="ctr">
                    <a:blipFill dpi="0" rotWithShape="1">
                      <a:blip r:embed="rId2"/>
                      <a:srcRect/>
                      <a:tile tx="0" ty="0" sx="100000" sy="100000" flip="none" algn="tl"/>
                    </a:blipFill>
                  </a:tcPr>
                </a:tc>
                <a:tc>
                  <a:txBody>
                    <a:bodyPr/>
                    <a:lstStyle/>
                    <a:p>
                      <a:pPr marL="0" marR="0" indent="0" algn="l" defTabSz="914674" rtl="0" eaLnBrk="1" fontAlgn="b" latinLnBrk="0" hangingPunct="1">
                        <a:lnSpc>
                          <a:spcPct val="100000"/>
                        </a:lnSpc>
                        <a:spcBef>
                          <a:spcPts val="0"/>
                        </a:spcBef>
                        <a:spcAft>
                          <a:spcPts val="0"/>
                        </a:spcAft>
                        <a:buClrTx/>
                        <a:buSzTx/>
                        <a:buFontTx/>
                        <a:buNone/>
                        <a:tabLst/>
                        <a:defRPr/>
                      </a:pPr>
                      <a:endParaRPr lang="en-US" sz="1400" b="1" i="0" u="none" strike="noStrike" baseline="0" dirty="0">
                        <a:solidFill>
                          <a:schemeClr val="tx1"/>
                        </a:solidFill>
                        <a:effectLst/>
                        <a:latin typeface="Times New Roman" panose="02020603050405020304" pitchFamily="18" charset="0"/>
                        <a:cs typeface="Times New Roman" panose="02020603050405020304" pitchFamily="18" charset="0"/>
                      </a:endParaRPr>
                    </a:p>
                    <a:p>
                      <a:pPr marL="0" marR="0" indent="0" algn="l" defTabSz="914674" rtl="0" eaLnBrk="1" fontAlgn="b" latinLnBrk="0" hangingPunct="1">
                        <a:lnSpc>
                          <a:spcPct val="100000"/>
                        </a:lnSpc>
                        <a:spcBef>
                          <a:spcPts val="0"/>
                        </a:spcBef>
                        <a:spcAft>
                          <a:spcPts val="0"/>
                        </a:spcAft>
                        <a:buClrTx/>
                        <a:buSzTx/>
                        <a:buFontTx/>
                        <a:buNone/>
                        <a:tabLst/>
                        <a:defRPr/>
                      </a:pPr>
                      <a:r>
                        <a:rPr lang="en-US" sz="1400" b="1" i="0" u="none" strike="noStrike" baseline="0" dirty="0">
                          <a:solidFill>
                            <a:schemeClr val="tx1"/>
                          </a:solidFill>
                          <a:effectLst/>
                          <a:latin typeface="Times New Roman" panose="02020603050405020304" pitchFamily="18" charset="0"/>
                          <a:cs typeface="Times New Roman" panose="02020603050405020304" pitchFamily="18" charset="0"/>
                        </a:rPr>
                        <a:t>PDC Cooling pipe leakage</a:t>
                      </a:r>
                      <a:endParaRPr lang="en-US" sz="1100" b="1" i="0" u="none" strike="noStrike" dirty="0">
                        <a:solidFill>
                          <a:schemeClr val="tx1"/>
                        </a:solidFill>
                        <a:effectLst/>
                        <a:latin typeface="Times New Roman" panose="02020603050405020304" pitchFamily="18" charset="0"/>
                        <a:cs typeface="Times New Roman" panose="02020603050405020304" pitchFamily="18" charset="0"/>
                      </a:endParaRPr>
                    </a:p>
                    <a:p>
                      <a:pPr marL="0" marR="0" indent="0" algn="l" defTabSz="914674"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ctr"/>
                      <a:r>
                        <a:rPr lang="en-US" sz="1400" b="0" i="0" u="none" strike="noStrike" dirty="0">
                          <a:solidFill>
                            <a:srgbClr val="000000"/>
                          </a:solidFill>
                          <a:effectLst/>
                          <a:latin typeface="+mn-lt"/>
                        </a:rPr>
                        <a:t>A</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000000"/>
                          </a:solidFill>
                          <a:effectLst/>
                          <a:latin typeface="+mn-lt"/>
                        </a:rPr>
                        <a:t>QC</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P</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C</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D</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E</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S</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897286156"/>
                  </a:ext>
                </a:extLst>
              </a:tr>
              <a:tr h="529690">
                <a:tc>
                  <a:txBody>
                    <a:bodyPr/>
                    <a:lstStyle/>
                    <a:p>
                      <a:pPr algn="ctr" fontAlgn="ctr"/>
                      <a:r>
                        <a:rPr lang="en-US" sz="1400" b="0" i="0" u="none" strike="noStrike" dirty="0">
                          <a:solidFill>
                            <a:srgbClr val="000000"/>
                          </a:solidFill>
                          <a:effectLst/>
                          <a:latin typeface="+mn-lt"/>
                        </a:rPr>
                        <a:t>15</a:t>
                      </a:r>
                    </a:p>
                  </a:txBody>
                  <a:tcPr marL="9525" marR="9525" marT="9525" marB="0" anchor="ctr">
                    <a:blipFill dpi="0" rotWithShape="1">
                      <a:blip r:embed="rId2"/>
                      <a:srcRect/>
                      <a:tile tx="0" ty="0" sx="100000" sy="100000" flip="none" algn="tl"/>
                    </a:blip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Radar</a:t>
                      </a:r>
                      <a:r>
                        <a:rPr lang="en-US" sz="1400" b="0" i="0" u="none" strike="noStrike" baseline="0" dirty="0">
                          <a:solidFill>
                            <a:srgbClr val="000000"/>
                          </a:solidFill>
                          <a:effectLst/>
                          <a:latin typeface="+mn-lt"/>
                        </a:rPr>
                        <a:t> sensor Malfunctioning</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ctr"/>
                      <a:r>
                        <a:rPr lang="en-US" sz="1400" b="0" i="0" u="none" strike="noStrike" dirty="0">
                          <a:solidFill>
                            <a:srgbClr val="000000"/>
                          </a:solidFill>
                          <a:effectLst/>
                          <a:latin typeface="+mn-lt"/>
                        </a:rPr>
                        <a:t>A</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000000"/>
                          </a:solidFill>
                          <a:effectLst/>
                          <a:latin typeface="+mn-lt"/>
                        </a:rPr>
                        <a:t>QC</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P</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S</a:t>
                      </a: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971036666"/>
                  </a:ext>
                </a:extLst>
              </a:tr>
              <a:tr h="409353">
                <a:tc>
                  <a:txBody>
                    <a:bodyPr/>
                    <a:lstStyle/>
                    <a:p>
                      <a:pPr algn="ctr" fontAlgn="ctr"/>
                      <a:r>
                        <a:rPr lang="en-US" sz="1400" u="none" strike="noStrike" dirty="0">
                          <a:effectLst/>
                        </a:rPr>
                        <a:t>17</a:t>
                      </a:r>
                      <a:endParaRPr lang="en-US" sz="1400" b="0" i="0" u="none" strike="noStrike" dirty="0">
                        <a:solidFill>
                          <a:srgbClr val="000000"/>
                        </a:solidFill>
                        <a:effectLst/>
                        <a:latin typeface="Calibri" panose="020F0502020204030204" pitchFamily="34" charset="0"/>
                      </a:endParaRPr>
                    </a:p>
                  </a:txBody>
                  <a:tcPr marL="9525" marR="9525" marT="9525" marB="0" anchor="ctr">
                    <a:blipFill dpi="0" rotWithShape="1">
                      <a:blip r:embed="rId2"/>
                      <a:srcRect/>
                      <a:tile tx="0" ty="0" sx="100000" sy="100000" flip="none" algn="tl"/>
                    </a:blip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chemeClr val="dk1"/>
                          </a:solidFill>
                          <a:effectLst/>
                          <a:latin typeface="+mn-lt"/>
                        </a:rPr>
                        <a:t>GDS discharge</a:t>
                      </a:r>
                      <a:r>
                        <a:rPr lang="en-US" sz="1400" b="0" i="0" u="none" strike="noStrike" baseline="0" dirty="0">
                          <a:solidFill>
                            <a:schemeClr val="dk1"/>
                          </a:solidFill>
                          <a:effectLst/>
                          <a:latin typeface="+mn-lt"/>
                        </a:rPr>
                        <a:t> cylinder issue</a:t>
                      </a:r>
                      <a:endParaRPr lang="en-US" sz="1400" b="0" i="0" u="none" strike="noStrike" dirty="0">
                        <a:solidFill>
                          <a:srgbClr val="000000"/>
                        </a:solidFill>
                        <a:effectLst/>
                        <a:latin typeface="+mn-lt"/>
                      </a:endParaRPr>
                    </a:p>
                  </a:txBody>
                  <a:tcPr marL="7940" marR="7940" marT="7940" marB="0" anchor="ctr">
                    <a:blipFill dpi="0" rotWithShape="1">
                      <a:blip r:embed="rId2"/>
                      <a:srcRect/>
                      <a:tile tx="0" ty="0" sx="100000" sy="100000" flip="none" algn="tl"/>
                    </a:blipFill>
                  </a:tcPr>
                </a:tc>
                <a:tc>
                  <a:txBody>
                    <a:bodyPr/>
                    <a:lstStyle/>
                    <a:p>
                      <a:pPr algn="ctr" fontAlgn="ctr"/>
                      <a:r>
                        <a:rPr lang="en-US" sz="1400" b="0" i="0" u="none" strike="noStrike" dirty="0">
                          <a:solidFill>
                            <a:srgbClr val="000000"/>
                          </a:solidFill>
                          <a:effectLst/>
                          <a:latin typeface="+mn-lt"/>
                        </a:rPr>
                        <a:t>A</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000000"/>
                          </a:solidFill>
                          <a:effectLst/>
                          <a:latin typeface="+mn-lt"/>
                        </a:rPr>
                        <a:t>QC</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Q</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D</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M</a:t>
                      </a: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E</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2387467991"/>
                  </a:ext>
                </a:extLst>
              </a:tr>
              <a:tr h="318488">
                <a:tc>
                  <a:txBody>
                    <a:bodyPr/>
                    <a:lstStyle/>
                    <a:p>
                      <a:pPr algn="ctr" fontAlgn="ctr"/>
                      <a:r>
                        <a:rPr lang="en-US" sz="1400" b="0" i="0" u="none" strike="noStrike" dirty="0">
                          <a:solidFill>
                            <a:schemeClr val="dk1"/>
                          </a:solidFill>
                          <a:effectLst/>
                          <a:latin typeface="+mn-lt"/>
                        </a:rPr>
                        <a:t>20</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marL="0" marR="0" indent="0" algn="l" defTabSz="914674"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Charging crane drive fault</a:t>
                      </a:r>
                    </a:p>
                  </a:txBody>
                  <a:tcPr marL="9525" marR="9525" marT="9525" marB="0" anchor="ctr">
                    <a:blipFill dpi="0" rotWithShape="1">
                      <a:blip r:embed="rId2"/>
                      <a:srcRect/>
                      <a:tile tx="0" ty="0" sx="100000" sy="100000" flip="none" algn="tl"/>
                    </a:blipFill>
                  </a:tcPr>
                </a:tc>
                <a:tc>
                  <a:txBody>
                    <a:bodyPr/>
                    <a:lstStyle/>
                    <a:p>
                      <a:pPr algn="ctr" fontAlgn="ctr"/>
                      <a:r>
                        <a:rPr lang="en-US" sz="1400" u="none" strike="noStrike" dirty="0">
                          <a:effectLst/>
                          <a:latin typeface="+mn-lt"/>
                        </a:rPr>
                        <a:t>A</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u="none" strike="noStrike" dirty="0">
                          <a:effectLst/>
                          <a:latin typeface="+mn-lt"/>
                        </a:rPr>
                        <a:t>QC</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P</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b="0" i="0" u="none" strike="noStrike" dirty="0">
                          <a:solidFill>
                            <a:srgbClr val="FF0000"/>
                          </a:solidFill>
                          <a:effectLst/>
                          <a:latin typeface="+mn-lt"/>
                        </a:rPr>
                        <a:t>M</a:t>
                      </a: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4"/>
                  </a:ext>
                </a:extLst>
              </a:tr>
              <a:tr h="456551">
                <a:tc>
                  <a:txBody>
                    <a:bodyPr/>
                    <a:lstStyle/>
                    <a:p>
                      <a:pPr algn="ctr" fontAlgn="ctr"/>
                      <a:r>
                        <a:rPr lang="en-US" sz="1400" b="0" i="0" u="none" strike="noStrike" dirty="0">
                          <a:solidFill>
                            <a:schemeClr val="dk1"/>
                          </a:solidFill>
                          <a:effectLst/>
                          <a:latin typeface="+mn-lt"/>
                        </a:rPr>
                        <a:t>23</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marL="0" marR="0" indent="0" algn="l" defTabSz="914674"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Bucket Rotation Problem.</a:t>
                      </a:r>
                    </a:p>
                  </a:txBody>
                  <a:tcPr marL="9525" marR="9525" marT="9525" marB="0" anchor="ctr">
                    <a:blipFill dpi="0" rotWithShape="1">
                      <a:blip r:embed="rId2"/>
                      <a:srcRect/>
                      <a:tile tx="0" ty="0" sx="100000" sy="100000" flip="none" algn="tl"/>
                    </a:blipFill>
                  </a:tcPr>
                </a:tc>
                <a:tc>
                  <a:txBody>
                    <a:bodyPr/>
                    <a:lstStyle/>
                    <a:p>
                      <a:pPr algn="ctr" fontAlgn="ctr"/>
                      <a:r>
                        <a:rPr lang="en-US" sz="1400" u="none" strike="noStrike" dirty="0">
                          <a:effectLst/>
                          <a:latin typeface="+mn-lt"/>
                        </a:rPr>
                        <a:t>A</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r>
                        <a:rPr lang="en-US" sz="1400" u="none" strike="noStrike" dirty="0">
                          <a:effectLst/>
                          <a:latin typeface="+mn-lt"/>
                        </a:rPr>
                        <a:t>QC</a:t>
                      </a:r>
                      <a:endParaRPr lang="en-US" sz="1400" b="0" i="0" u="none" strike="noStrike" dirty="0">
                        <a:solidFill>
                          <a:srgbClr val="00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tc>
                  <a:txBody>
                    <a:bodyPr/>
                    <a:lstStyle/>
                    <a:p>
                      <a:pPr algn="ctr" fontAlgn="b"/>
                      <a:endParaRPr lang="en-US" sz="1400" b="0" i="0" u="none" strike="noStrike" dirty="0">
                        <a:solidFill>
                          <a:srgbClr val="FF0000"/>
                        </a:solidFill>
                        <a:effectLst/>
                        <a:latin typeface="+mn-lt"/>
                      </a:endParaRPr>
                    </a:p>
                  </a:txBody>
                  <a:tcPr marL="9525" marR="9525" marT="9525" marB="0" anchor="ctr">
                    <a:blipFill dpi="0" rotWithShape="1">
                      <a:blip r:embed="rId2"/>
                      <a:srcRect/>
                      <a:tile tx="0" ty="0" sx="100000" sy="100000" flip="none" algn="tl"/>
                    </a:blipFill>
                  </a:tcPr>
                </a:tc>
                <a:extLst>
                  <a:ext uri="{0D108BD9-81ED-4DB2-BD59-A6C34878D82A}">
                    <a16:rowId xmlns:a16="http://schemas.microsoft.com/office/drawing/2014/main" val="10005"/>
                  </a:ext>
                </a:extLst>
              </a:tr>
            </a:tbl>
          </a:graphicData>
        </a:graphic>
      </p:graphicFrame>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30998" y="-70888"/>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txBox="1">
            <a:spLocks/>
          </p:cNvSpPr>
          <p:nvPr/>
        </p:nvSpPr>
        <p:spPr>
          <a:xfrm>
            <a:off x="1065490" y="818198"/>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a:noAutofit/>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fontAlgn="ctr"/>
            <a:r>
              <a:rPr lang="en-US" sz="3200" dirty="0">
                <a:solidFill>
                  <a:srgbClr val="002060"/>
                </a:solidFill>
                <a:latin typeface="Times New Roman" panose="02020603050405020304" pitchFamily="18" charset="0"/>
                <a:cs typeface="Times New Roman" panose="02020603050405020304" pitchFamily="18" charset="0"/>
              </a:rPr>
              <a:t>BRAINSTROMING (A/B/C Analysis)</a:t>
            </a:r>
          </a:p>
        </p:txBody>
      </p:sp>
      <p:sp>
        <p:nvSpPr>
          <p:cNvPr id="6" name="TextBox 1"/>
          <p:cNvSpPr txBox="1">
            <a:spLocks noChangeArrowheads="1"/>
          </p:cNvSpPr>
          <p:nvPr/>
        </p:nvSpPr>
        <p:spPr bwMode="auto">
          <a:xfrm>
            <a:off x="3682396" y="332589"/>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sp>
        <p:nvSpPr>
          <p:cNvPr id="7" name="TextBox 6"/>
          <p:cNvSpPr txBox="1"/>
          <p:nvPr/>
        </p:nvSpPr>
        <p:spPr>
          <a:xfrm>
            <a:off x="5257800" y="6553198"/>
            <a:ext cx="354584" cy="276999"/>
          </a:xfrm>
          <a:prstGeom prst="rect">
            <a:avLst/>
          </a:prstGeom>
          <a:noFill/>
        </p:spPr>
        <p:txBody>
          <a:bodyPr wrap="none" rtlCol="0">
            <a:spAutoFit/>
          </a:bodyPr>
          <a:lstStyle/>
          <a:p>
            <a:r>
              <a:rPr lang="en-US" sz="1200" dirty="0"/>
              <a:t>16</a:t>
            </a:r>
          </a:p>
        </p:txBody>
      </p:sp>
      <p:sp>
        <p:nvSpPr>
          <p:cNvPr id="9" name="Slide Number Placeholder 4"/>
          <p:cNvSpPr>
            <a:spLocks noGrp="1"/>
          </p:cNvSpPr>
          <p:nvPr>
            <p:ph type="sldNum" sz="quarter" idx="12"/>
          </p:nvPr>
        </p:nvSpPr>
        <p:spPr>
          <a:xfrm>
            <a:off x="8610600" y="6356350"/>
            <a:ext cx="2743200" cy="365125"/>
          </a:xfrm>
        </p:spPr>
        <p:txBody>
          <a:bodyPr/>
          <a:lstStyle/>
          <a:p>
            <a:pPr>
              <a:defRPr/>
            </a:pPr>
            <a:fld id="{D4C0CF83-43B5-4B70-838E-E2DFD927BFC6}" type="slidenum">
              <a:rPr lang="en-US" smtClean="0"/>
              <a:pPr>
                <a:defRPr/>
              </a:pPr>
              <a:t>12</a:t>
            </a:fld>
            <a:endParaRPr lang="en-US" dirty="0"/>
          </a:p>
        </p:txBody>
      </p:sp>
    </p:spTree>
    <p:extLst>
      <p:ext uri="{BB962C8B-B14F-4D97-AF65-F5344CB8AC3E}">
        <p14:creationId xmlns:p14="http://schemas.microsoft.com/office/powerpoint/2010/main" val="137983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88246" y="51747"/>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txBox="1">
            <a:spLocks/>
          </p:cNvSpPr>
          <p:nvPr/>
        </p:nvSpPr>
        <p:spPr>
          <a:xfrm>
            <a:off x="783260" y="1044058"/>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rmAutofit fontScale="97500"/>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fontAlgn="ctr"/>
            <a:r>
              <a:rPr lang="en-US" sz="3200" dirty="0">
                <a:solidFill>
                  <a:srgbClr val="002060"/>
                </a:solidFill>
                <a:latin typeface="Times New Roman" panose="02020603050405020304" pitchFamily="18" charset="0"/>
                <a:cs typeface="Times New Roman" panose="02020603050405020304" pitchFamily="18" charset="0"/>
              </a:rPr>
              <a:t>PROBLEM IMPACT ANALYSIS</a:t>
            </a:r>
          </a:p>
        </p:txBody>
      </p:sp>
      <p:sp>
        <p:nvSpPr>
          <p:cNvPr id="5" name="TextBox 1"/>
          <p:cNvSpPr txBox="1">
            <a:spLocks noChangeArrowheads="1"/>
          </p:cNvSpPr>
          <p:nvPr/>
        </p:nvSpPr>
        <p:spPr bwMode="auto">
          <a:xfrm>
            <a:off x="3759529" y="549723"/>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graphicFrame>
        <p:nvGraphicFramePr>
          <p:cNvPr id="6" name="Table 5"/>
          <p:cNvGraphicFramePr>
            <a:graphicFrameLocks noGrp="1"/>
          </p:cNvGraphicFramePr>
          <p:nvPr/>
        </p:nvGraphicFramePr>
        <p:xfrm>
          <a:off x="1136880" y="1847090"/>
          <a:ext cx="4515776" cy="4129760"/>
        </p:xfrm>
        <a:graphic>
          <a:graphicData uri="http://schemas.openxmlformats.org/drawingml/2006/table">
            <a:tbl>
              <a:tblPr firstRow="1">
                <a:tableStyleId>{7DF18680-E054-41AD-8BC1-D1AEF772440D}</a:tableStyleId>
              </a:tblPr>
              <a:tblGrid>
                <a:gridCol w="2490007">
                  <a:extLst>
                    <a:ext uri="{9D8B030D-6E8A-4147-A177-3AD203B41FA5}">
                      <a16:colId xmlns:a16="http://schemas.microsoft.com/office/drawing/2014/main" val="20000"/>
                    </a:ext>
                  </a:extLst>
                </a:gridCol>
                <a:gridCol w="2025769">
                  <a:extLst>
                    <a:ext uri="{9D8B030D-6E8A-4147-A177-3AD203B41FA5}">
                      <a16:colId xmlns:a16="http://schemas.microsoft.com/office/drawing/2014/main" val="20001"/>
                    </a:ext>
                  </a:extLst>
                </a:gridCol>
              </a:tblGrid>
              <a:tr h="516220">
                <a:tc>
                  <a:txBody>
                    <a:bodyPr/>
                    <a:lstStyle/>
                    <a:p>
                      <a:pPr algn="ctr" rtl="0" fontAlgn="ctr"/>
                      <a:r>
                        <a:rPr lang="en-US" sz="2000" b="0" u="none" strike="noStrike" dirty="0">
                          <a:solidFill>
                            <a:schemeClr val="tx1"/>
                          </a:solidFill>
                          <a:effectLst/>
                        </a:rPr>
                        <a:t>Impact</a:t>
                      </a:r>
                      <a:endParaRPr lang="en-US" sz="2000" b="0" i="0" u="none" strike="noStrike" dirty="0">
                        <a:solidFill>
                          <a:schemeClr val="tx1"/>
                        </a:solidFill>
                        <a:effectLst/>
                        <a:latin typeface="Arial" panose="020B0604020202020204" pitchFamily="34" charset="0"/>
                      </a:endParaRPr>
                    </a:p>
                  </a:txBody>
                  <a:tcPr marL="9525" marR="9525" marT="9525" marB="0" anchor="ctr"/>
                </a:tc>
                <a:tc>
                  <a:txBody>
                    <a:bodyPr/>
                    <a:lstStyle/>
                    <a:p>
                      <a:pPr algn="ctr" rtl="0" fontAlgn="ctr"/>
                      <a:r>
                        <a:rPr lang="en-US" sz="2000" b="0" u="none" strike="noStrike" dirty="0">
                          <a:solidFill>
                            <a:schemeClr val="tx1"/>
                          </a:solidFill>
                          <a:effectLst/>
                        </a:rPr>
                        <a:t>QCC</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0"/>
                  </a:ext>
                </a:extLst>
              </a:tr>
              <a:tr h="516220">
                <a:tc>
                  <a:txBody>
                    <a:bodyPr/>
                    <a:lstStyle/>
                    <a:p>
                      <a:pPr algn="ctr" rtl="0" fontAlgn="ctr"/>
                      <a:r>
                        <a:rPr lang="en-US" sz="2000" b="0" u="none" strike="noStrike" dirty="0">
                          <a:solidFill>
                            <a:srgbClr val="0070C0"/>
                          </a:solidFill>
                          <a:effectLst/>
                        </a:rPr>
                        <a:t>Productivity (P)</a:t>
                      </a:r>
                      <a:endParaRPr lang="en-US" sz="2000" b="0" i="0" u="none" strike="noStrike" dirty="0">
                        <a:solidFill>
                          <a:srgbClr val="0070C0"/>
                        </a:solidFill>
                        <a:effectLst/>
                        <a:latin typeface="Arial" panose="020B0604020202020204" pitchFamily="34" charset="0"/>
                      </a:endParaRPr>
                    </a:p>
                  </a:txBody>
                  <a:tcPr marL="9525" marR="9525" marT="9525" marB="0" anchor="ctr"/>
                </a:tc>
                <a:tc>
                  <a:txBody>
                    <a:bodyPr/>
                    <a:lstStyle/>
                    <a:p>
                      <a:pPr algn="ctr" rtl="0" fontAlgn="ctr"/>
                      <a:r>
                        <a:rPr lang="en-US" sz="2000" b="0" i="0" u="none" strike="noStrike" dirty="0">
                          <a:solidFill>
                            <a:schemeClr val="tx1"/>
                          </a:solidFill>
                          <a:effectLst/>
                          <a:latin typeface="+mn-lt"/>
                        </a:rPr>
                        <a:t>4</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516220">
                <a:tc>
                  <a:txBody>
                    <a:bodyPr/>
                    <a:lstStyle/>
                    <a:p>
                      <a:pPr algn="ctr" rtl="0" fontAlgn="ctr"/>
                      <a:r>
                        <a:rPr lang="en-US" sz="2000" b="0" u="none" strike="noStrike" dirty="0">
                          <a:solidFill>
                            <a:srgbClr val="0070C0"/>
                          </a:solidFill>
                          <a:effectLst/>
                        </a:rPr>
                        <a:t>Quality (Q)</a:t>
                      </a:r>
                      <a:endParaRPr lang="en-US" sz="2000" b="0" i="0" u="none" strike="noStrike" dirty="0">
                        <a:solidFill>
                          <a:srgbClr val="0070C0"/>
                        </a:solidFill>
                        <a:effectLst/>
                        <a:latin typeface="Arial" panose="020B0604020202020204" pitchFamily="34" charset="0"/>
                      </a:endParaRPr>
                    </a:p>
                  </a:txBody>
                  <a:tcPr marL="9525" marR="9525" marT="9525" marB="0" anchor="ctr"/>
                </a:tc>
                <a:tc>
                  <a:txBody>
                    <a:bodyPr/>
                    <a:lstStyle/>
                    <a:p>
                      <a:pPr algn="ctr" rtl="0" fontAlgn="ctr"/>
                      <a:r>
                        <a:rPr lang="en-US" sz="2000" b="0" i="0" u="none" strike="noStrike" dirty="0">
                          <a:solidFill>
                            <a:schemeClr val="tx1"/>
                          </a:solidFill>
                          <a:effectLst/>
                          <a:latin typeface="+mn-lt"/>
                        </a:rPr>
                        <a:t>3</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2"/>
                  </a:ext>
                </a:extLst>
              </a:tr>
              <a:tr h="516220">
                <a:tc>
                  <a:txBody>
                    <a:bodyPr/>
                    <a:lstStyle/>
                    <a:p>
                      <a:pPr algn="ctr" rtl="0" fontAlgn="ctr"/>
                      <a:r>
                        <a:rPr lang="en-US" sz="2000" b="0" u="none" strike="noStrike" dirty="0">
                          <a:solidFill>
                            <a:srgbClr val="0070C0"/>
                          </a:solidFill>
                          <a:effectLst/>
                        </a:rPr>
                        <a:t>Cost (C)</a:t>
                      </a:r>
                    </a:p>
                  </a:txBody>
                  <a:tcPr marL="9525" marR="9525" marT="9525" marB="0" anchor="ctr"/>
                </a:tc>
                <a:tc>
                  <a:txBody>
                    <a:bodyPr/>
                    <a:lstStyle/>
                    <a:p>
                      <a:pPr algn="ctr" rtl="0" fontAlgn="ctr"/>
                      <a:r>
                        <a:rPr lang="en-US" sz="2000" b="0" i="0" u="none" strike="noStrike" dirty="0">
                          <a:solidFill>
                            <a:schemeClr val="tx1"/>
                          </a:solidFill>
                          <a:effectLst/>
                          <a:latin typeface="+mn-lt"/>
                        </a:rPr>
                        <a:t>3</a:t>
                      </a:r>
                    </a:p>
                  </a:txBody>
                  <a:tcPr marL="9525" marR="9525" marT="9525" marB="0" anchor="ctr"/>
                </a:tc>
                <a:extLst>
                  <a:ext uri="{0D108BD9-81ED-4DB2-BD59-A6C34878D82A}">
                    <a16:rowId xmlns:a16="http://schemas.microsoft.com/office/drawing/2014/main" val="10003"/>
                  </a:ext>
                </a:extLst>
              </a:tr>
              <a:tr h="516220">
                <a:tc>
                  <a:txBody>
                    <a:bodyPr/>
                    <a:lstStyle/>
                    <a:p>
                      <a:pPr algn="ctr" rtl="0" fontAlgn="ctr"/>
                      <a:r>
                        <a:rPr lang="en-US" sz="2000" b="0" u="none" strike="noStrike" dirty="0">
                          <a:solidFill>
                            <a:srgbClr val="0070C0"/>
                          </a:solidFill>
                          <a:effectLst/>
                        </a:rPr>
                        <a:t>Delivery (D)</a:t>
                      </a:r>
                      <a:endParaRPr lang="en-US" sz="2000" b="0" i="0" u="none" strike="noStrike" dirty="0">
                        <a:solidFill>
                          <a:srgbClr val="0070C0"/>
                        </a:solidFill>
                        <a:effectLst/>
                        <a:latin typeface="Arial" panose="020B0604020202020204" pitchFamily="34" charset="0"/>
                      </a:endParaRPr>
                    </a:p>
                  </a:txBody>
                  <a:tcPr marL="9525" marR="9525" marT="9525" marB="0" anchor="ctr"/>
                </a:tc>
                <a:tc>
                  <a:txBody>
                    <a:bodyPr/>
                    <a:lstStyle/>
                    <a:p>
                      <a:pPr algn="ctr" rtl="0" fontAlgn="ctr"/>
                      <a:r>
                        <a:rPr lang="en-US" sz="2000" b="0" i="0" u="none" strike="noStrike" dirty="0">
                          <a:solidFill>
                            <a:schemeClr val="tx1"/>
                          </a:solidFill>
                          <a:effectLst/>
                          <a:latin typeface="+mn-lt"/>
                        </a:rPr>
                        <a:t>2</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4"/>
                  </a:ext>
                </a:extLst>
              </a:tr>
              <a:tr h="516220">
                <a:tc>
                  <a:txBody>
                    <a:bodyPr/>
                    <a:lstStyle/>
                    <a:p>
                      <a:pPr algn="ctr" rtl="0" fontAlgn="ctr"/>
                      <a:r>
                        <a:rPr lang="en-US" sz="2000" b="0" u="none" strike="noStrike" dirty="0">
                          <a:solidFill>
                            <a:srgbClr val="0070C0"/>
                          </a:solidFill>
                          <a:effectLst/>
                        </a:rPr>
                        <a:t>Morale (M)</a:t>
                      </a:r>
                      <a:endParaRPr lang="en-US" sz="2000" b="0" i="0" u="none" strike="noStrike" dirty="0">
                        <a:solidFill>
                          <a:srgbClr val="0070C0"/>
                        </a:solidFill>
                        <a:effectLst/>
                        <a:latin typeface="Arial" panose="020B0604020202020204" pitchFamily="34" charset="0"/>
                      </a:endParaRPr>
                    </a:p>
                  </a:txBody>
                  <a:tcPr marL="9525" marR="9525" marT="9525" marB="0" anchor="ctr"/>
                </a:tc>
                <a:tc>
                  <a:txBody>
                    <a:bodyPr/>
                    <a:lstStyle/>
                    <a:p>
                      <a:pPr algn="ctr" rtl="0" fontAlgn="ctr"/>
                      <a:r>
                        <a:rPr lang="en-US" sz="2000" b="0" i="0" u="none" strike="noStrike" dirty="0">
                          <a:solidFill>
                            <a:schemeClr val="tx1"/>
                          </a:solidFill>
                          <a:effectLst/>
                          <a:latin typeface="+mn-lt"/>
                        </a:rPr>
                        <a:t>2</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5"/>
                  </a:ext>
                </a:extLst>
              </a:tr>
              <a:tr h="516220">
                <a:tc>
                  <a:txBody>
                    <a:bodyPr/>
                    <a:lstStyle/>
                    <a:p>
                      <a:pPr algn="ctr" rtl="0" fontAlgn="ctr"/>
                      <a:r>
                        <a:rPr lang="en-US" sz="2000" b="0" u="none" strike="noStrike" dirty="0">
                          <a:solidFill>
                            <a:srgbClr val="0070C0"/>
                          </a:solidFill>
                          <a:effectLst/>
                        </a:rPr>
                        <a:t>Environment (E)</a:t>
                      </a:r>
                      <a:endParaRPr lang="en-US" sz="2000" b="0" i="0" u="none" strike="noStrike" dirty="0">
                        <a:solidFill>
                          <a:srgbClr val="0070C0"/>
                        </a:solidFill>
                        <a:effectLst/>
                        <a:latin typeface="Arial" panose="020B0604020202020204" pitchFamily="34" charset="0"/>
                      </a:endParaRPr>
                    </a:p>
                  </a:txBody>
                  <a:tcPr marL="9525" marR="9525" marT="9525" marB="0" anchor="ctr"/>
                </a:tc>
                <a:tc>
                  <a:txBody>
                    <a:bodyPr/>
                    <a:lstStyle/>
                    <a:p>
                      <a:pPr algn="ctr" rtl="0" fontAlgn="ctr"/>
                      <a:r>
                        <a:rPr lang="en-US" sz="2000" b="0" i="0" u="none" strike="noStrike" dirty="0">
                          <a:solidFill>
                            <a:schemeClr val="tx1"/>
                          </a:solidFill>
                          <a:effectLst/>
                          <a:latin typeface="+mn-lt"/>
                        </a:rPr>
                        <a:t>1</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6"/>
                  </a:ext>
                </a:extLst>
              </a:tr>
              <a:tr h="516220">
                <a:tc>
                  <a:txBody>
                    <a:bodyPr/>
                    <a:lstStyle/>
                    <a:p>
                      <a:pPr algn="ctr" rtl="0" fontAlgn="ctr"/>
                      <a:r>
                        <a:rPr lang="en-US" sz="2000" b="0" u="none" strike="noStrike" dirty="0">
                          <a:solidFill>
                            <a:srgbClr val="0070C0"/>
                          </a:solidFill>
                          <a:effectLst/>
                        </a:rPr>
                        <a:t>Safety (S)</a:t>
                      </a:r>
                      <a:endParaRPr lang="en-US" sz="2000" b="0" i="0" u="none" strike="noStrike" dirty="0">
                        <a:solidFill>
                          <a:srgbClr val="0070C0"/>
                        </a:solidFill>
                        <a:effectLst/>
                        <a:latin typeface="Arial" panose="020B0604020202020204" pitchFamily="34" charset="0"/>
                      </a:endParaRPr>
                    </a:p>
                  </a:txBody>
                  <a:tcPr marL="9525" marR="9525" marT="9525" marB="0" anchor="ctr"/>
                </a:tc>
                <a:tc>
                  <a:txBody>
                    <a:bodyPr/>
                    <a:lstStyle/>
                    <a:p>
                      <a:pPr algn="ctr" rtl="0" fontAlgn="ctr"/>
                      <a:r>
                        <a:rPr lang="en-US" sz="2000" b="0" i="0" u="none" strike="noStrike" dirty="0">
                          <a:solidFill>
                            <a:schemeClr val="tx1"/>
                          </a:solidFill>
                          <a:effectLst/>
                          <a:latin typeface="+mn-lt"/>
                        </a:rPr>
                        <a:t>3</a:t>
                      </a:r>
                      <a:endParaRPr lang="en-US" sz="20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0007"/>
                  </a:ext>
                </a:extLst>
              </a:tr>
            </a:tbl>
          </a:graphicData>
        </a:graphic>
      </p:graphicFrame>
      <p:sp>
        <p:nvSpPr>
          <p:cNvPr id="9" name="TextBox 8"/>
          <p:cNvSpPr txBox="1"/>
          <p:nvPr/>
        </p:nvSpPr>
        <p:spPr>
          <a:xfrm>
            <a:off x="2514600" y="3505200"/>
            <a:ext cx="304800" cy="246221"/>
          </a:xfrm>
          <a:prstGeom prst="rect">
            <a:avLst/>
          </a:prstGeom>
          <a:noFill/>
        </p:spPr>
        <p:txBody>
          <a:bodyPr wrap="square" rtlCol="0">
            <a:spAutoFit/>
          </a:bodyPr>
          <a:lstStyle/>
          <a:p>
            <a:r>
              <a:rPr lang="en-US" sz="1000" dirty="0">
                <a:solidFill>
                  <a:schemeClr val="bg1">
                    <a:lumMod val="85000"/>
                  </a:schemeClr>
                </a:solidFill>
              </a:rPr>
              <a:t>2</a:t>
            </a:r>
          </a:p>
        </p:txBody>
      </p:sp>
      <p:graphicFrame>
        <p:nvGraphicFramePr>
          <p:cNvPr id="10" name="Chart 9"/>
          <p:cNvGraphicFramePr>
            <a:graphicFrameLocks/>
          </p:cNvGraphicFramePr>
          <p:nvPr/>
        </p:nvGraphicFramePr>
        <p:xfrm>
          <a:off x="5730796" y="2509938"/>
          <a:ext cx="5646750" cy="32933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04856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550698"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Google Shape;282;g902e33ebf3_1_12"/>
          <p:cNvSpPr txBox="1"/>
          <p:nvPr/>
        </p:nvSpPr>
        <p:spPr>
          <a:xfrm>
            <a:off x="1675851" y="1514712"/>
            <a:ext cx="7258557" cy="860118"/>
          </a:xfrm>
          <a:prstGeom prst="rect">
            <a:avLst/>
          </a:prstGeom>
          <a:noFill/>
          <a:ln>
            <a:noFill/>
          </a:ln>
        </p:spPr>
        <p:txBody>
          <a:bodyPr spcFirstLastPara="1" wrap="square" lIns="91425" tIns="45700" rIns="91425" bIns="45700" anchor="t" anchorCtr="0">
            <a:noAutofit/>
          </a:bodyPr>
          <a:lstStyle/>
          <a:p>
            <a:pPr>
              <a:buClr>
                <a:srgbClr val="002060"/>
              </a:buClr>
              <a:buSzPts val="1800"/>
            </a:pPr>
            <a:r>
              <a:rPr lang="en-IN" b="1" dirty="0">
                <a:solidFill>
                  <a:srgbClr val="002060"/>
                </a:solidFill>
                <a:latin typeface="Times New Roman" panose="02020603050405020304" pitchFamily="18" charset="0"/>
                <a:ea typeface="Calibri"/>
                <a:cs typeface="Times New Roman" panose="02020603050405020304" pitchFamily="18" charset="0"/>
                <a:sym typeface="Calibri"/>
              </a:rPr>
              <a:t>                                                              </a:t>
            </a:r>
            <a:r>
              <a:rPr lang="en-IN" b="1" u="sng" dirty="0">
                <a:solidFill>
                  <a:srgbClr val="002060"/>
                </a:solidFill>
                <a:latin typeface="Times New Roman" panose="02020603050405020304" pitchFamily="18" charset="0"/>
                <a:ea typeface="Calibri"/>
                <a:cs typeface="Times New Roman" panose="02020603050405020304" pitchFamily="18" charset="0"/>
                <a:sym typeface="Calibri"/>
              </a:rPr>
              <a:t>LEVEL OF IMPACT</a:t>
            </a:r>
            <a:endParaRPr u="sng" dirty="0">
              <a:latin typeface="Times New Roman" panose="02020603050405020304" pitchFamily="18" charset="0"/>
              <a:cs typeface="Times New Roman" panose="02020603050405020304" pitchFamily="18" charset="0"/>
            </a:endParaRPr>
          </a:p>
          <a:p>
            <a:pPr>
              <a:buClr>
                <a:srgbClr val="002060"/>
              </a:buClr>
              <a:buSzPts val="1800"/>
            </a:pPr>
            <a:r>
              <a:rPr lang="en-IN" b="1" dirty="0">
                <a:solidFill>
                  <a:srgbClr val="002060"/>
                </a:solidFill>
                <a:latin typeface="Times New Roman" panose="02020603050405020304" pitchFamily="18" charset="0"/>
                <a:ea typeface="Calibri"/>
                <a:cs typeface="Times New Roman" panose="02020603050405020304" pitchFamily="18" charset="0"/>
                <a:sym typeface="Calibri"/>
              </a:rPr>
              <a:t>	</a:t>
            </a:r>
            <a:endParaRPr dirty="0">
              <a:latin typeface="Times New Roman" panose="02020603050405020304" pitchFamily="18" charset="0"/>
              <a:cs typeface="Times New Roman" panose="02020603050405020304" pitchFamily="18" charset="0"/>
            </a:endParaRPr>
          </a:p>
          <a:p>
            <a:pPr>
              <a:buClr>
                <a:srgbClr val="002060"/>
              </a:buClr>
              <a:buSzPts val="1800"/>
            </a:pPr>
            <a:r>
              <a:rPr lang="en-IN" b="1" dirty="0">
                <a:solidFill>
                  <a:srgbClr val="002060"/>
                </a:solidFill>
                <a:latin typeface="Times New Roman" panose="02020603050405020304" pitchFamily="18" charset="0"/>
                <a:ea typeface="Calibri"/>
                <a:cs typeface="Times New Roman" panose="02020603050405020304" pitchFamily="18" charset="0"/>
                <a:sym typeface="Calibri"/>
              </a:rPr>
              <a:t>	WEAK = 2                   MEDIUM = 5                         STRONG	= 10</a:t>
            </a:r>
            <a:endParaRPr lang="en-IN" dirty="0">
              <a:latin typeface="Times New Roman" panose="02020603050405020304" pitchFamily="18" charset="0"/>
              <a:cs typeface="Times New Roman" panose="02020603050405020304" pitchFamily="18" charset="0"/>
            </a:endParaRPr>
          </a:p>
          <a:p>
            <a:pPr>
              <a:buClr>
                <a:srgbClr val="002060"/>
              </a:buClr>
              <a:buSzPts val="1800"/>
            </a:pPr>
            <a:endParaRPr lang="en-IN" dirty="0">
              <a:latin typeface="Times New Roman" panose="02020603050405020304" pitchFamily="18" charset="0"/>
              <a:cs typeface="Times New Roman" panose="02020603050405020304" pitchFamily="18" charset="0"/>
            </a:endParaRPr>
          </a:p>
          <a:p>
            <a:pPr>
              <a:buClr>
                <a:srgbClr val="002060"/>
              </a:buClr>
              <a:buSzPts val="1800"/>
            </a:pPr>
            <a:endParaRPr dirty="0">
              <a:latin typeface="Times New Roman" panose="02020603050405020304" pitchFamily="18" charset="0"/>
              <a:cs typeface="Times New Roman" panose="02020603050405020304" pitchFamily="18" charset="0"/>
            </a:endParaRPr>
          </a:p>
          <a:p>
            <a:pPr>
              <a:buClr>
                <a:srgbClr val="002060"/>
              </a:buClr>
              <a:buSzPts val="1800"/>
            </a:pPr>
            <a:r>
              <a:rPr lang="en-IN" b="1" dirty="0">
                <a:solidFill>
                  <a:srgbClr val="002060"/>
                </a:solidFill>
                <a:latin typeface="Times New Roman" panose="02020603050405020304" pitchFamily="18" charset="0"/>
                <a:ea typeface="Calibri"/>
                <a:cs typeface="Times New Roman" panose="02020603050405020304" pitchFamily="18" charset="0"/>
                <a:sym typeface="Calibri"/>
              </a:rPr>
              <a:t>		</a:t>
            </a:r>
            <a:endParaRPr dirty="0">
              <a:latin typeface="Times New Roman" panose="02020603050405020304" pitchFamily="18" charset="0"/>
              <a:cs typeface="Times New Roman" panose="02020603050405020304" pitchFamily="18" charset="0"/>
            </a:endParaRPr>
          </a:p>
        </p:txBody>
      </p:sp>
      <p:sp>
        <p:nvSpPr>
          <p:cNvPr id="5" name="Google Shape;283;g902e33ebf3_1_12"/>
          <p:cNvSpPr/>
          <p:nvPr/>
        </p:nvSpPr>
        <p:spPr>
          <a:xfrm>
            <a:off x="6534917" y="2061697"/>
            <a:ext cx="373063" cy="301625"/>
          </a:xfrm>
          <a:custGeom>
            <a:avLst/>
            <a:gdLst/>
            <a:ahLst/>
            <a:cxnLst/>
            <a:rect l="l" t="t" r="r" b="b"/>
            <a:pathLst>
              <a:path w="373063" h="301625" extrusionOk="0">
                <a:moveTo>
                  <a:pt x="0" y="115210"/>
                </a:moveTo>
                <a:lnTo>
                  <a:pt x="142498" y="115211"/>
                </a:lnTo>
                <a:lnTo>
                  <a:pt x="186532" y="0"/>
                </a:lnTo>
                <a:lnTo>
                  <a:pt x="230565" y="115211"/>
                </a:lnTo>
                <a:lnTo>
                  <a:pt x="373063" y="115210"/>
                </a:lnTo>
                <a:lnTo>
                  <a:pt x="257779" y="186414"/>
                </a:lnTo>
                <a:lnTo>
                  <a:pt x="301814" y="301624"/>
                </a:lnTo>
                <a:lnTo>
                  <a:pt x="186532" y="230419"/>
                </a:lnTo>
                <a:lnTo>
                  <a:pt x="71249" y="301624"/>
                </a:lnTo>
                <a:lnTo>
                  <a:pt x="115284" y="186414"/>
                </a:lnTo>
                <a:lnTo>
                  <a:pt x="0" y="115210"/>
                </a:lnTo>
                <a:close/>
              </a:path>
            </a:pathLst>
          </a:custGeom>
          <a:solidFill>
            <a:srgbClr val="FF0000"/>
          </a:solidFill>
          <a:ln w="19050" cap="flat" cmpd="sng">
            <a:solidFill>
              <a:srgbClr val="FF0000"/>
            </a:solidFill>
            <a:prstDash val="solid"/>
            <a:miter lim="524288"/>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 name="Google Shape;284;g902e33ebf3_1_12"/>
          <p:cNvSpPr/>
          <p:nvPr/>
        </p:nvSpPr>
        <p:spPr>
          <a:xfrm>
            <a:off x="3823339" y="2131379"/>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285;g902e33ebf3_1_12"/>
          <p:cNvSpPr/>
          <p:nvPr/>
        </p:nvSpPr>
        <p:spPr>
          <a:xfrm>
            <a:off x="1919429" y="2147322"/>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graphicFrame>
        <p:nvGraphicFramePr>
          <p:cNvPr id="8" name="Google Shape;286;g902e33ebf3_1_12"/>
          <p:cNvGraphicFramePr/>
          <p:nvPr>
            <p:extLst>
              <p:ext uri="{D42A27DB-BD31-4B8C-83A1-F6EECF244321}">
                <p14:modId xmlns:p14="http://schemas.microsoft.com/office/powerpoint/2010/main" val="3016692660"/>
              </p:ext>
            </p:extLst>
          </p:nvPr>
        </p:nvGraphicFramePr>
        <p:xfrm>
          <a:off x="1217450" y="2426128"/>
          <a:ext cx="9913279" cy="3667100"/>
        </p:xfrm>
        <a:graphic>
          <a:graphicData uri="http://schemas.openxmlformats.org/drawingml/2006/table">
            <a:tbl>
              <a:tblPr>
                <a:noFill/>
              </a:tblPr>
              <a:tblGrid>
                <a:gridCol w="482243">
                  <a:extLst>
                    <a:ext uri="{9D8B030D-6E8A-4147-A177-3AD203B41FA5}">
                      <a16:colId xmlns:a16="http://schemas.microsoft.com/office/drawing/2014/main" val="20000"/>
                    </a:ext>
                  </a:extLst>
                </a:gridCol>
                <a:gridCol w="2390169">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773204">
                  <a:extLst>
                    <a:ext uri="{9D8B030D-6E8A-4147-A177-3AD203B41FA5}">
                      <a16:colId xmlns:a16="http://schemas.microsoft.com/office/drawing/2014/main" val="20003"/>
                    </a:ext>
                  </a:extLst>
                </a:gridCol>
                <a:gridCol w="582705">
                  <a:extLst>
                    <a:ext uri="{9D8B030D-6E8A-4147-A177-3AD203B41FA5}">
                      <a16:colId xmlns:a16="http://schemas.microsoft.com/office/drawing/2014/main" val="20004"/>
                    </a:ext>
                  </a:extLst>
                </a:gridCol>
                <a:gridCol w="881270">
                  <a:extLst>
                    <a:ext uri="{9D8B030D-6E8A-4147-A177-3AD203B41FA5}">
                      <a16:colId xmlns:a16="http://schemas.microsoft.com/office/drawing/2014/main" val="20005"/>
                    </a:ext>
                  </a:extLst>
                </a:gridCol>
                <a:gridCol w="834531">
                  <a:extLst>
                    <a:ext uri="{9D8B030D-6E8A-4147-A177-3AD203B41FA5}">
                      <a16:colId xmlns:a16="http://schemas.microsoft.com/office/drawing/2014/main" val="20006"/>
                    </a:ext>
                  </a:extLst>
                </a:gridCol>
                <a:gridCol w="856209">
                  <a:extLst>
                    <a:ext uri="{9D8B030D-6E8A-4147-A177-3AD203B41FA5}">
                      <a16:colId xmlns:a16="http://schemas.microsoft.com/office/drawing/2014/main" val="20007"/>
                    </a:ext>
                  </a:extLst>
                </a:gridCol>
                <a:gridCol w="1146990">
                  <a:extLst>
                    <a:ext uri="{9D8B030D-6E8A-4147-A177-3AD203B41FA5}">
                      <a16:colId xmlns:a16="http://schemas.microsoft.com/office/drawing/2014/main" val="20008"/>
                    </a:ext>
                  </a:extLst>
                </a:gridCol>
                <a:gridCol w="822958">
                  <a:extLst>
                    <a:ext uri="{9D8B030D-6E8A-4147-A177-3AD203B41FA5}">
                      <a16:colId xmlns:a16="http://schemas.microsoft.com/office/drawing/2014/main" val="20009"/>
                    </a:ext>
                  </a:extLst>
                </a:gridCol>
              </a:tblGrid>
              <a:tr h="671895">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Sr. No.</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Problem</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a:cs typeface="Times New Roman"/>
                        </a:rPr>
                        <a:t>Productivity</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Quality</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Cost</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Delivery</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Safety</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Morale</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Environment</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Total</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extLst>
                  <a:ext uri="{0D108BD9-81ED-4DB2-BD59-A6C34878D82A}">
                    <a16:rowId xmlns:a16="http://schemas.microsoft.com/office/drawing/2014/main" val="10000"/>
                  </a:ext>
                </a:extLst>
              </a:tr>
              <a:tr h="560412">
                <a:tc>
                  <a:txBody>
                    <a:bodyPr/>
                    <a:lstStyle/>
                    <a:p>
                      <a:pPr marL="0" marR="0" lvl="0" indent="0" algn="ctr"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a:ea typeface="Calibri"/>
                          <a:cs typeface="Times New Roman"/>
                          <a:sym typeface="Calibri"/>
                        </a:rPr>
                        <a:t>1</a:t>
                      </a:r>
                      <a:endParaRPr dirty="0">
                        <a:latin typeface="Times New Roman"/>
                        <a:cs typeface="Times New Roman"/>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400" u="none" strike="noStrike" dirty="0">
                          <a:effectLst/>
                          <a:latin typeface="Times New Roman" panose="02020603050405020304" pitchFamily="18" charset="0"/>
                          <a:cs typeface="Times New Roman" panose="02020603050405020304" pitchFamily="18" charset="0"/>
                        </a:rPr>
                        <a:t>RSV Trip due</a:t>
                      </a:r>
                      <a:r>
                        <a:rPr lang="en-US" sz="1400" u="none" strike="noStrike" baseline="0" dirty="0">
                          <a:effectLst/>
                          <a:latin typeface="Times New Roman" panose="02020603050405020304" pitchFamily="18" charset="0"/>
                          <a:cs typeface="Times New Roman" panose="02020603050405020304" pitchFamily="18" charset="0"/>
                        </a:rPr>
                        <a:t> to liner</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25" marR="5525" marT="5525"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ctr"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ctr" rtl="0">
                        <a:lnSpc>
                          <a:spcPct val="115000"/>
                        </a:lnSpc>
                        <a:spcBef>
                          <a:spcPts val="0"/>
                        </a:spcBef>
                        <a:spcAft>
                          <a:spcPts val="0"/>
                        </a:spcAft>
                        <a:buClr>
                          <a:srgbClr val="000000"/>
                        </a:buClr>
                        <a:buSzPts val="1400"/>
                        <a:buFont typeface="Calibri"/>
                        <a:buNone/>
                      </a:pPr>
                      <a:r>
                        <a:rPr lang="en-IN" sz="1400" b="0" i="0" u="none" dirty="0">
                          <a:solidFill>
                            <a:srgbClr val="000000"/>
                          </a:solidFill>
                          <a:latin typeface="Times New Roman" panose="02020603050405020304" pitchFamily="18" charset="0"/>
                          <a:ea typeface="Calibri"/>
                          <a:cs typeface="Times New Roman" panose="02020603050405020304" pitchFamily="18" charset="0"/>
                          <a:sym typeface="Calibri"/>
                        </a:rPr>
                        <a:t> 28</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560412">
                <a:tc>
                  <a:txBody>
                    <a:bodyPr/>
                    <a:lstStyle/>
                    <a:p>
                      <a:pPr marL="0" marR="0" lvl="0" indent="0" algn="ctr"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a:ea typeface="Calibri"/>
                          <a:cs typeface="Times New Roman"/>
                          <a:sym typeface="Calibri"/>
                        </a:rPr>
                        <a:t>2</a:t>
                      </a:r>
                      <a:endParaRPr dirty="0">
                        <a:latin typeface="Times New Roman"/>
                        <a:cs typeface="Times New Roman"/>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indent="0" algn="l" defTabSz="914674" rtl="0" eaLnBrk="1" fontAlgn="b" latinLnBrk="0" hangingPunct="1">
                        <a:lnSpc>
                          <a:spcPct val="100000"/>
                        </a:lnSpc>
                        <a:spcBef>
                          <a:spcPts val="0"/>
                        </a:spcBef>
                        <a:spcAft>
                          <a:spcPts val="0"/>
                        </a:spcAft>
                        <a:buClrTx/>
                        <a:buSzTx/>
                        <a:buFontTx/>
                        <a:buNone/>
                        <a:tabLst/>
                        <a:defRPr/>
                      </a:pPr>
                      <a:r>
                        <a:rPr lang="en-US" sz="1400" u="none" strike="noStrike" dirty="0">
                          <a:effectLst/>
                          <a:latin typeface="Times New Roman" panose="02020603050405020304" pitchFamily="18" charset="0"/>
                          <a:cs typeface="Times New Roman" panose="02020603050405020304" pitchFamily="18" charset="0"/>
                        </a:rPr>
                        <a:t>Nitrogen consumption is</a:t>
                      </a:r>
                      <a:r>
                        <a:rPr lang="en-US" sz="1400" u="none" strike="noStrike" baseline="0" dirty="0">
                          <a:effectLst/>
                          <a:latin typeface="Times New Roman" panose="02020603050405020304" pitchFamily="18" charset="0"/>
                          <a:cs typeface="Times New Roman" panose="02020603050405020304" pitchFamily="18" charset="0"/>
                        </a:rPr>
                        <a:t> h</a:t>
                      </a:r>
                      <a:r>
                        <a:rPr lang="en-US" sz="1400" u="none" strike="noStrike" dirty="0">
                          <a:effectLst/>
                          <a:latin typeface="Times New Roman" panose="02020603050405020304" pitchFamily="18" charset="0"/>
                          <a:cs typeface="Times New Roman" panose="02020603050405020304" pitchFamily="18" charset="0"/>
                        </a:rPr>
                        <a:t>igh than design</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25" marR="5525" marT="5525"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ctr"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ctr" rtl="0">
                        <a:lnSpc>
                          <a:spcPct val="115000"/>
                        </a:lnSpc>
                        <a:spcBef>
                          <a:spcPts val="0"/>
                        </a:spcBef>
                        <a:spcAft>
                          <a:spcPts val="0"/>
                        </a:spcAft>
                        <a:buClr>
                          <a:srgbClr val="000000"/>
                        </a:buClr>
                        <a:buSzPts val="1400"/>
                        <a:buFont typeface="Calibri"/>
                        <a:buNone/>
                      </a:pPr>
                      <a:r>
                        <a:rPr lang="en-IN" sz="1400" b="0" i="0" u="none" dirty="0">
                          <a:solidFill>
                            <a:srgbClr val="000000"/>
                          </a:solidFill>
                          <a:latin typeface="Times New Roman" panose="02020603050405020304" pitchFamily="18" charset="0"/>
                          <a:ea typeface="Calibri"/>
                          <a:cs typeface="Times New Roman" panose="02020603050405020304" pitchFamily="18" charset="0"/>
                          <a:sym typeface="Calibri"/>
                        </a:rPr>
                        <a:t> 28</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826096">
                <a:tc>
                  <a:txBody>
                    <a:bodyPr/>
                    <a:lstStyle/>
                    <a:p>
                      <a:pPr marL="0" marR="0" lvl="0" indent="0" algn="ctr"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3</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algn="l" rtl="0" fontAlgn="ctr"/>
                      <a:r>
                        <a:rPr lang="en-US" sz="1600" b="1" i="0" u="none" strike="noStrike" baseline="0" dirty="0">
                          <a:solidFill>
                            <a:schemeClr val="tx1"/>
                          </a:solidFill>
                          <a:effectLst/>
                          <a:latin typeface="Times New Roman" panose="02020603050405020304" pitchFamily="18" charset="0"/>
                          <a:cs typeface="Times New Roman" panose="02020603050405020304" pitchFamily="18" charset="0"/>
                        </a:rPr>
                        <a:t>PDC Cooling pipe leakage</a:t>
                      </a: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ctr"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tc>
                  <a:txBody>
                    <a:bodyPr/>
                    <a:lstStyle/>
                    <a:p>
                      <a:pPr marL="0" marR="0" lvl="0" indent="0" algn="ctr"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panose="02020603050405020304" pitchFamily="18" charset="0"/>
                          <a:ea typeface="Calibri"/>
                          <a:cs typeface="Times New Roman" panose="02020603050405020304" pitchFamily="18" charset="0"/>
                          <a:sym typeface="Calibri"/>
                        </a:rPr>
                        <a:t> 42</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FAC090"/>
                    </a:solidFill>
                  </a:tcPr>
                </a:tc>
                <a:extLst>
                  <a:ext uri="{0D108BD9-81ED-4DB2-BD59-A6C34878D82A}">
                    <a16:rowId xmlns:a16="http://schemas.microsoft.com/office/drawing/2014/main" val="10003"/>
                  </a:ext>
                </a:extLst>
              </a:tr>
              <a:tr h="494112">
                <a:tc>
                  <a:txBody>
                    <a:bodyPr/>
                    <a:lstStyle/>
                    <a:p>
                      <a:pPr marL="0" marR="0" lvl="0" indent="0" algn="ctr"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a:ea typeface="Calibri"/>
                          <a:cs typeface="Times New Roman"/>
                          <a:sym typeface="Calibri"/>
                        </a:rPr>
                        <a:t>4</a:t>
                      </a:r>
                      <a:endParaRPr dirty="0">
                        <a:latin typeface="Times New Roman"/>
                        <a:cs typeface="Times New Roman"/>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chemeClr val="dk1"/>
                          </a:solidFill>
                          <a:effectLst/>
                          <a:latin typeface="Times New Roman" panose="02020603050405020304" pitchFamily="18" charset="0"/>
                          <a:cs typeface="Times New Roman" panose="02020603050405020304" pitchFamily="18" charset="0"/>
                        </a:rPr>
                        <a:t>GDS Discharge</a:t>
                      </a:r>
                      <a:r>
                        <a:rPr lang="en-US" sz="1400" b="0" i="0" u="none" strike="noStrike" baseline="0" dirty="0">
                          <a:solidFill>
                            <a:schemeClr val="dk1"/>
                          </a:solidFill>
                          <a:effectLst/>
                          <a:latin typeface="Times New Roman" panose="02020603050405020304" pitchFamily="18" charset="0"/>
                          <a:cs typeface="Times New Roman" panose="02020603050405020304" pitchFamily="18" charset="0"/>
                        </a:rPr>
                        <a:t> cylinder Issue</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ctr"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tc>
                  <a:txBody>
                    <a:bodyPr/>
                    <a:lstStyle/>
                    <a:p>
                      <a:pPr marL="0" marR="0" lvl="0" indent="0" algn="ctr" rtl="0">
                        <a:lnSpc>
                          <a:spcPct val="115000"/>
                        </a:lnSpc>
                        <a:spcBef>
                          <a:spcPts val="0"/>
                        </a:spcBef>
                        <a:spcAft>
                          <a:spcPts val="0"/>
                        </a:spcAft>
                        <a:buClr>
                          <a:srgbClr val="000000"/>
                        </a:buClr>
                        <a:buSzPts val="1400"/>
                        <a:buFont typeface="Calibri"/>
                        <a:buNone/>
                      </a:pPr>
                      <a:r>
                        <a:rPr lang="en-IN" sz="1400" b="0" i="0" u="none" dirty="0">
                          <a:solidFill>
                            <a:srgbClr val="000000"/>
                          </a:solidFill>
                          <a:latin typeface="Times New Roman" panose="02020603050405020304" pitchFamily="18" charset="0"/>
                          <a:ea typeface="Calibri"/>
                          <a:cs typeface="Times New Roman" panose="02020603050405020304" pitchFamily="18" charset="0"/>
                          <a:sym typeface="Calibri"/>
                        </a:rPr>
                        <a:t> 25</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554173">
                <a:tc>
                  <a:txBody>
                    <a:bodyPr/>
                    <a:lstStyle/>
                    <a:p>
                      <a:pPr marL="0" marR="0" lvl="0" indent="0" algn="ctr" rtl="0">
                        <a:lnSpc>
                          <a:spcPct val="115000"/>
                        </a:lnSpc>
                        <a:spcBef>
                          <a:spcPts val="0"/>
                        </a:spcBef>
                        <a:spcAft>
                          <a:spcPts val="0"/>
                        </a:spcAft>
                        <a:buClr>
                          <a:srgbClr val="000000"/>
                        </a:buClr>
                        <a:buSzPts val="1400"/>
                        <a:buFont typeface="Calibri"/>
                        <a:buNone/>
                      </a:pPr>
                      <a:r>
                        <a:rPr lang="en-IN" sz="1400" b="1" i="0" u="none" dirty="0">
                          <a:solidFill>
                            <a:srgbClr val="000000"/>
                          </a:solidFill>
                          <a:latin typeface="Times New Roman"/>
                          <a:ea typeface="Calibri"/>
                          <a:cs typeface="Times New Roman"/>
                          <a:sym typeface="Calibri"/>
                        </a:rPr>
                        <a:t>5</a:t>
                      </a:r>
                      <a:endParaRPr dirty="0">
                        <a:latin typeface="Times New Roman"/>
                        <a:cs typeface="Times New Roman"/>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indent="0" algn="l" defTabSz="914674" rtl="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Bucket Rotation Problem.</a:t>
                      </a: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ctr"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l" rtl="0">
                        <a:spcBef>
                          <a:spcPts val="0"/>
                        </a:spcBef>
                        <a:spcAft>
                          <a:spcPts val="0"/>
                        </a:spcAft>
                        <a:buNone/>
                      </a:pPr>
                      <a:endParaRPr sz="1800" dirty="0">
                        <a:solidFill>
                          <a:schemeClr val="dk1"/>
                        </a:solidFill>
                        <a:latin typeface="Times New Roman" panose="02020603050405020304" pitchFamily="18" charset="0"/>
                        <a:ea typeface="Calibri"/>
                        <a:cs typeface="Times New Roman" panose="02020603050405020304" pitchFamily="18" charset="0"/>
                        <a:sym typeface="Calibri"/>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tc>
                  <a:txBody>
                    <a:bodyPr/>
                    <a:lstStyle/>
                    <a:p>
                      <a:pPr marL="0" marR="0" lvl="0" indent="0" algn="ctr" rtl="0">
                        <a:lnSpc>
                          <a:spcPct val="115000"/>
                        </a:lnSpc>
                        <a:spcBef>
                          <a:spcPts val="0"/>
                        </a:spcBef>
                        <a:spcAft>
                          <a:spcPts val="0"/>
                        </a:spcAft>
                        <a:buClr>
                          <a:srgbClr val="000000"/>
                        </a:buClr>
                        <a:buSzPts val="1400"/>
                        <a:buFont typeface="Calibri"/>
                        <a:buNone/>
                      </a:pPr>
                      <a:r>
                        <a:rPr lang="en-IN" sz="1400" b="0" i="0" u="none" dirty="0">
                          <a:solidFill>
                            <a:srgbClr val="000000"/>
                          </a:solidFill>
                          <a:latin typeface="Times New Roman" panose="02020603050405020304" pitchFamily="18" charset="0"/>
                          <a:ea typeface="Calibri"/>
                          <a:cs typeface="Times New Roman" panose="02020603050405020304" pitchFamily="18" charset="0"/>
                          <a:sym typeface="Calibri"/>
                        </a:rPr>
                        <a:t> 23</a:t>
                      </a:r>
                      <a:endParaRPr dirty="0">
                        <a:latin typeface="Times New Roman" panose="02020603050405020304" pitchFamily="18" charset="0"/>
                        <a:cs typeface="Times New Roman" panose="02020603050405020304" pitchFamily="18" charset="0"/>
                      </a:endParaRPr>
                    </a:p>
                  </a:txBody>
                  <a:tcPr marL="68575" marR="68575" marT="0" marB="0"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bl>
          </a:graphicData>
        </a:graphic>
      </p:graphicFrame>
      <p:sp>
        <p:nvSpPr>
          <p:cNvPr id="10" name="Google Shape;291;g902e33ebf3_1_12"/>
          <p:cNvSpPr/>
          <p:nvPr/>
        </p:nvSpPr>
        <p:spPr>
          <a:xfrm>
            <a:off x="6756454" y="5729468"/>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2" name="Google Shape;295;g902e33ebf3_1_12"/>
          <p:cNvSpPr/>
          <p:nvPr/>
        </p:nvSpPr>
        <p:spPr>
          <a:xfrm>
            <a:off x="5998198" y="3838569"/>
            <a:ext cx="314325" cy="238125"/>
          </a:xfrm>
          <a:custGeom>
            <a:avLst/>
            <a:gdLst/>
            <a:ahLst/>
            <a:cxnLst/>
            <a:rect l="l" t="t" r="r" b="b"/>
            <a:pathLst>
              <a:path w="314325" h="238125" extrusionOk="0">
                <a:moveTo>
                  <a:pt x="0" y="90955"/>
                </a:moveTo>
                <a:lnTo>
                  <a:pt x="120062" y="90956"/>
                </a:lnTo>
                <a:lnTo>
                  <a:pt x="157163" y="0"/>
                </a:lnTo>
                <a:lnTo>
                  <a:pt x="194263" y="90956"/>
                </a:lnTo>
                <a:lnTo>
                  <a:pt x="314325" y="90955"/>
                </a:lnTo>
                <a:lnTo>
                  <a:pt x="217192" y="147169"/>
                </a:lnTo>
                <a:lnTo>
                  <a:pt x="254294" y="238124"/>
                </a:lnTo>
                <a:lnTo>
                  <a:pt x="157163" y="181910"/>
                </a:lnTo>
                <a:lnTo>
                  <a:pt x="60031" y="238124"/>
                </a:lnTo>
                <a:lnTo>
                  <a:pt x="97133" y="147169"/>
                </a:lnTo>
                <a:lnTo>
                  <a:pt x="0" y="90955"/>
                </a:lnTo>
                <a:close/>
              </a:path>
            </a:pathLst>
          </a:custGeom>
          <a:solidFill>
            <a:srgbClr val="FF0000"/>
          </a:solidFill>
          <a:ln w="19050" cap="flat" cmpd="sng">
            <a:solidFill>
              <a:srgbClr val="FF0000"/>
            </a:solidFill>
            <a:prstDash val="solid"/>
            <a:miter lim="524288"/>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4" name="Google Shape;297;g902e33ebf3_1_12"/>
          <p:cNvSpPr/>
          <p:nvPr/>
        </p:nvSpPr>
        <p:spPr>
          <a:xfrm>
            <a:off x="4419637" y="3853233"/>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6" name="Google Shape;299;g902e33ebf3_1_12"/>
          <p:cNvSpPr/>
          <p:nvPr/>
        </p:nvSpPr>
        <p:spPr>
          <a:xfrm>
            <a:off x="6751738" y="3837383"/>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8" name="Google Shape;301;g902e33ebf3_1_12"/>
          <p:cNvSpPr/>
          <p:nvPr/>
        </p:nvSpPr>
        <p:spPr>
          <a:xfrm>
            <a:off x="5974436" y="3238659"/>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1" name="Google Shape;304;g902e33ebf3_1_12"/>
          <p:cNvSpPr/>
          <p:nvPr/>
        </p:nvSpPr>
        <p:spPr>
          <a:xfrm>
            <a:off x="9528862" y="3804794"/>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2" name="Google Shape;305;g902e33ebf3_1_12"/>
          <p:cNvSpPr/>
          <p:nvPr/>
        </p:nvSpPr>
        <p:spPr>
          <a:xfrm>
            <a:off x="4438333" y="5184011"/>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4" name="Google Shape;307;g902e33ebf3_1_12"/>
          <p:cNvSpPr/>
          <p:nvPr/>
        </p:nvSpPr>
        <p:spPr>
          <a:xfrm>
            <a:off x="5369872" y="5185596"/>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5" name="Google Shape;308;g902e33ebf3_1_12"/>
          <p:cNvSpPr/>
          <p:nvPr/>
        </p:nvSpPr>
        <p:spPr>
          <a:xfrm>
            <a:off x="5364372" y="5733280"/>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6" name="Google Shape;309;g902e33ebf3_1_12"/>
          <p:cNvSpPr/>
          <p:nvPr/>
        </p:nvSpPr>
        <p:spPr>
          <a:xfrm>
            <a:off x="8536149" y="5651798"/>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9" name="Google Shape;312;g902e33ebf3_1_12"/>
          <p:cNvSpPr/>
          <p:nvPr/>
        </p:nvSpPr>
        <p:spPr>
          <a:xfrm>
            <a:off x="7663790" y="5136433"/>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1" name="Google Shape;314;g902e33ebf3_1_12"/>
          <p:cNvSpPr/>
          <p:nvPr/>
        </p:nvSpPr>
        <p:spPr>
          <a:xfrm>
            <a:off x="6019589" y="5206413"/>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 name="Google Shape;318;g902e33ebf3_1_12"/>
          <p:cNvSpPr/>
          <p:nvPr/>
        </p:nvSpPr>
        <p:spPr>
          <a:xfrm>
            <a:off x="6716520" y="3230155"/>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 name="Google Shape;319;g902e33ebf3_1_12"/>
          <p:cNvSpPr/>
          <p:nvPr/>
        </p:nvSpPr>
        <p:spPr>
          <a:xfrm>
            <a:off x="5345999" y="3217642"/>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 name="Google Shape;321;g902e33ebf3_1_12"/>
          <p:cNvSpPr/>
          <p:nvPr/>
        </p:nvSpPr>
        <p:spPr>
          <a:xfrm>
            <a:off x="9539021" y="5740542"/>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1" name="Google Shape;324;g902e33ebf3_1_12"/>
          <p:cNvSpPr txBox="1"/>
          <p:nvPr/>
        </p:nvSpPr>
        <p:spPr>
          <a:xfrm>
            <a:off x="3133723" y="6426497"/>
            <a:ext cx="5761076" cy="294953"/>
          </a:xfrm>
          <a:prstGeom prst="rect">
            <a:avLst/>
          </a:prstGeom>
          <a:noFill/>
          <a:ln>
            <a:noFill/>
          </a:ln>
        </p:spPr>
        <p:txBody>
          <a:bodyPr spcFirstLastPara="1" wrap="square" lIns="91425" tIns="45700" rIns="91425" bIns="45700" anchor="t" anchorCtr="0">
            <a:noAutofit/>
          </a:bodyPr>
          <a:lstStyle/>
          <a:p>
            <a:pPr algn="ctr">
              <a:buClr>
                <a:srgbClr val="FF0000"/>
              </a:buClr>
              <a:buSzPts val="1800"/>
            </a:pPr>
            <a:r>
              <a:rPr lang="en-IN" sz="1200" b="1" dirty="0">
                <a:solidFill>
                  <a:srgbClr val="FF0000"/>
                </a:solidFill>
                <a:latin typeface="Times New Roman" panose="02020603050405020304" pitchFamily="18" charset="0"/>
                <a:ea typeface="Verdana"/>
                <a:cs typeface="Times New Roman" panose="02020603050405020304" pitchFamily="18" charset="0"/>
                <a:sym typeface="Verdana"/>
              </a:rPr>
              <a:t>THEME SELECTED :- Quality</a:t>
            </a:r>
            <a:endParaRPr sz="1200" dirty="0">
              <a:latin typeface="Times New Roman" panose="02020603050405020304" pitchFamily="18" charset="0"/>
              <a:cs typeface="Times New Roman" panose="02020603050405020304" pitchFamily="18" charset="0"/>
            </a:endParaRPr>
          </a:p>
        </p:txBody>
      </p:sp>
      <p:sp>
        <p:nvSpPr>
          <p:cNvPr id="44" name="Google Shape;290;g902e33ebf3_1_12"/>
          <p:cNvSpPr/>
          <p:nvPr/>
        </p:nvSpPr>
        <p:spPr>
          <a:xfrm>
            <a:off x="7618106" y="4518328"/>
            <a:ext cx="298500" cy="1779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9" name="Title 2"/>
          <p:cNvSpPr txBox="1">
            <a:spLocks/>
          </p:cNvSpPr>
          <p:nvPr/>
        </p:nvSpPr>
        <p:spPr>
          <a:xfrm>
            <a:off x="1079424" y="877653"/>
            <a:ext cx="9968191" cy="534662"/>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a:normAutofit fontScale="97500" lnSpcReduction="10000"/>
          </a:bodyPr>
          <a:lstStyle>
            <a:lvl1pPr algn="ctr" defTabSz="457200" rtl="0" eaLnBrk="1" latinLnBrk="0" hangingPunct="1">
              <a:spcBef>
                <a:spcPct val="0"/>
              </a:spcBef>
              <a:buNone/>
              <a:defRPr sz="4400" kern="1200" cap="none">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fontAlgn="ctr"/>
            <a:r>
              <a:rPr lang="en-US" sz="3200" dirty="0">
                <a:solidFill>
                  <a:srgbClr val="002060"/>
                </a:solidFill>
                <a:latin typeface="Times New Roman" panose="02020603050405020304" pitchFamily="18" charset="0"/>
                <a:cs typeface="Times New Roman" panose="02020603050405020304" pitchFamily="18" charset="0"/>
              </a:rPr>
              <a:t>BRAINSTROMING (A/B/C Analysis)</a:t>
            </a:r>
          </a:p>
        </p:txBody>
      </p:sp>
      <p:sp>
        <p:nvSpPr>
          <p:cNvPr id="50" name="TextBox 1"/>
          <p:cNvSpPr txBox="1">
            <a:spLocks noChangeArrowheads="1"/>
          </p:cNvSpPr>
          <p:nvPr/>
        </p:nvSpPr>
        <p:spPr bwMode="auto">
          <a:xfrm>
            <a:off x="3823339" y="449826"/>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Selection of the Problem</a:t>
            </a:r>
          </a:p>
        </p:txBody>
      </p:sp>
      <p:sp>
        <p:nvSpPr>
          <p:cNvPr id="51" name="Google Shape;283;g902e33ebf3_1_12"/>
          <p:cNvSpPr/>
          <p:nvPr/>
        </p:nvSpPr>
        <p:spPr>
          <a:xfrm>
            <a:off x="4369567" y="3193282"/>
            <a:ext cx="373063" cy="301625"/>
          </a:xfrm>
          <a:custGeom>
            <a:avLst/>
            <a:gdLst/>
            <a:ahLst/>
            <a:cxnLst/>
            <a:rect l="l" t="t" r="r" b="b"/>
            <a:pathLst>
              <a:path w="373063" h="301625" extrusionOk="0">
                <a:moveTo>
                  <a:pt x="0" y="115210"/>
                </a:moveTo>
                <a:lnTo>
                  <a:pt x="142498" y="115211"/>
                </a:lnTo>
                <a:lnTo>
                  <a:pt x="186532" y="0"/>
                </a:lnTo>
                <a:lnTo>
                  <a:pt x="230565" y="115211"/>
                </a:lnTo>
                <a:lnTo>
                  <a:pt x="373063" y="115210"/>
                </a:lnTo>
                <a:lnTo>
                  <a:pt x="257779" y="186414"/>
                </a:lnTo>
                <a:lnTo>
                  <a:pt x="301814" y="301624"/>
                </a:lnTo>
                <a:lnTo>
                  <a:pt x="186532" y="230419"/>
                </a:lnTo>
                <a:lnTo>
                  <a:pt x="71249" y="301624"/>
                </a:lnTo>
                <a:lnTo>
                  <a:pt x="115284" y="186414"/>
                </a:lnTo>
                <a:lnTo>
                  <a:pt x="0" y="115210"/>
                </a:lnTo>
                <a:close/>
              </a:path>
            </a:pathLst>
          </a:custGeom>
          <a:solidFill>
            <a:srgbClr val="FF0000"/>
          </a:solidFill>
          <a:ln w="19050" cap="flat" cmpd="sng">
            <a:solidFill>
              <a:srgbClr val="FF0000"/>
            </a:solidFill>
            <a:prstDash val="solid"/>
            <a:miter lim="524288"/>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2" name="Google Shape;316;g902e33ebf3_1_12"/>
          <p:cNvSpPr/>
          <p:nvPr/>
        </p:nvSpPr>
        <p:spPr>
          <a:xfrm>
            <a:off x="7623062" y="3217642"/>
            <a:ext cx="2985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3" name="Google Shape;318;g902e33ebf3_1_12"/>
          <p:cNvSpPr/>
          <p:nvPr/>
        </p:nvSpPr>
        <p:spPr>
          <a:xfrm>
            <a:off x="6094289" y="5703080"/>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4" name="Google Shape;318;g902e33ebf3_1_12"/>
          <p:cNvSpPr/>
          <p:nvPr/>
        </p:nvSpPr>
        <p:spPr>
          <a:xfrm>
            <a:off x="6762395" y="5154155"/>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6" name="Google Shape;318;g902e33ebf3_1_12"/>
          <p:cNvSpPr/>
          <p:nvPr/>
        </p:nvSpPr>
        <p:spPr>
          <a:xfrm>
            <a:off x="8536149" y="5143371"/>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7" name="Google Shape;318;g902e33ebf3_1_12"/>
          <p:cNvSpPr/>
          <p:nvPr/>
        </p:nvSpPr>
        <p:spPr>
          <a:xfrm>
            <a:off x="8536149" y="4495780"/>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8" name="Google Shape;318;g902e33ebf3_1_12"/>
          <p:cNvSpPr/>
          <p:nvPr/>
        </p:nvSpPr>
        <p:spPr>
          <a:xfrm>
            <a:off x="8527805" y="3802433"/>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59" name="Google Shape;318;g902e33ebf3_1_12"/>
          <p:cNvSpPr/>
          <p:nvPr/>
        </p:nvSpPr>
        <p:spPr>
          <a:xfrm>
            <a:off x="9530079" y="3234179"/>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0" name="Google Shape;318;g902e33ebf3_1_12"/>
          <p:cNvSpPr/>
          <p:nvPr/>
        </p:nvSpPr>
        <p:spPr>
          <a:xfrm>
            <a:off x="8527805" y="3236747"/>
            <a:ext cx="225300" cy="216000"/>
          </a:xfrm>
          <a:prstGeom prst="ellipse">
            <a:avLst/>
          </a:prstGeom>
          <a:solidFill>
            <a:srgbClr val="008000"/>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1" name="Google Shape;284;g902e33ebf3_1_12"/>
          <p:cNvSpPr/>
          <p:nvPr/>
        </p:nvSpPr>
        <p:spPr>
          <a:xfrm>
            <a:off x="5314024" y="3873983"/>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2" name="Google Shape;284;g902e33ebf3_1_12"/>
          <p:cNvSpPr/>
          <p:nvPr/>
        </p:nvSpPr>
        <p:spPr>
          <a:xfrm>
            <a:off x="4419637" y="5729468"/>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3" name="Google Shape;284;g902e33ebf3_1_12"/>
          <p:cNvSpPr/>
          <p:nvPr/>
        </p:nvSpPr>
        <p:spPr>
          <a:xfrm>
            <a:off x="9521992" y="4548020"/>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4" name="Google Shape;284;g902e33ebf3_1_12"/>
          <p:cNvSpPr/>
          <p:nvPr/>
        </p:nvSpPr>
        <p:spPr>
          <a:xfrm>
            <a:off x="6750753" y="4549988"/>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6" name="Google Shape;284;g902e33ebf3_1_12"/>
          <p:cNvSpPr/>
          <p:nvPr/>
        </p:nvSpPr>
        <p:spPr>
          <a:xfrm>
            <a:off x="7628266" y="3854983"/>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7" name="Google Shape;283;g902e33ebf3_1_12"/>
          <p:cNvSpPr/>
          <p:nvPr/>
        </p:nvSpPr>
        <p:spPr>
          <a:xfrm>
            <a:off x="5983058" y="4466588"/>
            <a:ext cx="373063" cy="301625"/>
          </a:xfrm>
          <a:custGeom>
            <a:avLst/>
            <a:gdLst/>
            <a:ahLst/>
            <a:cxnLst/>
            <a:rect l="l" t="t" r="r" b="b"/>
            <a:pathLst>
              <a:path w="373063" h="301625" extrusionOk="0">
                <a:moveTo>
                  <a:pt x="0" y="115210"/>
                </a:moveTo>
                <a:lnTo>
                  <a:pt x="142498" y="115211"/>
                </a:lnTo>
                <a:lnTo>
                  <a:pt x="186532" y="0"/>
                </a:lnTo>
                <a:lnTo>
                  <a:pt x="230565" y="115211"/>
                </a:lnTo>
                <a:lnTo>
                  <a:pt x="373063" y="115210"/>
                </a:lnTo>
                <a:lnTo>
                  <a:pt x="257779" y="186414"/>
                </a:lnTo>
                <a:lnTo>
                  <a:pt x="301814" y="301624"/>
                </a:lnTo>
                <a:lnTo>
                  <a:pt x="186532" y="230419"/>
                </a:lnTo>
                <a:lnTo>
                  <a:pt x="71249" y="301624"/>
                </a:lnTo>
                <a:lnTo>
                  <a:pt x="115284" y="186414"/>
                </a:lnTo>
                <a:lnTo>
                  <a:pt x="0" y="115210"/>
                </a:lnTo>
                <a:close/>
              </a:path>
            </a:pathLst>
          </a:custGeom>
          <a:solidFill>
            <a:srgbClr val="FF0000"/>
          </a:solidFill>
          <a:ln w="19050" cap="flat" cmpd="sng">
            <a:solidFill>
              <a:srgbClr val="FF0000"/>
            </a:solidFill>
            <a:prstDash val="solid"/>
            <a:miter lim="524288"/>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8" name="Google Shape;283;g902e33ebf3_1_12"/>
          <p:cNvSpPr/>
          <p:nvPr/>
        </p:nvSpPr>
        <p:spPr>
          <a:xfrm>
            <a:off x="9465140" y="5110718"/>
            <a:ext cx="373063" cy="301625"/>
          </a:xfrm>
          <a:custGeom>
            <a:avLst/>
            <a:gdLst/>
            <a:ahLst/>
            <a:cxnLst/>
            <a:rect l="l" t="t" r="r" b="b"/>
            <a:pathLst>
              <a:path w="373063" h="301625" extrusionOk="0">
                <a:moveTo>
                  <a:pt x="0" y="115210"/>
                </a:moveTo>
                <a:lnTo>
                  <a:pt x="142498" y="115211"/>
                </a:lnTo>
                <a:lnTo>
                  <a:pt x="186532" y="0"/>
                </a:lnTo>
                <a:lnTo>
                  <a:pt x="230565" y="115211"/>
                </a:lnTo>
                <a:lnTo>
                  <a:pt x="373063" y="115210"/>
                </a:lnTo>
                <a:lnTo>
                  <a:pt x="257779" y="186414"/>
                </a:lnTo>
                <a:lnTo>
                  <a:pt x="301814" y="301624"/>
                </a:lnTo>
                <a:lnTo>
                  <a:pt x="186532" y="230419"/>
                </a:lnTo>
                <a:lnTo>
                  <a:pt x="71249" y="301624"/>
                </a:lnTo>
                <a:lnTo>
                  <a:pt x="115284" y="186414"/>
                </a:lnTo>
                <a:lnTo>
                  <a:pt x="0" y="115210"/>
                </a:lnTo>
                <a:close/>
              </a:path>
            </a:pathLst>
          </a:custGeom>
          <a:solidFill>
            <a:srgbClr val="FF0000"/>
          </a:solidFill>
          <a:ln w="19050" cap="flat" cmpd="sng">
            <a:solidFill>
              <a:srgbClr val="FF0000"/>
            </a:solidFill>
            <a:prstDash val="solid"/>
            <a:miter lim="524288"/>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9" name="Google Shape;284;g902e33ebf3_1_12"/>
          <p:cNvSpPr/>
          <p:nvPr/>
        </p:nvSpPr>
        <p:spPr>
          <a:xfrm>
            <a:off x="7581388" y="5706022"/>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0" name="Oval 24"/>
          <p:cNvSpPr>
            <a:spLocks noChangeArrowheads="1"/>
          </p:cNvSpPr>
          <p:nvPr/>
        </p:nvSpPr>
        <p:spPr bwMode="auto">
          <a:xfrm>
            <a:off x="1079424" y="4120531"/>
            <a:ext cx="10051317" cy="977689"/>
          </a:xfrm>
          <a:prstGeom prst="ellipse">
            <a:avLst/>
          </a:prstGeom>
          <a:noFill/>
          <a:ln w="57150" algn="ctr">
            <a:solidFill>
              <a:srgbClr val="FF0000"/>
            </a:solidFill>
            <a:prstDash val="sysDot"/>
            <a:round/>
            <a:headEnd/>
            <a:tailEnd/>
          </a:ln>
          <a:effectLst/>
        </p:spPr>
        <p:txBody>
          <a:bodyPr wrap="none" anchor="ctr"/>
          <a:lstStyle/>
          <a:p>
            <a:endParaRPr lang="en-US"/>
          </a:p>
        </p:txBody>
      </p:sp>
      <p:sp>
        <p:nvSpPr>
          <p:cNvPr id="3" name="Google Shape;283;g902e33ebf3_1_12">
            <a:extLst>
              <a:ext uri="{FF2B5EF4-FFF2-40B4-BE49-F238E27FC236}">
                <a16:creationId xmlns:a16="http://schemas.microsoft.com/office/drawing/2014/main" id="{A87F3E46-ADF3-DC5B-F2CE-4A9298C0B7D3}"/>
              </a:ext>
            </a:extLst>
          </p:cNvPr>
          <p:cNvSpPr/>
          <p:nvPr/>
        </p:nvSpPr>
        <p:spPr>
          <a:xfrm>
            <a:off x="4355770" y="4507265"/>
            <a:ext cx="373063" cy="301625"/>
          </a:xfrm>
          <a:custGeom>
            <a:avLst/>
            <a:gdLst/>
            <a:ahLst/>
            <a:cxnLst/>
            <a:rect l="l" t="t" r="r" b="b"/>
            <a:pathLst>
              <a:path w="373063" h="301625" extrusionOk="0">
                <a:moveTo>
                  <a:pt x="0" y="115210"/>
                </a:moveTo>
                <a:lnTo>
                  <a:pt x="142498" y="115211"/>
                </a:lnTo>
                <a:lnTo>
                  <a:pt x="186532" y="0"/>
                </a:lnTo>
                <a:lnTo>
                  <a:pt x="230565" y="115211"/>
                </a:lnTo>
                <a:lnTo>
                  <a:pt x="373063" y="115210"/>
                </a:lnTo>
                <a:lnTo>
                  <a:pt x="257779" y="186414"/>
                </a:lnTo>
                <a:lnTo>
                  <a:pt x="301814" y="301624"/>
                </a:lnTo>
                <a:lnTo>
                  <a:pt x="186532" y="230419"/>
                </a:lnTo>
                <a:lnTo>
                  <a:pt x="71249" y="301624"/>
                </a:lnTo>
                <a:lnTo>
                  <a:pt x="115284" y="186414"/>
                </a:lnTo>
                <a:lnTo>
                  <a:pt x="0" y="115210"/>
                </a:lnTo>
                <a:close/>
              </a:path>
            </a:pathLst>
          </a:custGeom>
          <a:solidFill>
            <a:srgbClr val="FF0000"/>
          </a:solidFill>
          <a:ln w="19050" cap="flat" cmpd="sng">
            <a:solidFill>
              <a:srgbClr val="FF0000"/>
            </a:solidFill>
            <a:prstDash val="solid"/>
            <a:miter lim="524288"/>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 name="Google Shape;284;g902e33ebf3_1_12">
            <a:extLst>
              <a:ext uri="{FF2B5EF4-FFF2-40B4-BE49-F238E27FC236}">
                <a16:creationId xmlns:a16="http://schemas.microsoft.com/office/drawing/2014/main" id="{C597BCA2-9772-9D9A-E4DD-8AAEFDB846E5}"/>
              </a:ext>
            </a:extLst>
          </p:cNvPr>
          <p:cNvSpPr/>
          <p:nvPr/>
        </p:nvSpPr>
        <p:spPr>
          <a:xfrm>
            <a:off x="5344504" y="4554703"/>
            <a:ext cx="300000" cy="179400"/>
          </a:xfrm>
          <a:prstGeom prst="triangle">
            <a:avLst>
              <a:gd name="adj" fmla="val 50000"/>
            </a:avLst>
          </a:prstGeom>
          <a:solidFill>
            <a:srgbClr val="0000FF"/>
          </a:solidFill>
          <a:ln w="1905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82988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withEffect">
                                  <p:stCondLst>
                                    <p:cond delay="0"/>
                                  </p:st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550698"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2813" y="118032"/>
            <a:ext cx="887350" cy="891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txBox="1">
            <a:spLocks/>
          </p:cNvSpPr>
          <p:nvPr/>
        </p:nvSpPr>
        <p:spPr>
          <a:xfrm>
            <a:off x="1029848" y="662053"/>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2800" dirty="0">
                <a:solidFill>
                  <a:srgbClr val="002060"/>
                </a:solidFill>
                <a:latin typeface="Times New Roman" panose="02020603050405020304" pitchFamily="18" charset="0"/>
                <a:cs typeface="Times New Roman" panose="02020603050405020304" pitchFamily="18" charset="0"/>
              </a:rPr>
              <a:t>PRIORITIZATION OF PROBLEMS(RATING METHOD)</a:t>
            </a:r>
          </a:p>
        </p:txBody>
      </p:sp>
      <p:sp>
        <p:nvSpPr>
          <p:cNvPr id="5" name="TextBox 1"/>
          <p:cNvSpPr txBox="1">
            <a:spLocks noChangeArrowheads="1"/>
          </p:cNvSpPr>
          <p:nvPr/>
        </p:nvSpPr>
        <p:spPr bwMode="auto">
          <a:xfrm>
            <a:off x="3773762" y="256059"/>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graphicFrame>
        <p:nvGraphicFramePr>
          <p:cNvPr id="6" name="Table 5"/>
          <p:cNvGraphicFramePr>
            <a:graphicFrameLocks noGrp="1"/>
          </p:cNvGraphicFramePr>
          <p:nvPr/>
        </p:nvGraphicFramePr>
        <p:xfrm>
          <a:off x="905347" y="1396334"/>
          <a:ext cx="8944824" cy="4664118"/>
        </p:xfrm>
        <a:graphic>
          <a:graphicData uri="http://schemas.openxmlformats.org/drawingml/2006/table">
            <a:tbl>
              <a:tblPr firstRow="1" lastCol="1">
                <a:tableStyleId>{7DF18680-E054-41AD-8BC1-D1AEF772440D}</a:tableStyleId>
              </a:tblPr>
              <a:tblGrid>
                <a:gridCol w="797023">
                  <a:extLst>
                    <a:ext uri="{9D8B030D-6E8A-4147-A177-3AD203B41FA5}">
                      <a16:colId xmlns:a16="http://schemas.microsoft.com/office/drawing/2014/main" val="20000"/>
                    </a:ext>
                  </a:extLst>
                </a:gridCol>
                <a:gridCol w="2081979">
                  <a:extLst>
                    <a:ext uri="{9D8B030D-6E8A-4147-A177-3AD203B41FA5}">
                      <a16:colId xmlns:a16="http://schemas.microsoft.com/office/drawing/2014/main" val="20001"/>
                    </a:ext>
                  </a:extLst>
                </a:gridCol>
                <a:gridCol w="1354552">
                  <a:extLst>
                    <a:ext uri="{9D8B030D-6E8A-4147-A177-3AD203B41FA5}">
                      <a16:colId xmlns:a16="http://schemas.microsoft.com/office/drawing/2014/main" val="20002"/>
                    </a:ext>
                  </a:extLst>
                </a:gridCol>
                <a:gridCol w="670295">
                  <a:extLst>
                    <a:ext uri="{9D8B030D-6E8A-4147-A177-3AD203B41FA5}">
                      <a16:colId xmlns:a16="http://schemas.microsoft.com/office/drawing/2014/main" val="20003"/>
                    </a:ext>
                  </a:extLst>
                </a:gridCol>
                <a:gridCol w="667175">
                  <a:extLst>
                    <a:ext uri="{9D8B030D-6E8A-4147-A177-3AD203B41FA5}">
                      <a16:colId xmlns:a16="http://schemas.microsoft.com/office/drawing/2014/main" val="20004"/>
                    </a:ext>
                  </a:extLst>
                </a:gridCol>
                <a:gridCol w="802615">
                  <a:extLst>
                    <a:ext uri="{9D8B030D-6E8A-4147-A177-3AD203B41FA5}">
                      <a16:colId xmlns:a16="http://schemas.microsoft.com/office/drawing/2014/main" val="20005"/>
                    </a:ext>
                  </a:extLst>
                </a:gridCol>
                <a:gridCol w="814812">
                  <a:extLst>
                    <a:ext uri="{9D8B030D-6E8A-4147-A177-3AD203B41FA5}">
                      <a16:colId xmlns:a16="http://schemas.microsoft.com/office/drawing/2014/main" val="20006"/>
                    </a:ext>
                  </a:extLst>
                </a:gridCol>
                <a:gridCol w="687976">
                  <a:extLst>
                    <a:ext uri="{9D8B030D-6E8A-4147-A177-3AD203B41FA5}">
                      <a16:colId xmlns:a16="http://schemas.microsoft.com/office/drawing/2014/main" val="20007"/>
                    </a:ext>
                  </a:extLst>
                </a:gridCol>
                <a:gridCol w="1068397">
                  <a:extLst>
                    <a:ext uri="{9D8B030D-6E8A-4147-A177-3AD203B41FA5}">
                      <a16:colId xmlns:a16="http://schemas.microsoft.com/office/drawing/2014/main" val="20009"/>
                    </a:ext>
                  </a:extLst>
                </a:gridCol>
              </a:tblGrid>
              <a:tr h="492749">
                <a:tc rowSpan="2">
                  <a:txBody>
                    <a:bodyPr/>
                    <a:lstStyle/>
                    <a:p>
                      <a:pPr algn="ctr" fontAlgn="b"/>
                      <a:r>
                        <a:rPr lang="en-US" sz="1400" u="none" strike="noStrike" dirty="0">
                          <a:solidFill>
                            <a:schemeClr val="tx1"/>
                          </a:solidFill>
                          <a:effectLst/>
                        </a:rPr>
                        <a:t>Sl. No.</a:t>
                      </a:r>
                      <a:endParaRPr lang="en-US" sz="1400" b="0" i="0" u="none" strike="noStrike" dirty="0">
                        <a:solidFill>
                          <a:schemeClr val="tx1"/>
                        </a:solidFill>
                        <a:effectLst/>
                        <a:latin typeface="Calibri" panose="020F0502020204030204" pitchFamily="34" charset="0"/>
                      </a:endParaRPr>
                    </a:p>
                  </a:txBody>
                  <a:tcPr marL="9525" marR="9525" marT="9525" marB="0" anchor="ctr">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tcPr>
                </a:tc>
                <a:tc rowSpan="2">
                  <a:txBody>
                    <a:bodyPr/>
                    <a:lstStyle/>
                    <a:p>
                      <a:pPr algn="ctr" fontAlgn="b"/>
                      <a:r>
                        <a:rPr lang="en-US" sz="1400" u="none" strike="noStrike" dirty="0">
                          <a:solidFill>
                            <a:schemeClr val="tx1"/>
                          </a:solidFill>
                          <a:effectLst/>
                        </a:rPr>
                        <a:t>List of Problems</a:t>
                      </a:r>
                      <a:endParaRPr lang="en-US" sz="1400" b="0" i="0" u="none" strike="noStrike" dirty="0">
                        <a:solidFill>
                          <a:schemeClr val="tx1"/>
                        </a:solidFill>
                        <a:effectLst/>
                        <a:latin typeface="Calibri" panose="020F0502020204030204" pitchFamily="34" charset="0"/>
                      </a:endParaRPr>
                    </a:p>
                  </a:txBody>
                  <a:tcPr marL="9525" marR="9525" marT="9525" marB="0" anchor="ctr">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tcPr>
                </a:tc>
                <a:tc>
                  <a:txBody>
                    <a:bodyPr/>
                    <a:lstStyle/>
                    <a:p>
                      <a:pPr algn="ctr" rtl="0" fontAlgn="b"/>
                      <a:r>
                        <a:rPr lang="en-US" sz="1200" b="1" i="0" u="none" strike="noStrike" dirty="0">
                          <a:solidFill>
                            <a:schemeClr val="tx1"/>
                          </a:solidFill>
                          <a:effectLst/>
                          <a:latin typeface="+mn-lt"/>
                        </a:rPr>
                        <a:t>FACILITATOR</a:t>
                      </a:r>
                      <a:endParaRPr lang="en-US" sz="1200" b="0" i="0" u="none" strike="noStrike" dirty="0">
                        <a:solidFill>
                          <a:schemeClr val="tx1"/>
                        </a:solidFill>
                        <a:effectLst/>
                        <a:latin typeface="Arial" panose="020B0604020202020204" pitchFamily="34" charset="0"/>
                      </a:endParaRPr>
                    </a:p>
                  </a:txBody>
                  <a:tcPr marL="9525" marR="9525" marT="9525" marB="0" anchor="ctr">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tcPr>
                </a:tc>
                <a:tc>
                  <a:txBody>
                    <a:bodyPr/>
                    <a:lstStyle/>
                    <a:p>
                      <a:pPr algn="ctr" rtl="0" fontAlgn="b"/>
                      <a:r>
                        <a:rPr lang="en-US" sz="1200" u="none" strike="noStrike" dirty="0">
                          <a:solidFill>
                            <a:schemeClr val="tx1"/>
                          </a:solidFill>
                          <a:effectLst/>
                        </a:rPr>
                        <a:t>LEADER</a:t>
                      </a:r>
                      <a:endParaRPr lang="en-US" sz="1200" b="0" i="0" u="none" strike="noStrike" dirty="0">
                        <a:solidFill>
                          <a:schemeClr val="tx1"/>
                        </a:solidFill>
                        <a:effectLst/>
                        <a:latin typeface="Arial" panose="020B0604020202020204" pitchFamily="34" charset="0"/>
                      </a:endParaRPr>
                    </a:p>
                  </a:txBody>
                  <a:tcPr marL="9525" marR="9525" marT="9525" marB="0" anchor="ctr">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tcPr>
                </a:tc>
                <a:tc gridSpan="5">
                  <a:txBody>
                    <a:bodyPr/>
                    <a:lstStyle/>
                    <a:p>
                      <a:pPr algn="ctr" rtl="0" fontAlgn="b"/>
                      <a:r>
                        <a:rPr lang="en-US" sz="1200" u="none" strike="noStrike" dirty="0">
                          <a:solidFill>
                            <a:schemeClr val="tx1"/>
                          </a:solidFill>
                          <a:effectLst/>
                        </a:rPr>
                        <a:t>MEMBERS</a:t>
                      </a:r>
                      <a:endParaRPr lang="en-US" sz="1200" b="0" i="0" u="none" strike="noStrike" dirty="0">
                        <a:solidFill>
                          <a:schemeClr val="tx1"/>
                        </a:solidFill>
                        <a:effectLst/>
                        <a:latin typeface="Arial" panose="020B0604020202020204" pitchFamily="34" charset="0"/>
                      </a:endParaRPr>
                    </a:p>
                  </a:txBody>
                  <a:tcPr marL="9525" marR="9525" marT="9525" marB="0" anchor="ctr">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0012">
                <a:tc vMerge="1">
                  <a:txBody>
                    <a:bodyPr/>
                    <a:lstStyle/>
                    <a:p>
                      <a:endParaRPr lang="en-US"/>
                    </a:p>
                  </a:txBody>
                  <a:tcPr/>
                </a:tc>
                <a:tc vMerge="1">
                  <a:txBody>
                    <a:bodyPr/>
                    <a:lstStyle/>
                    <a:p>
                      <a:endParaRPr 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b="1" u="none" strike="noStrike" kern="1200" dirty="0">
                        <a:solidFill>
                          <a:schemeClr val="tx1"/>
                        </a:solidFill>
                        <a:effectLst/>
                        <a:latin typeface="+mn-lt"/>
                        <a:ea typeface="+mn-ea"/>
                        <a:cs typeface="+mn-cs"/>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dirty="0">
                          <a:solidFill>
                            <a:schemeClr val="tx1"/>
                          </a:solidFill>
                          <a:effectLst/>
                          <a:latin typeface="+mn-lt"/>
                          <a:ea typeface="+mn-ea"/>
                          <a:cs typeface="+mn-cs"/>
                        </a:rPr>
                        <a:t>Shreyan </a:t>
                      </a:r>
                    </a:p>
                    <a:p>
                      <a:pPr algn="ctr" rtl="0" fontAlgn="ctr"/>
                      <a:endParaRPr lang="en-US" sz="1400" b="1" u="none" strike="noStrike" kern="1200" dirty="0">
                        <a:solidFill>
                          <a:schemeClr val="tx1"/>
                        </a:solidFill>
                        <a:effectLst/>
                        <a:latin typeface="+mn-lt"/>
                        <a:ea typeface="+mn-ea"/>
                        <a:cs typeface="+mn-cs"/>
                      </a:endParaRPr>
                    </a:p>
                  </a:txBody>
                  <a:tcPr marL="9525" marR="9525" marT="9525" marB="0">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solidFill>
                      <a:schemeClr val="accent5"/>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b="1" u="none" strike="noStrike" kern="1200" dirty="0">
                        <a:solidFill>
                          <a:schemeClr val="tx1"/>
                        </a:solidFill>
                        <a:effectLst/>
                        <a:latin typeface="+mn-lt"/>
                        <a:ea typeface="+mn-ea"/>
                        <a:cs typeface="+mn-cs"/>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dirty="0">
                          <a:solidFill>
                            <a:schemeClr val="tx1"/>
                          </a:solidFill>
                          <a:effectLst/>
                          <a:latin typeface="+mn-lt"/>
                          <a:ea typeface="+mn-ea"/>
                          <a:cs typeface="+mn-cs"/>
                        </a:rPr>
                        <a:t>Sagar</a:t>
                      </a:r>
                    </a:p>
                    <a:p>
                      <a:pPr algn="ctr" rtl="0" fontAlgn="ctr"/>
                      <a:endParaRPr lang="en-US" sz="1400" b="1" u="none" strike="noStrike" kern="1200" dirty="0">
                        <a:solidFill>
                          <a:schemeClr val="tx1"/>
                        </a:solidFill>
                        <a:effectLst/>
                        <a:latin typeface="+mn-lt"/>
                        <a:ea typeface="+mn-ea"/>
                        <a:cs typeface="+mn-cs"/>
                      </a:endParaRPr>
                    </a:p>
                  </a:txBody>
                  <a:tcPr marL="9525" marR="9525" marT="9525" marB="0">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solidFill>
                      <a:schemeClr val="accent5"/>
                    </a:solidFill>
                  </a:tcPr>
                </a:tc>
                <a:tc>
                  <a:txBody>
                    <a:bodyPr/>
                    <a:lstStyle/>
                    <a:p>
                      <a:pPr algn="ctr" rtl="0" fontAlgn="ctr"/>
                      <a:endParaRPr lang="en-US" sz="1400" b="1" u="none" strike="noStrike" kern="1200" dirty="0">
                        <a:solidFill>
                          <a:schemeClr val="tx1"/>
                        </a:solidFill>
                        <a:effectLst/>
                        <a:latin typeface="+mn-lt"/>
                        <a:ea typeface="+mn-ea"/>
                        <a:cs typeface="+mn-cs"/>
                      </a:endParaRPr>
                    </a:p>
                    <a:p>
                      <a:pPr algn="ctr" rtl="0" fontAlgn="ctr"/>
                      <a:r>
                        <a:rPr lang="en-US" sz="1400" b="1" u="none" strike="noStrike" kern="1200" dirty="0">
                          <a:solidFill>
                            <a:schemeClr val="tx1"/>
                          </a:solidFill>
                          <a:effectLst/>
                          <a:latin typeface="+mn-lt"/>
                          <a:ea typeface="+mn-ea"/>
                          <a:cs typeface="+mn-cs"/>
                        </a:rPr>
                        <a:t>Sumant</a:t>
                      </a:r>
                    </a:p>
                  </a:txBody>
                  <a:tcPr marL="9525" marR="9525" marT="9525" marB="0">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solidFill>
                      <a:schemeClr val="accent5"/>
                    </a:solidFill>
                  </a:tcPr>
                </a:tc>
                <a:tc>
                  <a:txBody>
                    <a:bodyPr/>
                    <a:lstStyle/>
                    <a:p>
                      <a:pPr algn="ctr" rtl="0" fontAlgn="ctr"/>
                      <a:endParaRPr lang="en-US" sz="1400" b="1" u="none" strike="noStrike" kern="1200" dirty="0">
                        <a:solidFill>
                          <a:schemeClr val="tx1"/>
                        </a:solidFill>
                        <a:effectLst/>
                        <a:latin typeface="+mn-lt"/>
                        <a:ea typeface="+mn-ea"/>
                        <a:cs typeface="+mn-cs"/>
                      </a:endParaRPr>
                    </a:p>
                    <a:p>
                      <a:pPr algn="ctr" rtl="0" fontAlgn="ctr"/>
                      <a:r>
                        <a:rPr lang="en-US" sz="1400" b="1" u="none" strike="noStrike" kern="1200" dirty="0">
                          <a:solidFill>
                            <a:schemeClr val="tx1"/>
                          </a:solidFill>
                          <a:effectLst/>
                          <a:latin typeface="+mn-lt"/>
                          <a:ea typeface="+mn-ea"/>
                          <a:cs typeface="+mn-cs"/>
                        </a:rPr>
                        <a:t>Biswajeet</a:t>
                      </a:r>
                    </a:p>
                  </a:txBody>
                  <a:tcPr marL="9525" marR="9525" marT="9525" marB="0">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solidFill>
                      <a:schemeClr val="accent5"/>
                    </a:solidFill>
                  </a:tcPr>
                </a:tc>
                <a:tc>
                  <a:txBody>
                    <a:bodyPr/>
                    <a:lstStyle/>
                    <a:p>
                      <a:pPr algn="ctr" rtl="0" fontAlgn="ctr"/>
                      <a:endParaRPr lang="en-US" sz="1400" b="1" u="none" strike="noStrike" kern="1200" dirty="0">
                        <a:solidFill>
                          <a:schemeClr val="tx1"/>
                        </a:solidFill>
                        <a:effectLst/>
                        <a:latin typeface="+mn-lt"/>
                        <a:ea typeface="+mn-ea"/>
                        <a:cs typeface="+mn-cs"/>
                      </a:endParaRPr>
                    </a:p>
                    <a:p>
                      <a:pPr algn="ctr" rtl="0" fontAlgn="ctr"/>
                      <a:r>
                        <a:rPr lang="en-US" sz="1400" b="1" u="none" strike="noStrike" kern="1200" dirty="0">
                          <a:solidFill>
                            <a:schemeClr val="tx1"/>
                          </a:solidFill>
                          <a:effectLst/>
                          <a:latin typeface="+mn-lt"/>
                          <a:ea typeface="+mn-ea"/>
                          <a:cs typeface="+mn-cs"/>
                        </a:rPr>
                        <a:t>Mukul</a:t>
                      </a:r>
                    </a:p>
                  </a:txBody>
                  <a:tcPr marL="9525" marR="9525" marT="9525" marB="0">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solidFill>
                      <a:schemeClr val="accent5"/>
                    </a:solidFill>
                  </a:tcPr>
                </a:tc>
                <a:tc>
                  <a:txBody>
                    <a:bodyPr/>
                    <a:lstStyle/>
                    <a:p>
                      <a:pPr algn="ctr" rtl="0" fontAlgn="ctr"/>
                      <a:endParaRPr lang="en-US" sz="1400" b="1" u="none" strike="noStrike" kern="1200" dirty="0">
                        <a:solidFill>
                          <a:schemeClr val="tx1"/>
                        </a:solidFill>
                        <a:effectLst/>
                        <a:latin typeface="+mn-lt"/>
                        <a:ea typeface="+mn-ea"/>
                        <a:cs typeface="+mn-cs"/>
                      </a:endParaRPr>
                    </a:p>
                    <a:p>
                      <a:pPr algn="ctr" rtl="0" fontAlgn="ctr"/>
                      <a:r>
                        <a:rPr lang="en-US" sz="1400" b="1" u="none" strike="noStrike" kern="1200" dirty="0">
                          <a:solidFill>
                            <a:schemeClr val="tx1"/>
                          </a:solidFill>
                          <a:effectLst/>
                          <a:latin typeface="+mn-lt"/>
                          <a:ea typeface="+mn-ea"/>
                          <a:cs typeface="+mn-cs"/>
                        </a:rPr>
                        <a:t>Sonu</a:t>
                      </a:r>
                    </a:p>
                  </a:txBody>
                  <a:tcPr marL="9525" marR="9525" marT="9525" marB="0">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solidFill>
                      <a:schemeClr val="accent5"/>
                    </a:solidFill>
                  </a:tcPr>
                </a:tc>
                <a:tc>
                  <a:txBody>
                    <a:bodyPr/>
                    <a:lstStyle/>
                    <a:p>
                      <a:pPr algn="ctr" rtl="0" fontAlgn="ctr"/>
                      <a:r>
                        <a:rPr lang="en-US" sz="1400" b="1" u="none" strike="noStrike" kern="1200" dirty="0">
                          <a:solidFill>
                            <a:schemeClr val="tx1"/>
                          </a:solidFill>
                          <a:effectLst/>
                          <a:latin typeface="+mn-lt"/>
                          <a:ea typeface="+mn-ea"/>
                          <a:cs typeface="+mn-cs"/>
                        </a:rPr>
                        <a:t>Total</a:t>
                      </a:r>
                    </a:p>
                  </a:txBody>
                  <a:tcPr marL="9525" marR="9525" marT="9525" marB="0" anchor="ctr">
                    <a:lnL w="28575" cap="flat" cmpd="sng" algn="ctr">
                      <a:solidFill>
                        <a:srgbClr val="F6F6F6"/>
                      </a:solidFill>
                      <a:prstDash val="solid"/>
                      <a:round/>
                      <a:headEnd type="none" w="med" len="med"/>
                      <a:tailEnd type="none" w="med" len="med"/>
                    </a:lnL>
                    <a:lnR w="28575" cap="flat" cmpd="sng" algn="ctr">
                      <a:solidFill>
                        <a:srgbClr val="F6F6F6"/>
                      </a:solidFill>
                      <a:prstDash val="solid"/>
                      <a:round/>
                      <a:headEnd type="none" w="med" len="med"/>
                      <a:tailEnd type="none" w="med" len="med"/>
                    </a:lnR>
                    <a:lnT w="28575" cap="flat" cmpd="sng" algn="ctr">
                      <a:solidFill>
                        <a:srgbClr val="F6F6F6"/>
                      </a:solidFill>
                      <a:prstDash val="solid"/>
                      <a:round/>
                      <a:headEnd type="none" w="med" len="med"/>
                      <a:tailEnd type="none" w="med" len="med"/>
                    </a:lnT>
                    <a:lnB w="28575" cap="flat" cmpd="sng" algn="ctr">
                      <a:solidFill>
                        <a:srgbClr val="F6F6F6"/>
                      </a:solidFill>
                      <a:prstDash val="solid"/>
                      <a:round/>
                      <a:headEnd type="none" w="med" len="med"/>
                      <a:tailEnd type="none" w="med" len="med"/>
                    </a:lnB>
                  </a:tcPr>
                </a:tc>
                <a:extLst>
                  <a:ext uri="{0D108BD9-81ED-4DB2-BD59-A6C34878D82A}">
                    <a16:rowId xmlns:a16="http://schemas.microsoft.com/office/drawing/2014/main" val="10001"/>
                  </a:ext>
                </a:extLst>
              </a:tr>
              <a:tr h="651581">
                <a:tc>
                  <a:txBody>
                    <a:bodyPr/>
                    <a:lstStyle/>
                    <a:p>
                      <a:pPr algn="ctr" fontAlgn="ctr"/>
                      <a:r>
                        <a:rPr lang="en-US" sz="1800" b="0" u="none" strike="noStrike" dirty="0">
                          <a:effectLst/>
                          <a:latin typeface="Times New Roman" panose="02020603050405020304" pitchFamily="18" charset="0"/>
                          <a:cs typeface="Times New Roman" panose="02020603050405020304" pitchFamily="18" charset="0"/>
                        </a:rPr>
                        <a:t>01</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endParaRPr lang="en-US" sz="1600" b="0" u="none" strike="noStrike" dirty="0">
                        <a:effectLst/>
                        <a:latin typeface="Times New Roman" panose="02020603050405020304" pitchFamily="18" charset="0"/>
                        <a:cs typeface="Times New Roman" panose="020206030504050203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en-US" sz="1600" b="0" u="none" strike="noStrike" dirty="0">
                          <a:effectLst/>
                          <a:latin typeface="Times New Roman" panose="02020603050405020304" pitchFamily="18" charset="0"/>
                          <a:cs typeface="Times New Roman" panose="02020603050405020304" pitchFamily="18" charset="0"/>
                        </a:rPr>
                        <a:t>RSV trip for</a:t>
                      </a:r>
                      <a:r>
                        <a:rPr lang="en-US" sz="1600" b="0" u="none" strike="noStrike" baseline="0" dirty="0">
                          <a:effectLst/>
                          <a:latin typeface="Times New Roman" panose="02020603050405020304" pitchFamily="18" charset="0"/>
                          <a:cs typeface="Times New Roman" panose="02020603050405020304" pitchFamily="18" charset="0"/>
                        </a:rPr>
                        <a:t> liner</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b"/>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i="0" u="none" strike="noStrike" dirty="0">
                          <a:solidFill>
                            <a:schemeClr val="dk1"/>
                          </a:solidFill>
                          <a:effectLst/>
                          <a:latin typeface="Times New Roman" panose="02020603050405020304" pitchFamily="18" charset="0"/>
                          <a:cs typeface="Times New Roman" panose="02020603050405020304" pitchFamily="18" charset="0"/>
                        </a:rPr>
                        <a:t>8</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i="0" u="none" strike="noStrike" dirty="0">
                          <a:solidFill>
                            <a:schemeClr val="dk1"/>
                          </a:solidFill>
                          <a:effectLst/>
                          <a:latin typeface="Times New Roman" panose="02020603050405020304" pitchFamily="18" charset="0"/>
                          <a:cs typeface="Times New Roman" panose="02020603050405020304" pitchFamily="18" charset="0"/>
                        </a:rPr>
                        <a:t>7</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u="none" strike="noStrike" dirty="0">
                          <a:effectLst/>
                          <a:latin typeface="Times New Roman" panose="02020603050405020304" pitchFamily="18" charset="0"/>
                          <a:cs typeface="Times New Roman" panose="02020603050405020304" pitchFamily="18" charset="0"/>
                        </a:rPr>
                        <a:t>7</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i="0" u="none" strike="noStrike" dirty="0">
                          <a:solidFill>
                            <a:schemeClr val="dk1"/>
                          </a:solidFill>
                          <a:effectLst/>
                          <a:latin typeface="Times New Roman" panose="02020603050405020304" pitchFamily="18" charset="0"/>
                          <a:cs typeface="Times New Roman" panose="02020603050405020304" pitchFamily="18" charset="0"/>
                        </a:rPr>
                        <a:t>8</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i="0" u="none" strike="noStrike" dirty="0">
                          <a:solidFill>
                            <a:schemeClr val="dk1"/>
                          </a:solidFill>
                          <a:effectLst/>
                          <a:latin typeface="Times New Roman" panose="02020603050405020304" pitchFamily="18" charset="0"/>
                          <a:cs typeface="Times New Roman" panose="02020603050405020304" pitchFamily="18" charset="0"/>
                        </a:rPr>
                        <a:t>5</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i="0" u="none" strike="noStrike" dirty="0">
                          <a:solidFill>
                            <a:schemeClr val="dk1"/>
                          </a:solidFill>
                          <a:effectLst/>
                          <a:latin typeface="Times New Roman" panose="02020603050405020304" pitchFamily="18" charset="0"/>
                          <a:cs typeface="Times New Roman" panose="02020603050405020304" pitchFamily="18" charset="0"/>
                        </a:rPr>
                        <a:t>6</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T w="28575" cap="flat" cmpd="sng" algn="ctr">
                      <a:solidFill>
                        <a:srgbClr val="F6F6F6"/>
                      </a:solidFill>
                      <a:prstDash val="solid"/>
                      <a:round/>
                      <a:headEnd type="none" w="med" len="med"/>
                      <a:tailEnd type="none" w="med" len="med"/>
                    </a:lnT>
                  </a:tcP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41</a:t>
                      </a:r>
                    </a:p>
                  </a:txBody>
                  <a:tcPr marL="9525" marR="9525" marT="9525" marB="0" anchor="ctr">
                    <a:lnT w="28575" cap="flat" cmpd="sng" algn="ctr">
                      <a:solidFill>
                        <a:srgbClr val="F6F6F6"/>
                      </a:solidFill>
                      <a:prstDash val="solid"/>
                      <a:round/>
                      <a:headEnd type="none" w="med" len="med"/>
                      <a:tailEnd type="none" w="med" len="med"/>
                    </a:lnT>
                  </a:tcPr>
                </a:tc>
                <a:extLst>
                  <a:ext uri="{0D108BD9-81ED-4DB2-BD59-A6C34878D82A}">
                    <a16:rowId xmlns:a16="http://schemas.microsoft.com/office/drawing/2014/main" val="10002"/>
                  </a:ext>
                </a:extLst>
              </a:tr>
              <a:tr h="787988">
                <a:tc>
                  <a:txBody>
                    <a:bodyPr/>
                    <a:lstStyle/>
                    <a:p>
                      <a:pPr algn="ctr" fontAlgn="ctr"/>
                      <a:r>
                        <a:rPr lang="en-US" sz="1800" b="0" u="none" strike="noStrike" dirty="0">
                          <a:solidFill>
                            <a:schemeClr val="tx1"/>
                          </a:solidFill>
                          <a:effectLst/>
                          <a:latin typeface="Times New Roman" panose="02020603050405020304" pitchFamily="18" charset="0"/>
                          <a:cs typeface="Times New Roman" panose="02020603050405020304" pitchFamily="18" charset="0"/>
                        </a:rPr>
                        <a:t>02</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marL="0" marR="0" indent="0" algn="ctr" defTabSz="914674" rtl="0" eaLnBrk="1" fontAlgn="b" latinLnBrk="0" hangingPunct="1">
                        <a:lnSpc>
                          <a:spcPct val="100000"/>
                        </a:lnSpc>
                        <a:spcBef>
                          <a:spcPts val="0"/>
                        </a:spcBef>
                        <a:spcAft>
                          <a:spcPts val="0"/>
                        </a:spcAft>
                        <a:buClrTx/>
                        <a:buSzTx/>
                        <a:buFontTx/>
                        <a:buNone/>
                        <a:tabLst/>
                        <a:defRPr/>
                      </a:pPr>
                      <a:r>
                        <a:rPr lang="en-US" sz="1600" b="0" u="none" strike="noStrike" dirty="0">
                          <a:effectLst/>
                          <a:latin typeface="Times New Roman" panose="02020603050405020304" pitchFamily="18" charset="0"/>
                          <a:cs typeface="Times New Roman" panose="02020603050405020304" pitchFamily="18" charset="0"/>
                        </a:rPr>
                        <a:t>Nitrogen consumption high than design</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b"/>
                      <a:r>
                        <a:rPr lang="en-US" sz="1800" b="0" u="none" strike="noStrike" dirty="0">
                          <a:solidFill>
                            <a:schemeClr val="tx1"/>
                          </a:solidFill>
                          <a:effectLst/>
                          <a:latin typeface="Times New Roman" panose="02020603050405020304" pitchFamily="18" charset="0"/>
                          <a:cs typeface="Times New Roman" panose="02020603050405020304" pitchFamily="18" charset="0"/>
                        </a:rPr>
                        <a:t>8</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b="0" dirty="0">
                          <a:latin typeface="Times New Roman" panose="02020603050405020304" pitchFamily="18" charset="0"/>
                          <a:cs typeface="Times New Roman" panose="02020603050405020304" pitchFamily="18" charset="0"/>
                        </a:rPr>
                        <a:t>7</a:t>
                      </a:r>
                      <a:endParaRPr lang="en-IN" b="0" dirty="0">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b="0" dirty="0">
                          <a:latin typeface="Times New Roman" panose="02020603050405020304" pitchFamily="18" charset="0"/>
                          <a:cs typeface="Times New Roman" panose="02020603050405020304" pitchFamily="18" charset="0"/>
                        </a:rPr>
                        <a:t>6</a:t>
                      </a:r>
                      <a:endParaRPr lang="en-IN" b="0" dirty="0">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b="0" dirty="0">
                          <a:latin typeface="Times New Roman" panose="02020603050405020304" pitchFamily="18" charset="0"/>
                          <a:cs typeface="Times New Roman" panose="02020603050405020304" pitchFamily="18" charset="0"/>
                        </a:rPr>
                        <a:t>7</a:t>
                      </a:r>
                      <a:endParaRPr lang="en-IN" b="0" dirty="0">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b="0" dirty="0">
                          <a:latin typeface="Times New Roman" panose="02020603050405020304" pitchFamily="18" charset="0"/>
                          <a:cs typeface="Times New Roman" panose="02020603050405020304" pitchFamily="18" charset="0"/>
                        </a:rPr>
                        <a:t>6</a:t>
                      </a:r>
                      <a:endParaRPr lang="en-IN" b="0" dirty="0">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a:r>
                        <a:rPr lang="en-US" b="0" dirty="0">
                          <a:latin typeface="Times New Roman" panose="02020603050405020304" pitchFamily="18" charset="0"/>
                          <a:cs typeface="Times New Roman" panose="02020603050405020304" pitchFamily="18" charset="0"/>
                        </a:rPr>
                        <a:t>5</a:t>
                      </a:r>
                      <a:endParaRPr lang="en-IN" b="0" dirty="0">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b"/>
                      <a:r>
                        <a:rPr lang="en-US" sz="1800" b="0" i="0" u="none" strike="noStrike" dirty="0">
                          <a:solidFill>
                            <a:schemeClr val="bg1"/>
                          </a:solidFill>
                          <a:effectLst/>
                          <a:latin typeface="Times New Roman" panose="02020603050405020304" pitchFamily="18" charset="0"/>
                          <a:cs typeface="Times New Roman" panose="02020603050405020304" pitchFamily="18" charset="0"/>
                        </a:rPr>
                        <a:t>39</a:t>
                      </a:r>
                    </a:p>
                  </a:txBody>
                  <a:tcPr marL="9525" marR="9525" marT="9525" marB="0" anchor="ctr"/>
                </a:tc>
                <a:extLst>
                  <a:ext uri="{0D108BD9-81ED-4DB2-BD59-A6C34878D82A}">
                    <a16:rowId xmlns:a16="http://schemas.microsoft.com/office/drawing/2014/main" val="10003"/>
                  </a:ext>
                </a:extLst>
              </a:tr>
              <a:tr h="787988">
                <a:tc>
                  <a:txBody>
                    <a:bodyPr/>
                    <a:lstStyle/>
                    <a:p>
                      <a:pPr algn="ctr" fontAlgn="ctr"/>
                      <a:r>
                        <a:rPr lang="en-US" sz="1800" b="0" i="0" u="none" strike="noStrike" dirty="0">
                          <a:solidFill>
                            <a:srgbClr val="C00000"/>
                          </a:solidFill>
                          <a:effectLst/>
                          <a:latin typeface="Times New Roman" panose="02020603050405020304" pitchFamily="18" charset="0"/>
                          <a:cs typeface="Times New Roman" panose="02020603050405020304" pitchFamily="18" charset="0"/>
                        </a:rPr>
                        <a:t>03</a:t>
                      </a:r>
                    </a:p>
                  </a:txBody>
                  <a:tcPr marL="9525" marR="9525" marT="9525" marB="0" anchor="ctr"/>
                </a:tc>
                <a:tc>
                  <a:txBody>
                    <a:bodyPr/>
                    <a:lstStyle/>
                    <a:p>
                      <a:pPr marL="0" marR="0" indent="0" algn="ctr" defTabSz="914674" rtl="0" eaLnBrk="1" fontAlgn="b" latinLnBrk="0" hangingPunct="1">
                        <a:lnSpc>
                          <a:spcPct val="100000"/>
                        </a:lnSpc>
                        <a:spcBef>
                          <a:spcPts val="0"/>
                        </a:spcBef>
                        <a:spcAft>
                          <a:spcPts val="0"/>
                        </a:spcAft>
                        <a:buClrTx/>
                        <a:buSzTx/>
                        <a:buFontTx/>
                        <a:buNone/>
                        <a:tabLst/>
                        <a:defRPr/>
                      </a:pPr>
                      <a:r>
                        <a:rPr lang="en-US" sz="1600" b="0" i="0" u="none" strike="noStrike" baseline="0" dirty="0">
                          <a:solidFill>
                            <a:srgbClr val="C00000"/>
                          </a:solidFill>
                          <a:effectLst/>
                          <a:latin typeface="Times New Roman" panose="02020603050405020304" pitchFamily="18" charset="0"/>
                          <a:cs typeface="Times New Roman" panose="02020603050405020304" pitchFamily="18" charset="0"/>
                        </a:rPr>
                        <a:t>PDC Cooling pipe leakage</a:t>
                      </a:r>
                      <a:endParaRPr lang="en-US" sz="1200" b="0" i="0" u="none" strike="noStrike" dirty="0">
                        <a:solidFill>
                          <a:srgbClr val="C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9</a:t>
                      </a: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9</a:t>
                      </a: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C00000"/>
                          </a:solidFill>
                          <a:effectLst/>
                          <a:latin typeface="Times New Roman" panose="02020603050405020304" pitchFamily="18" charset="0"/>
                          <a:cs typeface="Times New Roman" panose="02020603050405020304" pitchFamily="18" charset="0"/>
                        </a:rPr>
                        <a:t>50</a:t>
                      </a:r>
                    </a:p>
                  </a:txBody>
                  <a:tcPr marL="9525" marR="9525" marT="9525" marB="0" anchor="ctr"/>
                </a:tc>
                <a:extLst>
                  <a:ext uri="{0D108BD9-81ED-4DB2-BD59-A6C34878D82A}">
                    <a16:rowId xmlns:a16="http://schemas.microsoft.com/office/drawing/2014/main" val="3275962814"/>
                  </a:ext>
                </a:extLst>
              </a:tr>
              <a:tr h="651581">
                <a:tc>
                  <a:txBody>
                    <a:bodyPr/>
                    <a:lstStyle/>
                    <a:p>
                      <a:pPr algn="ctr" fontAlgn="ctr"/>
                      <a:r>
                        <a:rPr lang="en-US" sz="1800" b="0" u="none" strike="noStrike" dirty="0">
                          <a:effectLst/>
                          <a:latin typeface="Times New Roman" panose="02020603050405020304" pitchFamily="18" charset="0"/>
                          <a:cs typeface="Times New Roman" panose="02020603050405020304" pitchFamily="18" charset="0"/>
                        </a:rPr>
                        <a:t>03</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chemeClr val="dk1"/>
                          </a:solidFill>
                          <a:effectLst/>
                          <a:latin typeface="Times New Roman" panose="02020603050405020304" pitchFamily="18" charset="0"/>
                          <a:cs typeface="Times New Roman" panose="02020603050405020304" pitchFamily="18" charset="0"/>
                        </a:rPr>
                        <a:t>GDS discharge</a:t>
                      </a:r>
                      <a:r>
                        <a:rPr lang="en-US" sz="1600" b="0" i="0" u="none" strike="noStrike" baseline="0" dirty="0">
                          <a:solidFill>
                            <a:schemeClr val="dk1"/>
                          </a:solidFill>
                          <a:effectLst/>
                          <a:latin typeface="Times New Roman" panose="02020603050405020304" pitchFamily="18" charset="0"/>
                          <a:cs typeface="Times New Roman" panose="02020603050405020304" pitchFamily="18" charset="0"/>
                        </a:rPr>
                        <a:t> cylinder issue</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tc>
                <a:tc>
                  <a:txBody>
                    <a:bodyPr/>
                    <a:lstStyle/>
                    <a:p>
                      <a:pPr algn="ctr" rtl="0" fontAlgn="b"/>
                      <a:r>
                        <a:rPr lang="en-US" sz="1800" b="0" i="0" u="none" strike="noStrike" dirty="0">
                          <a:solidFill>
                            <a:schemeClr val="lt1"/>
                          </a:solidFill>
                          <a:effectLst/>
                          <a:latin typeface="Times New Roman" panose="02020603050405020304" pitchFamily="18" charset="0"/>
                          <a:cs typeface="Times New Roman" panose="02020603050405020304" pitchFamily="18" charset="0"/>
                        </a:rPr>
                        <a:t>38</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5"/>
                  </a:ext>
                </a:extLst>
              </a:tr>
              <a:tr h="553162">
                <a:tc>
                  <a:txBody>
                    <a:bodyPr/>
                    <a:lstStyle/>
                    <a:p>
                      <a:pPr algn="ctr" fontAlgn="ctr"/>
                      <a:r>
                        <a:rPr lang="en-US" sz="1800" b="0" u="none" strike="noStrike" dirty="0">
                          <a:effectLst/>
                          <a:latin typeface="Times New Roman" panose="02020603050405020304" pitchFamily="18" charset="0"/>
                          <a:cs typeface="Times New Roman" panose="02020603050405020304" pitchFamily="18" charset="0"/>
                        </a:rPr>
                        <a:t>05</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marL="0" marR="0" indent="0" algn="ctr" defTabSz="914674" rtl="0" eaLnBrk="1" fontAlgn="auto"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Bucket rotation problem.</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tc>
                <a:tc>
                  <a:txBody>
                    <a:bodyPr/>
                    <a:lstStyle/>
                    <a:p>
                      <a:pPr algn="ctr" rtl="0" fontAlgn="b"/>
                      <a:r>
                        <a:rPr lang="en-US" sz="18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tc>
                <a:tc>
                  <a:txBody>
                    <a:bodyPr/>
                    <a:lstStyle/>
                    <a:p>
                      <a:pPr algn="ctr" rtl="0" fontAlgn="b"/>
                      <a:r>
                        <a:rPr lang="en-US" sz="1800" b="0" i="0" u="none" strike="noStrike" dirty="0">
                          <a:solidFill>
                            <a:schemeClr val="lt1"/>
                          </a:solidFill>
                          <a:effectLst/>
                          <a:latin typeface="Times New Roman" panose="02020603050405020304" pitchFamily="18" charset="0"/>
                          <a:cs typeface="Times New Roman" panose="02020603050405020304" pitchFamily="18" charset="0"/>
                        </a:rPr>
                        <a:t>37</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10003502" y="3728393"/>
          <a:ext cx="1539557" cy="898985"/>
        </p:xfrm>
        <a:graphic>
          <a:graphicData uri="http://schemas.openxmlformats.org/drawingml/2006/table">
            <a:tbl>
              <a:tblPr firstRow="1" bandRow="1">
                <a:tableStyleId>{5C22544A-7EE6-4342-B048-85BDC9FD1C3A}</a:tableStyleId>
              </a:tblPr>
              <a:tblGrid>
                <a:gridCol w="905815">
                  <a:extLst>
                    <a:ext uri="{9D8B030D-6E8A-4147-A177-3AD203B41FA5}">
                      <a16:colId xmlns:a16="http://schemas.microsoft.com/office/drawing/2014/main" val="20000"/>
                    </a:ext>
                  </a:extLst>
                </a:gridCol>
                <a:gridCol w="633742">
                  <a:extLst>
                    <a:ext uri="{9D8B030D-6E8A-4147-A177-3AD203B41FA5}">
                      <a16:colId xmlns:a16="http://schemas.microsoft.com/office/drawing/2014/main" val="20001"/>
                    </a:ext>
                  </a:extLst>
                </a:gridCol>
              </a:tblGrid>
              <a:tr h="275896">
                <a:tc>
                  <a:txBody>
                    <a:bodyPr/>
                    <a:lstStyle/>
                    <a:p>
                      <a:r>
                        <a:rPr lang="en-IN" sz="900" dirty="0">
                          <a:solidFill>
                            <a:srgbClr val="002060"/>
                          </a:solidFill>
                        </a:rPr>
                        <a:t>LEAST</a:t>
                      </a:r>
                    </a:p>
                  </a:txBody>
                  <a:tcPr>
                    <a:solidFill>
                      <a:schemeClr val="accent1">
                        <a:lumMod val="60000"/>
                        <a:lumOff val="40000"/>
                      </a:schemeClr>
                    </a:solidFill>
                  </a:tcPr>
                </a:tc>
                <a:tc>
                  <a:txBody>
                    <a:bodyPr/>
                    <a:lstStyle/>
                    <a:p>
                      <a:r>
                        <a:rPr lang="en-IN" sz="1050" dirty="0">
                          <a:solidFill>
                            <a:srgbClr val="002060"/>
                          </a:solidFill>
                        </a:rPr>
                        <a:t>0-3</a:t>
                      </a:r>
                    </a:p>
                  </a:txBody>
                  <a:tcPr>
                    <a:solidFill>
                      <a:schemeClr val="accent1">
                        <a:lumMod val="60000"/>
                        <a:lumOff val="40000"/>
                      </a:schemeClr>
                    </a:solidFill>
                  </a:tcPr>
                </a:tc>
                <a:extLst>
                  <a:ext uri="{0D108BD9-81ED-4DB2-BD59-A6C34878D82A}">
                    <a16:rowId xmlns:a16="http://schemas.microsoft.com/office/drawing/2014/main" val="10000"/>
                  </a:ext>
                </a:extLst>
              </a:tr>
              <a:tr h="347193">
                <a:tc>
                  <a:txBody>
                    <a:bodyPr/>
                    <a:lstStyle/>
                    <a:p>
                      <a:r>
                        <a:rPr lang="en-IN" sz="900" b="1" dirty="0">
                          <a:solidFill>
                            <a:srgbClr val="002060"/>
                          </a:solidFill>
                        </a:rPr>
                        <a:t>MODERATE</a:t>
                      </a:r>
                    </a:p>
                  </a:txBody>
                  <a:tcPr>
                    <a:solidFill>
                      <a:schemeClr val="accent1">
                        <a:lumMod val="60000"/>
                        <a:lumOff val="40000"/>
                      </a:schemeClr>
                    </a:solidFill>
                  </a:tcPr>
                </a:tc>
                <a:tc>
                  <a:txBody>
                    <a:bodyPr/>
                    <a:lstStyle/>
                    <a:p>
                      <a:r>
                        <a:rPr lang="en-IN" sz="1050" dirty="0">
                          <a:solidFill>
                            <a:srgbClr val="002060"/>
                          </a:solidFill>
                        </a:rPr>
                        <a:t>4-7</a:t>
                      </a:r>
                    </a:p>
                  </a:txBody>
                  <a:tcPr>
                    <a:solidFill>
                      <a:schemeClr val="accent1">
                        <a:lumMod val="60000"/>
                        <a:lumOff val="40000"/>
                      </a:schemeClr>
                    </a:solidFill>
                  </a:tcPr>
                </a:tc>
                <a:extLst>
                  <a:ext uri="{0D108BD9-81ED-4DB2-BD59-A6C34878D82A}">
                    <a16:rowId xmlns:a16="http://schemas.microsoft.com/office/drawing/2014/main" val="10001"/>
                  </a:ext>
                </a:extLst>
              </a:tr>
              <a:tr h="275896">
                <a:tc>
                  <a:txBody>
                    <a:bodyPr/>
                    <a:lstStyle/>
                    <a:p>
                      <a:r>
                        <a:rPr lang="en-IN" sz="1000" b="1" dirty="0">
                          <a:solidFill>
                            <a:srgbClr val="002060"/>
                          </a:solidFill>
                        </a:rPr>
                        <a:t>HIGH</a:t>
                      </a:r>
                    </a:p>
                  </a:txBody>
                  <a:tcPr>
                    <a:solidFill>
                      <a:schemeClr val="accent1">
                        <a:lumMod val="60000"/>
                        <a:lumOff val="40000"/>
                      </a:schemeClr>
                    </a:solidFill>
                  </a:tcPr>
                </a:tc>
                <a:tc>
                  <a:txBody>
                    <a:bodyPr/>
                    <a:lstStyle/>
                    <a:p>
                      <a:r>
                        <a:rPr lang="en-IN" sz="1050" dirty="0">
                          <a:solidFill>
                            <a:srgbClr val="002060"/>
                          </a:solidFill>
                        </a:rPr>
                        <a:t>7-10</a:t>
                      </a:r>
                    </a:p>
                  </a:txBody>
                  <a:tcPr>
                    <a:solidFill>
                      <a:schemeClr val="accent1">
                        <a:lumMod val="60000"/>
                        <a:lumOff val="40000"/>
                      </a:schemeClr>
                    </a:solidFill>
                  </a:tcPr>
                </a:tc>
                <a:extLst>
                  <a:ext uri="{0D108BD9-81ED-4DB2-BD59-A6C34878D82A}">
                    <a16:rowId xmlns:a16="http://schemas.microsoft.com/office/drawing/2014/main" val="10002"/>
                  </a:ext>
                </a:extLst>
              </a:tr>
            </a:tbl>
          </a:graphicData>
        </a:graphic>
      </p:graphicFrame>
      <p:sp>
        <p:nvSpPr>
          <p:cNvPr id="9" name="Rounded Rectangle 8"/>
          <p:cNvSpPr/>
          <p:nvPr/>
        </p:nvSpPr>
        <p:spPr>
          <a:xfrm>
            <a:off x="10003502" y="3063584"/>
            <a:ext cx="1557774" cy="525101"/>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002060"/>
                </a:solidFill>
                <a:latin typeface="Times New Roman" panose="02020603050405020304" pitchFamily="18" charset="0"/>
                <a:cs typeface="Times New Roman" panose="02020603050405020304" pitchFamily="18" charset="0"/>
              </a:rPr>
              <a:t>MARKS CRITERIA</a:t>
            </a:r>
          </a:p>
        </p:txBody>
      </p:sp>
    </p:spTree>
    <p:extLst>
      <p:ext uri="{BB962C8B-B14F-4D97-AF65-F5344CB8AC3E}">
        <p14:creationId xmlns:p14="http://schemas.microsoft.com/office/powerpoint/2010/main" val="638665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3018775" cy="369332"/>
          </a:xfrm>
          <a:prstGeom prst="rect">
            <a:avLst/>
          </a:prstGeom>
        </p:spPr>
        <p:txBody>
          <a:bodyPr wrap="none">
            <a:spAutoFit/>
          </a:bodyPr>
          <a:lstStyle/>
          <a:p>
            <a:r>
              <a:rPr lang="en-IN" dirty="0">
                <a:solidFill>
                  <a:schemeClr val="tx2">
                    <a:lumMod val="75000"/>
                  </a:schemeClr>
                </a:solidFill>
                <a:latin typeface="Times New Roman" panose="02020603050405020304" pitchFamily="18" charset="0"/>
                <a:cs typeface="Times New Roman" panose="02020603050405020304" pitchFamily="18" charset="0"/>
              </a:rPr>
              <a:t>JSW Steel Ltd, Dolvi	</a:t>
            </a:r>
            <a:r>
              <a:rPr lang="en-IN" dirty="0">
                <a:solidFill>
                  <a:schemeClr val="bg1">
                    <a:lumMod val="95000"/>
                  </a:schemeClr>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graphicFrame>
        <p:nvGraphicFramePr>
          <p:cNvPr id="3" name="Chart 2"/>
          <p:cNvGraphicFramePr>
            <a:graphicFrameLocks/>
          </p:cNvGraphicFramePr>
          <p:nvPr/>
        </p:nvGraphicFramePr>
        <p:xfrm>
          <a:off x="1519473" y="1868276"/>
          <a:ext cx="8991600" cy="4297134"/>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2"/>
          <p:cNvSpPr txBox="1">
            <a:spLocks/>
          </p:cNvSpPr>
          <p:nvPr/>
        </p:nvSpPr>
        <p:spPr>
          <a:xfrm>
            <a:off x="984763" y="829544"/>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PRIORITIZATION OF PROBLEMS ANALYSIS</a:t>
            </a:r>
          </a:p>
        </p:txBody>
      </p:sp>
      <p:sp>
        <p:nvSpPr>
          <p:cNvPr id="5" name="TextBox 1"/>
          <p:cNvSpPr txBox="1">
            <a:spLocks noChangeArrowheads="1"/>
          </p:cNvSpPr>
          <p:nvPr/>
        </p:nvSpPr>
        <p:spPr bwMode="auto">
          <a:xfrm>
            <a:off x="3728677" y="336965"/>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spTree>
    <p:extLst>
      <p:ext uri="{BB962C8B-B14F-4D97-AF65-F5344CB8AC3E}">
        <p14:creationId xmlns:p14="http://schemas.microsoft.com/office/powerpoint/2010/main" val="1922098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923522">
            <a:off x="6927544" y="1884054"/>
            <a:ext cx="3869688" cy="3805193"/>
          </a:xfrm>
          <a:prstGeom prst="rect">
            <a:avLst/>
          </a:prstGeom>
        </p:spPr>
      </p:pic>
      <p:pic>
        <p:nvPicPr>
          <p:cNvPr id="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54747" y="90534"/>
            <a:ext cx="1053463" cy="1058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txBox="1">
            <a:spLocks/>
          </p:cNvSpPr>
          <p:nvPr/>
        </p:nvSpPr>
        <p:spPr>
          <a:xfrm>
            <a:off x="896849" y="841717"/>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4000" dirty="0">
                <a:solidFill>
                  <a:srgbClr val="002060"/>
                </a:solidFill>
                <a:latin typeface="Times New Roman" panose="02020603050405020304" pitchFamily="18" charset="0"/>
                <a:cs typeface="Times New Roman" panose="02020603050405020304" pitchFamily="18" charset="0"/>
              </a:rPr>
              <a:t>PROBLEM SELECTED</a:t>
            </a:r>
          </a:p>
        </p:txBody>
      </p:sp>
      <p:sp>
        <p:nvSpPr>
          <p:cNvPr id="5" name="TextBox 1"/>
          <p:cNvSpPr txBox="1">
            <a:spLocks noChangeArrowheads="1"/>
          </p:cNvSpPr>
          <p:nvPr/>
        </p:nvSpPr>
        <p:spPr bwMode="auto">
          <a:xfrm>
            <a:off x="3927099" y="401881"/>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2 Selection of Problem</a:t>
            </a:r>
          </a:p>
        </p:txBody>
      </p:sp>
      <p:sp>
        <p:nvSpPr>
          <p:cNvPr id="6" name="Rectangle 5"/>
          <p:cNvSpPr/>
          <p:nvPr/>
        </p:nvSpPr>
        <p:spPr>
          <a:xfrm>
            <a:off x="0" y="6488668"/>
            <a:ext cx="2287806" cy="369332"/>
          </a:xfrm>
          <a:prstGeom prst="rect">
            <a:avLst/>
          </a:prstGeom>
        </p:spPr>
        <p:txBody>
          <a:bodyPr wrap="none">
            <a:spAutoFit/>
          </a:bodyPr>
          <a:lstStyle/>
          <a:p>
            <a:r>
              <a:rPr lang="en-IN" dirty="0">
                <a:solidFill>
                  <a:schemeClr val="tx2">
                    <a:lumMod val="75000"/>
                  </a:schemeClr>
                </a:solidFill>
              </a:rPr>
              <a:t>JSW Steel Ltd, Dolvi</a:t>
            </a:r>
            <a:endParaRPr lang="en-US" dirty="0"/>
          </a:p>
        </p:txBody>
      </p:sp>
      <p:sp>
        <p:nvSpPr>
          <p:cNvPr id="8" name="Rectangle 7"/>
          <p:cNvSpPr/>
          <p:nvPr/>
        </p:nvSpPr>
        <p:spPr>
          <a:xfrm>
            <a:off x="896849" y="3051149"/>
            <a:ext cx="6384091" cy="1200329"/>
          </a:xfrm>
          <a:prstGeom prst="rect">
            <a:avLst/>
          </a:prstGeom>
        </p:spPr>
        <p:txBody>
          <a:bodyPr wrap="square">
            <a:spAutoFit/>
          </a:bodyPr>
          <a:lstStyle/>
          <a:p>
            <a:pPr algn="ctr" defTabSz="914674" fontAlgn="b">
              <a:defRPr/>
            </a:pPr>
            <a:r>
              <a:rPr lang="en-US" sz="3600" b="1" dirty="0">
                <a:solidFill>
                  <a:srgbClr val="002060"/>
                </a:solidFill>
                <a:latin typeface="Times New Roman" panose="02020603050405020304" pitchFamily="18" charset="0"/>
                <a:cs typeface="Times New Roman" panose="02020603050405020304" pitchFamily="18" charset="0"/>
              </a:rPr>
              <a:t>Primary dust catcher (PDC) cooling pipe leakage</a:t>
            </a:r>
            <a:endParaRPr lang="en-US" sz="2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745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750" tmFilter="0, 0; .2, .5; .8, .5; 1, 0"/>
                                        <p:tgtEl>
                                          <p:spTgt spid="2"/>
                                        </p:tgtEl>
                                      </p:cBhvr>
                                    </p:animEffect>
                                    <p:animScale>
                                      <p:cBhvr>
                                        <p:cTn id="7" dur="375"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75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05646123"/>
              </p:ext>
            </p:extLst>
          </p:nvPr>
        </p:nvGraphicFramePr>
        <p:xfrm>
          <a:off x="1104207" y="1393681"/>
          <a:ext cx="10084723" cy="4772271"/>
        </p:xfrm>
        <a:graphic>
          <a:graphicData uri="http://schemas.openxmlformats.org/drawingml/2006/table">
            <a:tbl>
              <a:tblPr firstRow="1" bandRow="1">
                <a:tableStyleId>{5940675A-B579-460E-94D1-54222C63F5DA}</a:tableStyleId>
              </a:tblPr>
              <a:tblGrid>
                <a:gridCol w="580207">
                  <a:extLst>
                    <a:ext uri="{9D8B030D-6E8A-4147-A177-3AD203B41FA5}">
                      <a16:colId xmlns:a16="http://schemas.microsoft.com/office/drawing/2014/main" val="1808795694"/>
                    </a:ext>
                  </a:extLst>
                </a:gridCol>
                <a:gridCol w="2731049">
                  <a:extLst>
                    <a:ext uri="{9D8B030D-6E8A-4147-A177-3AD203B41FA5}">
                      <a16:colId xmlns:a16="http://schemas.microsoft.com/office/drawing/2014/main" val="2741632690"/>
                    </a:ext>
                  </a:extLst>
                </a:gridCol>
                <a:gridCol w="930412">
                  <a:extLst>
                    <a:ext uri="{9D8B030D-6E8A-4147-A177-3AD203B41FA5}">
                      <a16:colId xmlns:a16="http://schemas.microsoft.com/office/drawing/2014/main" val="3608749293"/>
                    </a:ext>
                  </a:extLst>
                </a:gridCol>
                <a:gridCol w="574806">
                  <a:extLst>
                    <a:ext uri="{9D8B030D-6E8A-4147-A177-3AD203B41FA5}">
                      <a16:colId xmlns:a16="http://schemas.microsoft.com/office/drawing/2014/main" val="85287442"/>
                    </a:ext>
                  </a:extLst>
                </a:gridCol>
                <a:gridCol w="752607">
                  <a:extLst>
                    <a:ext uri="{9D8B030D-6E8A-4147-A177-3AD203B41FA5}">
                      <a16:colId xmlns:a16="http://schemas.microsoft.com/office/drawing/2014/main" val="1535074799"/>
                    </a:ext>
                  </a:extLst>
                </a:gridCol>
                <a:gridCol w="752607">
                  <a:extLst>
                    <a:ext uri="{9D8B030D-6E8A-4147-A177-3AD203B41FA5}">
                      <a16:colId xmlns:a16="http://schemas.microsoft.com/office/drawing/2014/main" val="1600285359"/>
                    </a:ext>
                  </a:extLst>
                </a:gridCol>
                <a:gridCol w="752607">
                  <a:extLst>
                    <a:ext uri="{9D8B030D-6E8A-4147-A177-3AD203B41FA5}">
                      <a16:colId xmlns:a16="http://schemas.microsoft.com/office/drawing/2014/main" val="2544279193"/>
                    </a:ext>
                  </a:extLst>
                </a:gridCol>
                <a:gridCol w="752607">
                  <a:extLst>
                    <a:ext uri="{9D8B030D-6E8A-4147-A177-3AD203B41FA5}">
                      <a16:colId xmlns:a16="http://schemas.microsoft.com/office/drawing/2014/main" val="4005342886"/>
                    </a:ext>
                  </a:extLst>
                </a:gridCol>
                <a:gridCol w="752607">
                  <a:extLst>
                    <a:ext uri="{9D8B030D-6E8A-4147-A177-3AD203B41FA5}">
                      <a16:colId xmlns:a16="http://schemas.microsoft.com/office/drawing/2014/main" val="3338256123"/>
                    </a:ext>
                  </a:extLst>
                </a:gridCol>
                <a:gridCol w="752607">
                  <a:extLst>
                    <a:ext uri="{9D8B030D-6E8A-4147-A177-3AD203B41FA5}">
                      <a16:colId xmlns:a16="http://schemas.microsoft.com/office/drawing/2014/main" val="2812273922"/>
                    </a:ext>
                  </a:extLst>
                </a:gridCol>
                <a:gridCol w="752607">
                  <a:extLst>
                    <a:ext uri="{9D8B030D-6E8A-4147-A177-3AD203B41FA5}">
                      <a16:colId xmlns:a16="http://schemas.microsoft.com/office/drawing/2014/main" val="780989280"/>
                    </a:ext>
                  </a:extLst>
                </a:gridCol>
              </a:tblGrid>
              <a:tr h="201584">
                <a:tc rowSpan="2">
                  <a:txBody>
                    <a:bodyPr/>
                    <a:lstStyle/>
                    <a:p>
                      <a:pPr algn="ctr"/>
                      <a:r>
                        <a:rPr lang="en-IN" sz="1400" dirty="0">
                          <a:latin typeface="Times New Roman" panose="02020603050405020304" pitchFamily="18" charset="0"/>
                          <a:cs typeface="Times New Roman" panose="02020603050405020304" pitchFamily="18" charset="0"/>
                        </a:rPr>
                        <a:t>Sr. No</a:t>
                      </a:r>
                    </a:p>
                  </a:txBody>
                  <a:tcPr marL="0" marR="0" marT="0" marB="0" anchor="ctr">
                    <a:pattFill prst="shingle">
                      <a:fgClr>
                        <a:schemeClr val="accent1"/>
                      </a:fgClr>
                      <a:bgClr>
                        <a:schemeClr val="bg1"/>
                      </a:bgClr>
                    </a:pattFill>
                  </a:tcPr>
                </a:tc>
                <a:tc rowSpan="2">
                  <a:txBody>
                    <a:bodyPr/>
                    <a:lstStyle/>
                    <a:p>
                      <a:pPr algn="ctr"/>
                      <a:r>
                        <a:rPr lang="en-IN" sz="1400" dirty="0">
                          <a:latin typeface="Times New Roman" panose="02020603050405020304" pitchFamily="18" charset="0"/>
                          <a:cs typeface="Times New Roman" panose="02020603050405020304" pitchFamily="18" charset="0"/>
                        </a:rPr>
                        <a:t>STEPS</a:t>
                      </a:r>
                    </a:p>
                  </a:txBody>
                  <a:tcPr marL="0" marR="0" marT="0" marB="0" anchor="ctr">
                    <a:pattFill prst="shingle">
                      <a:fgClr>
                        <a:schemeClr val="accent1"/>
                      </a:fgClr>
                      <a:bgClr>
                        <a:schemeClr val="bg1"/>
                      </a:bgClr>
                    </a:pattFill>
                  </a:tcPr>
                </a:tc>
                <a:tc rowSpan="2">
                  <a:txBody>
                    <a:bodyPr/>
                    <a:lstStyle/>
                    <a:p>
                      <a:pPr algn="ctr"/>
                      <a:r>
                        <a:rPr lang="en-IN" sz="1400" dirty="0">
                          <a:latin typeface="Times New Roman" panose="02020603050405020304" pitchFamily="18" charset="0"/>
                          <a:cs typeface="Times New Roman" panose="02020603050405020304" pitchFamily="18" charset="0"/>
                        </a:rPr>
                        <a:t>P/A</a:t>
                      </a:r>
                    </a:p>
                  </a:txBody>
                  <a:tcPr marL="0" marR="0" marT="0" marB="0" anchor="ctr">
                    <a:pattFill prst="shingle">
                      <a:fgClr>
                        <a:schemeClr val="accent1"/>
                      </a:fgClr>
                      <a:bgClr>
                        <a:schemeClr val="bg1"/>
                      </a:bgClr>
                    </a:pattFill>
                  </a:tcPr>
                </a:tc>
                <a:tc gridSpan="4">
                  <a:txBody>
                    <a:bodyPr/>
                    <a:lstStyle/>
                    <a:p>
                      <a:pPr algn="ctr"/>
                      <a:r>
                        <a:rPr lang="en-IN" sz="1400" dirty="0">
                          <a:latin typeface="Times New Roman" panose="02020603050405020304" pitchFamily="18" charset="0"/>
                          <a:cs typeface="Times New Roman" panose="02020603050405020304" pitchFamily="18" charset="0"/>
                        </a:rPr>
                        <a:t>Dec</a:t>
                      </a:r>
                    </a:p>
                  </a:txBody>
                  <a:tcPr marL="0" marR="0" marT="0" marB="0"/>
                </a:tc>
                <a:tc hMerge="1">
                  <a:txBody>
                    <a:bodyPr/>
                    <a:lstStyle/>
                    <a:p>
                      <a:endParaRPr lang="en-IN" dirty="0"/>
                    </a:p>
                  </a:txBody>
                  <a:tcPr marL="0" marR="0" marT="0" marB="0"/>
                </a:tc>
                <a:tc hMerge="1">
                  <a:txBody>
                    <a:bodyPr/>
                    <a:lstStyle/>
                    <a:p>
                      <a:endParaRPr lang="en-IN" dirty="0"/>
                    </a:p>
                  </a:txBody>
                  <a:tcPr marL="0" marR="0" marT="0" marB="0"/>
                </a:tc>
                <a:tc hMerge="1">
                  <a:txBody>
                    <a:bodyPr/>
                    <a:lstStyle/>
                    <a:p>
                      <a:pPr algn="ctr"/>
                      <a:endParaRPr lang="en-IN" dirty="0"/>
                    </a:p>
                  </a:txBody>
                  <a:tcPr marL="0" marR="0" marT="0" marB="0"/>
                </a:tc>
                <a:tc gridSpan="4">
                  <a:txBody>
                    <a:bodyPr/>
                    <a:lstStyle/>
                    <a:p>
                      <a:pPr algn="ctr"/>
                      <a:r>
                        <a:rPr lang="en-IN" sz="1400" dirty="0">
                          <a:latin typeface="Times New Roman" panose="02020603050405020304" pitchFamily="18" charset="0"/>
                          <a:cs typeface="Times New Roman" panose="02020603050405020304" pitchFamily="18" charset="0"/>
                        </a:rPr>
                        <a:t>Jan</a:t>
                      </a:r>
                    </a:p>
                  </a:txBody>
                  <a:tcPr marL="0" marR="0" marT="0" marB="0"/>
                </a:tc>
                <a:tc hMerge="1">
                  <a:txBody>
                    <a:bodyPr/>
                    <a:lstStyle/>
                    <a:p>
                      <a:pPr algn="ctr"/>
                      <a:endParaRPr lang="en-IN" dirty="0"/>
                    </a:p>
                  </a:txBody>
                  <a:tcPr marL="0" marR="0" marT="0" marB="0"/>
                </a:tc>
                <a:tc hMerge="1">
                  <a:txBody>
                    <a:bodyPr/>
                    <a:lstStyle/>
                    <a:p>
                      <a:pPr algn="ctr"/>
                      <a:endParaRPr lang="en-IN" dirty="0"/>
                    </a:p>
                  </a:txBody>
                  <a:tcPr marL="0" marR="0" marT="0" marB="0"/>
                </a:tc>
                <a:tc hMerge="1">
                  <a:txBody>
                    <a:bodyPr/>
                    <a:lstStyle/>
                    <a:p>
                      <a:endParaRPr lang="en-IN" dirty="0"/>
                    </a:p>
                  </a:txBody>
                  <a:tcPr marL="0" marR="0" marT="0" marB="0"/>
                </a:tc>
                <a:extLst>
                  <a:ext uri="{0D108BD9-81ED-4DB2-BD59-A6C34878D82A}">
                    <a16:rowId xmlns:a16="http://schemas.microsoft.com/office/drawing/2014/main" val="1443920606"/>
                  </a:ext>
                </a:extLst>
              </a:tr>
              <a:tr h="201584">
                <a:tc vMerge="1">
                  <a:txBody>
                    <a:bodyPr/>
                    <a:lstStyle/>
                    <a:p>
                      <a:endParaRPr lang="en-IN" dirty="0"/>
                    </a:p>
                  </a:txBody>
                  <a:tcPr marL="0" marR="0" marT="0" marB="0"/>
                </a:tc>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W1</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W2</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W3</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W4</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W1</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W2</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W3</a:t>
                      </a:r>
                    </a:p>
                  </a:txBody>
                  <a:tcPr marL="0" marR="0" marT="0" marB="0">
                    <a:pattFill prst="shingle">
                      <a:fgClr>
                        <a:schemeClr val="accent1"/>
                      </a:fgClr>
                      <a:bgClr>
                        <a:schemeClr val="bg1"/>
                      </a:bgClr>
                    </a:pattFill>
                  </a:tcPr>
                </a:tc>
                <a:tc>
                  <a:txBody>
                    <a:bodyPr/>
                    <a:lstStyle/>
                    <a:p>
                      <a:pPr algn="ctr"/>
                      <a:r>
                        <a:rPr lang="en-IN" sz="1400" dirty="0">
                          <a:latin typeface="Times New Roman" panose="02020603050405020304" pitchFamily="18" charset="0"/>
                          <a:cs typeface="Times New Roman" panose="02020603050405020304" pitchFamily="18" charset="0"/>
                        </a:rPr>
                        <a:t>W4</a:t>
                      </a:r>
                    </a:p>
                  </a:txBody>
                  <a:tcPr marL="0" marR="0" marT="0" marB="0">
                    <a:pattFill prst="shingle">
                      <a:fgClr>
                        <a:schemeClr val="accent1"/>
                      </a:fgClr>
                      <a:bgClr>
                        <a:schemeClr val="bg1"/>
                      </a:bgClr>
                    </a:pattFill>
                  </a:tcPr>
                </a:tc>
                <a:extLst>
                  <a:ext uri="{0D108BD9-81ED-4DB2-BD59-A6C34878D82A}">
                    <a16:rowId xmlns:a16="http://schemas.microsoft.com/office/drawing/2014/main" val="2220245172"/>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1</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Define the problem</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solidFill>
                          <a:schemeClr val="bg1"/>
                        </a:solidFill>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solidFill>
                          <a:schemeClr val="tx2"/>
                        </a:solidFill>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solidFill>
                          <a:schemeClr val="tx1"/>
                        </a:solidFill>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1917726226"/>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kern="1200" dirty="0">
                        <a:solidFill>
                          <a:schemeClr val="tx1"/>
                        </a:solidFill>
                        <a:latin typeface="Times New Roman" panose="02020603050405020304" pitchFamily="18" charset="0"/>
                        <a:ea typeface="+mn-ea"/>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1449853369"/>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2</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Analysis</a:t>
                      </a:r>
                      <a:r>
                        <a:rPr lang="en-IN" sz="1400" baseline="0" dirty="0">
                          <a:latin typeface="Times New Roman" panose="02020603050405020304" pitchFamily="18" charset="0"/>
                          <a:cs typeface="Times New Roman" panose="02020603050405020304" pitchFamily="18" charset="0"/>
                        </a:rPr>
                        <a:t> of problem</a:t>
                      </a:r>
                      <a:endParaRPr lang="en-IN" sz="14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548107658"/>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1606668777"/>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3</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Identification of causes</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solidFill>
                          <a:schemeClr val="tx1"/>
                        </a:solidFill>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4233443559"/>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2180531618"/>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4</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Identification of root causes</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2612122458"/>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solidFill>
                          <a:schemeClr val="tx1"/>
                        </a:solidFill>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3823006237"/>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5</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Data analysis</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3912084046"/>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3188657877"/>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6</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Development of solution</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830247987"/>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3799492056"/>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7</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Foreseen resistance</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392194237"/>
                  </a:ext>
                </a:extLst>
              </a:tr>
              <a:tr h="201584">
                <a:tc vMerge="1">
                  <a:txBody>
                    <a:bodyPr/>
                    <a:lstStyle/>
                    <a:p>
                      <a:endParaRPr lang="en-IN" dirty="0"/>
                    </a:p>
                  </a:txBody>
                  <a:tcPr marL="0" marR="0" marT="0" marB="0"/>
                </a:tc>
                <a:tc vMerge="1">
                  <a:txBody>
                    <a:bodyPr/>
                    <a:lstStyle/>
                    <a:p>
                      <a:endParaRPr lang="en-IN" dirty="0"/>
                    </a:p>
                  </a:txBody>
                  <a:tcPr marL="0" marR="0" marT="0" marB="0"/>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4196457326"/>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8</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Trial Implementation</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1105460127"/>
                  </a:ext>
                </a:extLst>
              </a:tr>
              <a:tr h="201584">
                <a:tc vMerge="1">
                  <a:txBody>
                    <a:bodyPr/>
                    <a:lstStyle/>
                    <a:p>
                      <a:pPr algn="ctr"/>
                      <a:endParaRPr lang="en-IN" dirty="0"/>
                    </a:p>
                  </a:txBody>
                  <a:tcPr marL="0" marR="0" marT="0" marB="0" anchor="ctr"/>
                </a:tc>
                <a:tc vMerge="1">
                  <a:txBody>
                    <a:bodyPr/>
                    <a:lstStyle/>
                    <a:p>
                      <a:pPr algn="ctr"/>
                      <a:endParaRPr lang="en-IN" dirty="0"/>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253395748"/>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9</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Regular Implementation</a:t>
                      </a: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solidFill>
                          <a:schemeClr val="tx1"/>
                        </a:solidFill>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extLst>
                  <a:ext uri="{0D108BD9-81ED-4DB2-BD59-A6C34878D82A}">
                    <a16:rowId xmlns:a16="http://schemas.microsoft.com/office/drawing/2014/main" val="2204250488"/>
                  </a:ext>
                </a:extLst>
              </a:tr>
              <a:tr h="201584">
                <a:tc vMerge="1">
                  <a:txBody>
                    <a:bodyPr/>
                    <a:lstStyle/>
                    <a:p>
                      <a:pPr algn="ctr"/>
                      <a:endParaRPr lang="en-IN" dirty="0"/>
                    </a:p>
                  </a:txBody>
                  <a:tcPr marL="0" marR="0" marT="0" marB="0" anchor="ctr"/>
                </a:tc>
                <a:tc vMerge="1">
                  <a:txBody>
                    <a:bodyPr/>
                    <a:lstStyle/>
                    <a:p>
                      <a:pPr algn="ctr"/>
                      <a:endParaRPr lang="en-IN" dirty="0"/>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rgbClr val="00B050"/>
                    </a:solidFill>
                  </a:tcPr>
                </a:tc>
                <a:extLst>
                  <a:ext uri="{0D108BD9-81ED-4DB2-BD59-A6C34878D82A}">
                    <a16:rowId xmlns:a16="http://schemas.microsoft.com/office/drawing/2014/main" val="143606554"/>
                  </a:ext>
                </a:extLst>
              </a:tr>
              <a:tr h="201584">
                <a:tc rowSpan="2">
                  <a:txBody>
                    <a:bodyPr/>
                    <a:lstStyle/>
                    <a:p>
                      <a:pPr algn="ctr"/>
                      <a:r>
                        <a:rPr lang="en-IN" sz="1400" dirty="0">
                          <a:latin typeface="Times New Roman" panose="02020603050405020304" pitchFamily="18" charset="0"/>
                          <a:cs typeface="Times New Roman" panose="02020603050405020304" pitchFamily="18" charset="0"/>
                        </a:rPr>
                        <a:t>10</a:t>
                      </a:r>
                    </a:p>
                  </a:txBody>
                  <a:tcPr marL="0" marR="0" marT="0" marB="0" anchor="ctr"/>
                </a:tc>
                <a:tc rowSpan="2">
                  <a:txBody>
                    <a:bodyPr/>
                    <a:lstStyle/>
                    <a:p>
                      <a:pPr algn="ctr"/>
                      <a:r>
                        <a:rPr lang="en-IN" sz="1400" dirty="0">
                          <a:latin typeface="Times New Roman" panose="02020603050405020304" pitchFamily="18" charset="0"/>
                          <a:cs typeface="Times New Roman" panose="02020603050405020304" pitchFamily="18" charset="0"/>
                        </a:rPr>
                        <a:t>Follow</a:t>
                      </a:r>
                      <a:r>
                        <a:rPr lang="en-IN" sz="1400" baseline="0" dirty="0">
                          <a:latin typeface="Times New Roman" panose="02020603050405020304" pitchFamily="18" charset="0"/>
                          <a:cs typeface="Times New Roman" panose="02020603050405020304" pitchFamily="18" charset="0"/>
                        </a:rPr>
                        <a:t> up/Review</a:t>
                      </a:r>
                      <a:endParaRPr lang="en-IN" sz="14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en-IN" sz="1400" dirty="0">
                          <a:latin typeface="Times New Roman" panose="02020603050405020304" pitchFamily="18" charset="0"/>
                          <a:cs typeface="Times New Roman" panose="02020603050405020304" pitchFamily="18" charset="0"/>
                        </a:rPr>
                        <a:t>Plan</a:t>
                      </a:r>
                    </a:p>
                  </a:txBody>
                  <a:tcPr marL="0" marR="0" marT="0" marB="0" anchor="ct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sz="1400" dirty="0">
                        <a:latin typeface="Times New Roman" panose="02020603050405020304" pitchFamily="18" charset="0"/>
                        <a:cs typeface="Times New Roman" panose="02020603050405020304" pitchFamily="18" charset="0"/>
                      </a:endParaRPr>
                    </a:p>
                  </a:txBody>
                  <a:tcPr marL="0" marR="0" marT="0" marB="0">
                    <a:solidFill>
                      <a:schemeClr val="tx1"/>
                    </a:solidFill>
                  </a:tcPr>
                </a:tc>
                <a:extLst>
                  <a:ext uri="{0D108BD9-81ED-4DB2-BD59-A6C34878D82A}">
                    <a16:rowId xmlns:a16="http://schemas.microsoft.com/office/drawing/2014/main" val="2803716047"/>
                  </a:ext>
                </a:extLst>
              </a:tr>
              <a:tr h="291711">
                <a:tc vMerge="1">
                  <a:txBody>
                    <a:bodyPr/>
                    <a:lstStyle/>
                    <a:p>
                      <a:pPr algn="ctr"/>
                      <a:endParaRPr lang="en-IN" dirty="0"/>
                    </a:p>
                  </a:txBody>
                  <a:tcPr marL="0" marR="0" marT="0" marB="0" anchor="ctr"/>
                </a:tc>
                <a:tc vMerge="1">
                  <a:txBody>
                    <a:bodyPr/>
                    <a:lstStyle/>
                    <a:p>
                      <a:pPr algn="ctr"/>
                      <a:endParaRPr lang="en-IN" dirty="0"/>
                    </a:p>
                  </a:txBody>
                  <a:tcPr marL="0" marR="0" marT="0" marB="0" anchor="ctr"/>
                </a:tc>
                <a:tc>
                  <a:txBody>
                    <a:bodyPr/>
                    <a:lstStyle/>
                    <a:p>
                      <a:pPr algn="ctr"/>
                      <a:r>
                        <a:rPr lang="en-IN" dirty="0">
                          <a:latin typeface="Times New Roman" panose="02020603050405020304" pitchFamily="18" charset="0"/>
                          <a:cs typeface="Times New Roman" panose="02020603050405020304" pitchFamily="18" charset="0"/>
                        </a:rPr>
                        <a:t>Actual</a:t>
                      </a:r>
                    </a:p>
                  </a:txBody>
                  <a:tcPr marL="0" marR="0" marT="0" marB="0" anchor="ct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endParaRPr lang="en-IN" dirty="0">
                        <a:latin typeface="Times New Roman" panose="02020603050405020304" pitchFamily="18" charset="0"/>
                        <a:cs typeface="Times New Roman" panose="02020603050405020304" pitchFamily="18" charset="0"/>
                      </a:endParaRPr>
                    </a:p>
                  </a:txBody>
                  <a:tcPr marL="0" marR="0" marT="0" marB="0">
                    <a:solidFill>
                      <a:srgbClr val="00B050"/>
                    </a:solidFill>
                  </a:tcPr>
                </a:tc>
                <a:extLst>
                  <a:ext uri="{0D108BD9-81ED-4DB2-BD59-A6C34878D82A}">
                    <a16:rowId xmlns:a16="http://schemas.microsoft.com/office/drawing/2014/main" val="1616915537"/>
                  </a:ext>
                </a:extLst>
              </a:tr>
            </a:tbl>
          </a:graphicData>
        </a:graphic>
      </p:graphicFrame>
      <p:sp>
        <p:nvSpPr>
          <p:cNvPr id="4" name="Title 2"/>
          <p:cNvSpPr txBox="1">
            <a:spLocks/>
          </p:cNvSpPr>
          <p:nvPr/>
        </p:nvSpPr>
        <p:spPr>
          <a:xfrm>
            <a:off x="1188480" y="645493"/>
            <a:ext cx="10061020" cy="523991"/>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4000" dirty="0">
                <a:solidFill>
                  <a:srgbClr val="002060"/>
                </a:solidFill>
                <a:latin typeface="Times New Roman" panose="02020603050405020304" pitchFamily="18" charset="0"/>
                <a:cs typeface="Times New Roman" panose="02020603050405020304" pitchFamily="18" charset="0"/>
              </a:rPr>
              <a:t>MILESTONE CHART</a:t>
            </a:r>
          </a:p>
        </p:txBody>
      </p:sp>
    </p:spTree>
    <p:extLst>
      <p:ext uri="{BB962C8B-B14F-4D97-AF65-F5344CB8AC3E}">
        <p14:creationId xmlns:p14="http://schemas.microsoft.com/office/powerpoint/2010/main" val="3834221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91724" y="124692"/>
            <a:ext cx="951225" cy="955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677" y="1811396"/>
            <a:ext cx="5010721" cy="319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488669"/>
            <a:ext cx="2493818" cy="369332"/>
          </a:xfrm>
          <a:prstGeom prst="rect">
            <a:avLst/>
          </a:prstGeom>
        </p:spPr>
        <p:txBody>
          <a:bodyPr wrap="square">
            <a:spAutoFit/>
          </a:bodyPr>
          <a:lstStyle/>
          <a:p>
            <a:r>
              <a:rPr lang="en-IN" dirty="0">
                <a:solidFill>
                  <a:schemeClr val="tx2">
                    <a:lumMod val="75000"/>
                  </a:schemeClr>
                </a:solidFill>
              </a:rPr>
              <a:t>JSW Steel Ltd, Dolvi</a:t>
            </a:r>
            <a:endParaRPr lang="en-US" dirty="0"/>
          </a:p>
        </p:txBody>
      </p:sp>
      <p:sp>
        <p:nvSpPr>
          <p:cNvPr id="10" name="Rectangle 9"/>
          <p:cNvSpPr/>
          <p:nvPr/>
        </p:nvSpPr>
        <p:spPr>
          <a:xfrm>
            <a:off x="5486110" y="2083705"/>
            <a:ext cx="6081227" cy="2648853"/>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p>
            <a:pPr algn="ctr"/>
            <a:r>
              <a:rPr lang="en-US" sz="3600" b="1" dirty="0">
                <a:solidFill>
                  <a:srgbClr val="002060"/>
                </a:solidFill>
                <a:latin typeface="Times New Roman" panose="02020603050405020304" pitchFamily="18" charset="0"/>
                <a:cs typeface="Times New Roman" panose="02020603050405020304" pitchFamily="18" charset="0"/>
              </a:rPr>
              <a:t>STEP  - 3</a:t>
            </a:r>
          </a:p>
          <a:p>
            <a:pPr algn="ctr"/>
            <a:r>
              <a:rPr lang="en-US" sz="3600" b="1" u="sng" dirty="0">
                <a:solidFill>
                  <a:srgbClr val="002060"/>
                </a:solidFill>
                <a:latin typeface="Times New Roman" panose="02020603050405020304" pitchFamily="18" charset="0"/>
                <a:cs typeface="Times New Roman" panose="02020603050405020304" pitchFamily="18" charset="0"/>
              </a:rPr>
              <a:t>DEFINE THE PROBLEMS</a:t>
            </a:r>
          </a:p>
        </p:txBody>
      </p:sp>
      <p:sp>
        <p:nvSpPr>
          <p:cNvPr id="11" name="TextBox 10"/>
          <p:cNvSpPr txBox="1"/>
          <p:nvPr/>
        </p:nvSpPr>
        <p:spPr>
          <a:xfrm>
            <a:off x="5486110" y="5177205"/>
            <a:ext cx="6081227" cy="461665"/>
          </a:xfrm>
          <a:prstGeom prst="rect">
            <a:avLst/>
          </a:prstGeom>
          <a:solidFill>
            <a:schemeClr val="accent2"/>
          </a:solidFill>
        </p:spPr>
        <p:txBody>
          <a:bodyPr wrap="square" rtlCol="0">
            <a:spAutoFit/>
          </a:bodyPr>
          <a:lstStyle/>
          <a:p>
            <a:pPr algn="ctr"/>
            <a:r>
              <a:rPr lang="en-IN" sz="2400" b="1" dirty="0">
                <a:solidFill>
                  <a:srgbClr val="FFFF00"/>
                </a:solidFill>
                <a:latin typeface="Times New Roman" panose="02020603050405020304" pitchFamily="18" charset="0"/>
                <a:cs typeface="Times New Roman" panose="02020603050405020304" pitchFamily="18" charset="0"/>
              </a:rPr>
              <a:t>Tool used: Diagram</a:t>
            </a:r>
          </a:p>
        </p:txBody>
      </p:sp>
    </p:spTree>
    <p:extLst>
      <p:ext uri="{BB962C8B-B14F-4D97-AF65-F5344CB8AC3E}">
        <p14:creationId xmlns:p14="http://schemas.microsoft.com/office/powerpoint/2010/main" val="372446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repeatCount="indefinite"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par>
                                <p:cTn id="21" presetID="3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fltVal val="0"/>
                                          </p:val>
                                        </p:tav>
                                        <p:tav tm="100000">
                                          <p:val>
                                            <p:strVal val="#ppt_w"/>
                                          </p:val>
                                        </p:tav>
                                      </p:tavLst>
                                    </p:anim>
                                    <p:anim calcmode="lin" valueType="num">
                                      <p:cBhvr>
                                        <p:cTn id="24" dur="1000" fill="hold"/>
                                        <p:tgtEl>
                                          <p:spTgt spid="10"/>
                                        </p:tgtEl>
                                        <p:attrNameLst>
                                          <p:attrName>ppt_h</p:attrName>
                                        </p:attrNameLst>
                                      </p:cBhvr>
                                      <p:tavLst>
                                        <p:tav tm="0">
                                          <p:val>
                                            <p:fltVal val="0"/>
                                          </p:val>
                                        </p:tav>
                                        <p:tav tm="100000">
                                          <p:val>
                                            <p:strVal val="#ppt_h"/>
                                          </p:val>
                                        </p:tav>
                                      </p:tavLst>
                                    </p:anim>
                                    <p:anim calcmode="lin" valueType="num">
                                      <p:cBhvr>
                                        <p:cTn id="25" dur="1000" fill="hold"/>
                                        <p:tgtEl>
                                          <p:spTgt spid="10"/>
                                        </p:tgtEl>
                                        <p:attrNameLst>
                                          <p:attrName>style.rotation</p:attrName>
                                        </p:attrNameLst>
                                      </p:cBhvr>
                                      <p:tavLst>
                                        <p:tav tm="0">
                                          <p:val>
                                            <p:fltVal val="90"/>
                                          </p:val>
                                        </p:tav>
                                        <p:tav tm="100000">
                                          <p:val>
                                            <p:fltVal val="0"/>
                                          </p:val>
                                        </p:tav>
                                      </p:tavLst>
                                    </p:anim>
                                    <p:animEffect transition="in" filter="fade">
                                      <p:cBhvr>
                                        <p:cTn id="2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13432" y="174567"/>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1"/>
          <p:cNvSpPr txBox="1">
            <a:spLocks noChangeArrowheads="1"/>
          </p:cNvSpPr>
          <p:nvPr/>
        </p:nvSpPr>
        <p:spPr bwMode="auto">
          <a:xfrm>
            <a:off x="1910717" y="629350"/>
            <a:ext cx="8310563" cy="579567"/>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800" dirty="0">
                <a:solidFill>
                  <a:srgbClr val="002060"/>
                </a:solidFill>
                <a:latin typeface="Times New Roman" panose="02020603050405020304" pitchFamily="18" charset="0"/>
                <a:cs typeface="Times New Roman" panose="02020603050405020304" pitchFamily="18" charset="0"/>
              </a:rPr>
              <a:t>COKE DRY QUENCHING-HIGH LEVEL DIAGRAM</a:t>
            </a:r>
          </a:p>
        </p:txBody>
      </p:sp>
      <p:sp>
        <p:nvSpPr>
          <p:cNvPr id="4" name="Rectangle 3"/>
          <p:cNvSpPr/>
          <p:nvPr/>
        </p:nvSpPr>
        <p:spPr>
          <a:xfrm>
            <a:off x="0" y="6488668"/>
            <a:ext cx="2287806" cy="369332"/>
          </a:xfrm>
          <a:prstGeom prst="rect">
            <a:avLst/>
          </a:prstGeom>
        </p:spPr>
        <p:txBody>
          <a:bodyPr wrap="none">
            <a:spAutoFit/>
          </a:bodyPr>
          <a:lstStyle/>
          <a:p>
            <a:r>
              <a:rPr lang="en-IN" dirty="0">
                <a:solidFill>
                  <a:schemeClr val="tx2">
                    <a:lumMod val="75000"/>
                  </a:schemeClr>
                </a:solidFill>
              </a:rPr>
              <a:t>JSW Steel Ltd, Dolvi</a:t>
            </a:r>
            <a:endParaRPr lang="en-US"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9048"/>
          <a:stretch/>
        </p:blipFill>
        <p:spPr>
          <a:xfrm>
            <a:off x="1360872" y="1579418"/>
            <a:ext cx="9410255" cy="45387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2508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520" y="1757103"/>
            <a:ext cx="10292227" cy="1200329"/>
          </a:xfrm>
          <a:prstGeom prst="rect">
            <a:avLst/>
          </a:prstGeom>
        </p:spPr>
        <p:txBody>
          <a:bodyPr wrap="square">
            <a:spAutoFit/>
          </a:bodyPr>
          <a:lstStyle/>
          <a:p>
            <a:pPr fontAlgn="t"/>
            <a:r>
              <a:rPr lang="en-US" dirty="0">
                <a:solidFill>
                  <a:srgbClr val="002060"/>
                </a:solidFill>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PROBLEM STATEMENT</a:t>
            </a:r>
            <a:r>
              <a:rPr lang="en-US" b="1" dirty="0">
                <a:solidFill>
                  <a:srgbClr val="00206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problem lies in punctured PDC cooling pipes, which compromise the chain conveyor's health, lead to rust formation, and cause dust buildup in PDC hoppers. This, in turn, elevates boiler inlet pressure and exacerbates dust generation, deviating from design specifications. Rectifying or preventing these punctures is crucial for maintaining system efficiency and performance.</a:t>
            </a:r>
          </a:p>
        </p:txBody>
      </p:sp>
      <p:grpSp>
        <p:nvGrpSpPr>
          <p:cNvPr id="3" name="Group 2"/>
          <p:cNvGrpSpPr/>
          <p:nvPr/>
        </p:nvGrpSpPr>
        <p:grpSpPr>
          <a:xfrm>
            <a:off x="762520" y="79924"/>
            <a:ext cx="11299248" cy="1432538"/>
            <a:chOff x="762520" y="42956"/>
            <a:chExt cx="11299248" cy="1432538"/>
          </a:xfrm>
        </p:grpSpPr>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42956"/>
              <a:ext cx="1007021" cy="1011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txBox="1">
              <a:spLocks/>
            </p:cNvSpPr>
            <p:nvPr/>
          </p:nvSpPr>
          <p:spPr>
            <a:xfrm>
              <a:off x="762520" y="875918"/>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DEFINE THE PROBLEM</a:t>
              </a:r>
            </a:p>
          </p:txBody>
        </p:sp>
        <p:sp>
          <p:nvSpPr>
            <p:cNvPr id="6" name="TextBox 1"/>
            <p:cNvSpPr txBox="1">
              <a:spLocks noChangeArrowheads="1"/>
            </p:cNvSpPr>
            <p:nvPr/>
          </p:nvSpPr>
          <p:spPr bwMode="auto">
            <a:xfrm>
              <a:off x="3722146" y="362053"/>
              <a:ext cx="4573191" cy="358186"/>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3 Define the Problem</a:t>
              </a:r>
            </a:p>
          </p:txBody>
        </p:sp>
      </p:grpSp>
      <p:sp>
        <p:nvSpPr>
          <p:cNvPr id="22" name="Rectangle 2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23" name="Rounded Rectangle 22"/>
          <p:cNvSpPr/>
          <p:nvPr/>
        </p:nvSpPr>
        <p:spPr>
          <a:xfrm>
            <a:off x="947651" y="3498042"/>
            <a:ext cx="1504009" cy="6899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Objective</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4" name="Right Arrow 23"/>
          <p:cNvSpPr/>
          <p:nvPr/>
        </p:nvSpPr>
        <p:spPr>
          <a:xfrm>
            <a:off x="2572793" y="3721106"/>
            <a:ext cx="590204" cy="184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5" name="Rounded Rectangle 24"/>
          <p:cNvSpPr/>
          <p:nvPr/>
        </p:nvSpPr>
        <p:spPr>
          <a:xfrm>
            <a:off x="941740" y="5028634"/>
            <a:ext cx="1499853" cy="6618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Duration</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9" name="Right Arrow 28"/>
          <p:cNvSpPr/>
          <p:nvPr/>
        </p:nvSpPr>
        <p:spPr>
          <a:xfrm>
            <a:off x="2572793" y="5246130"/>
            <a:ext cx="590204" cy="184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0" name="Rounded Rectangle 29"/>
          <p:cNvSpPr/>
          <p:nvPr/>
        </p:nvSpPr>
        <p:spPr>
          <a:xfrm>
            <a:off x="6517109" y="3970180"/>
            <a:ext cx="1870364" cy="8240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Goal</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1" name="Right Arrow 30"/>
          <p:cNvSpPr/>
          <p:nvPr/>
        </p:nvSpPr>
        <p:spPr>
          <a:xfrm>
            <a:off x="8544097" y="4289984"/>
            <a:ext cx="590204" cy="184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2" name="TextBox 31"/>
          <p:cNvSpPr txBox="1"/>
          <p:nvPr/>
        </p:nvSpPr>
        <p:spPr>
          <a:xfrm>
            <a:off x="3399885" y="3239041"/>
            <a:ext cx="2665498" cy="1384995"/>
          </a:xfrm>
          <a:prstGeom prst="rect">
            <a:avLst/>
          </a:prstGeom>
          <a:noFill/>
        </p:spPr>
        <p:txBody>
          <a:bodyPr wrap="square" rtlCol="0">
            <a:spAutoFit/>
          </a:bodyPr>
          <a:lstStyle/>
          <a:p>
            <a:r>
              <a:rPr lang="en-US" sz="1400" dirty="0">
                <a:solidFill>
                  <a:srgbClr val="002060"/>
                </a:solidFill>
                <a:latin typeface="Times New Roman" panose="02020603050405020304" pitchFamily="18" charset="0"/>
                <a:cs typeface="Times New Roman" panose="02020603050405020304" pitchFamily="18" charset="0"/>
              </a:rPr>
              <a:t>Dust generation as per design,</a:t>
            </a:r>
            <a:endParaRPr lang="en-IN" sz="1400" dirty="0">
              <a:solidFill>
                <a:srgbClr val="002060"/>
              </a:solidFill>
              <a:latin typeface="Times New Roman" panose="02020603050405020304" pitchFamily="18" charset="0"/>
              <a:cs typeface="Times New Roman" panose="02020603050405020304" pitchFamily="18" charset="0"/>
            </a:endParaRPr>
          </a:p>
          <a:p>
            <a:r>
              <a:rPr lang="en-US" sz="1400" dirty="0">
                <a:solidFill>
                  <a:srgbClr val="002060"/>
                </a:solidFill>
                <a:latin typeface="Times New Roman" panose="02020603050405020304" pitchFamily="18" charset="0"/>
                <a:cs typeface="Times New Roman" panose="02020603050405020304" pitchFamily="18" charset="0"/>
              </a:rPr>
              <a:t>Preventing PDC cooling pipe punctures which compromise the chain conveyor's health, rust cooling pipes, and to reduce boiler inlet pressure</a:t>
            </a:r>
            <a:endParaRPr lang="en-IN" sz="1400" dirty="0">
              <a:solidFill>
                <a:srgbClr val="002060"/>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3399885" y="5087389"/>
            <a:ext cx="2608856" cy="523220"/>
          </a:xfrm>
          <a:prstGeom prst="rect">
            <a:avLst/>
          </a:prstGeom>
          <a:noFill/>
        </p:spPr>
        <p:txBody>
          <a:bodyPr wrap="square" rtlCol="0">
            <a:spAutoFit/>
          </a:bodyPr>
          <a:lstStyle/>
          <a:p>
            <a:r>
              <a:rPr lang="en-US" sz="1400" dirty="0">
                <a:solidFill>
                  <a:srgbClr val="002060"/>
                </a:solidFill>
                <a:latin typeface="Times New Roman" panose="02020603050405020304" pitchFamily="18" charset="0"/>
                <a:cs typeface="Times New Roman" panose="02020603050405020304" pitchFamily="18" charset="0"/>
              </a:rPr>
              <a:t>10/03/2024 to 11/05/2024</a:t>
            </a:r>
            <a:r>
              <a:rPr lang="en-IN" sz="1400" dirty="0">
                <a:solidFill>
                  <a:srgbClr val="002060"/>
                </a:solidFill>
                <a:latin typeface="Times New Roman" panose="02020603050405020304" pitchFamily="18" charset="0"/>
                <a:cs typeface="Times New Roman" panose="02020603050405020304" pitchFamily="18" charset="0"/>
              </a:rPr>
              <a:t> (2 months)</a:t>
            </a:r>
            <a:endParaRPr lang="en-US" sz="1400" dirty="0">
              <a:solidFill>
                <a:srgbClr val="002060"/>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9290925" y="3839716"/>
            <a:ext cx="2064260" cy="1169551"/>
          </a:xfrm>
          <a:prstGeom prst="rect">
            <a:avLst/>
          </a:prstGeom>
          <a:noFill/>
        </p:spPr>
        <p:txBody>
          <a:bodyPr wrap="square" rtlCol="0">
            <a:spAutoFit/>
          </a:bodyPr>
          <a:lstStyle/>
          <a:p>
            <a:r>
              <a:rPr lang="en-US" sz="1400" dirty="0">
                <a:solidFill>
                  <a:srgbClr val="002060"/>
                </a:solidFill>
                <a:latin typeface="Times New Roman" panose="02020603050405020304" pitchFamily="18" charset="0"/>
                <a:cs typeface="Times New Roman" panose="02020603050405020304" pitchFamily="18" charset="0"/>
              </a:rPr>
              <a:t>Dust generation -1380 tons to 1640 tons/months 		&amp;</a:t>
            </a:r>
          </a:p>
          <a:p>
            <a:r>
              <a:rPr lang="en-US" sz="1400" dirty="0">
                <a:solidFill>
                  <a:srgbClr val="002060"/>
                </a:solidFill>
                <a:latin typeface="Times New Roman" panose="02020603050405020304" pitchFamily="18" charset="0"/>
                <a:cs typeface="Times New Roman" panose="02020603050405020304" pitchFamily="18" charset="0"/>
              </a:rPr>
              <a:t>Boiler inlet pressure -1.21kpa to -0.78kpa </a:t>
            </a:r>
            <a:endParaRPr lang="en-IN" sz="1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8993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C:\Users\jsw\Downloads\images.png"/>
          <p:cNvPicPr>
            <a:picLocks noChangeAspect="1" noChangeArrowheads="1"/>
          </p:cNvPicPr>
          <p:nvPr/>
        </p:nvPicPr>
        <p:blipFill>
          <a:blip r:embed="rId2" cstate="print"/>
          <a:srcRect/>
          <a:stretch>
            <a:fillRect/>
          </a:stretch>
        </p:blipFill>
        <p:spPr bwMode="auto">
          <a:xfrm>
            <a:off x="9153710" y="3217260"/>
            <a:ext cx="2253885" cy="1653997"/>
          </a:xfrm>
          <a:prstGeom prst="rect">
            <a:avLst/>
          </a:prstGeom>
          <a:noFill/>
        </p:spPr>
      </p:pic>
      <p:sp>
        <p:nvSpPr>
          <p:cNvPr id="9" name="Title 2"/>
          <p:cNvSpPr txBox="1">
            <a:spLocks/>
          </p:cNvSpPr>
          <p:nvPr/>
        </p:nvSpPr>
        <p:spPr>
          <a:xfrm>
            <a:off x="544605" y="120345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4000" dirty="0">
                <a:solidFill>
                  <a:srgbClr val="002060"/>
                </a:solidFill>
                <a:latin typeface="Times New Roman" panose="02020603050405020304" pitchFamily="18" charset="0"/>
                <a:cs typeface="Times New Roman" panose="02020603050405020304" pitchFamily="18" charset="0"/>
              </a:rPr>
              <a:t>IMPACT OF THE PROBLEM </a:t>
            </a:r>
          </a:p>
        </p:txBody>
      </p:sp>
      <p:sp>
        <p:nvSpPr>
          <p:cNvPr id="10" name="TextBox 1"/>
          <p:cNvSpPr txBox="1">
            <a:spLocks noChangeArrowheads="1"/>
          </p:cNvSpPr>
          <p:nvPr/>
        </p:nvSpPr>
        <p:spPr bwMode="auto">
          <a:xfrm>
            <a:off x="3211032" y="510363"/>
            <a:ext cx="4704467" cy="562633"/>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a:defRPr/>
            </a:pPr>
            <a:r>
              <a:rPr lang="en-US" sz="2400" dirty="0">
                <a:solidFill>
                  <a:srgbClr val="FFFF00"/>
                </a:solidFill>
                <a:latin typeface="Times New Roman" panose="02020603050405020304" pitchFamily="18" charset="0"/>
                <a:cs typeface="Times New Roman" panose="02020603050405020304" pitchFamily="18" charset="0"/>
              </a:rPr>
              <a:t>STEP-3: DEFINE THE PROBLEM</a:t>
            </a:r>
          </a:p>
        </p:txBody>
      </p:sp>
      <p:sp>
        <p:nvSpPr>
          <p:cNvPr id="4" name="Rectangle 3"/>
          <p:cNvSpPr/>
          <p:nvPr/>
        </p:nvSpPr>
        <p:spPr>
          <a:xfrm>
            <a:off x="803563" y="2349708"/>
            <a:ext cx="8515004" cy="3231654"/>
          </a:xfrm>
          <a:prstGeom prst="rect">
            <a:avLst/>
          </a:prstGeom>
        </p:spPr>
        <p:txBody>
          <a:bodyPr wrap="square">
            <a:spAutoFit/>
          </a:bodyPr>
          <a:lstStyle/>
          <a:p>
            <a:pPr marL="515938" indent="-515938" fontAlgn="base">
              <a:spcBef>
                <a:spcPct val="20000"/>
              </a:spcBef>
              <a:spcAft>
                <a:spcPct val="0"/>
              </a:spcAft>
              <a:buFont typeface="Wingdings" pitchFamily="2" charset="2"/>
              <a:buChar char="Ø"/>
              <a:defRPr/>
            </a:pPr>
            <a:r>
              <a:rPr lang="en-US" sz="2000" dirty="0">
                <a:solidFill>
                  <a:schemeClr val="accent6">
                    <a:lumMod val="25000"/>
                  </a:schemeClr>
                </a:solidFill>
                <a:latin typeface="Times New Roman" panose="02020603050405020304" pitchFamily="18" charset="0"/>
                <a:cs typeface="Times New Roman" panose="02020603050405020304" pitchFamily="18" charset="0"/>
              </a:rPr>
              <a:t>Thermal variations may cause the cooling pipe puncture in the primary duct catcher, leading to welding fractures that affect the chain conveyor's health</a:t>
            </a:r>
          </a:p>
          <a:p>
            <a:pPr fontAlgn="base">
              <a:spcBef>
                <a:spcPct val="20000"/>
              </a:spcBef>
              <a:spcAft>
                <a:spcPct val="0"/>
              </a:spcAft>
              <a:defRPr/>
            </a:pPr>
            <a:endParaRPr lang="en-US" sz="2000" dirty="0">
              <a:solidFill>
                <a:schemeClr val="accent6">
                  <a:lumMod val="25000"/>
                </a:schemeClr>
              </a:solidFill>
              <a:latin typeface="Times New Roman" panose="02020603050405020304" pitchFamily="18" charset="0"/>
              <a:cs typeface="Times New Roman" panose="02020603050405020304" pitchFamily="18" charset="0"/>
            </a:endParaRPr>
          </a:p>
          <a:p>
            <a:pPr marL="515938" indent="-515938" fontAlgn="base">
              <a:spcBef>
                <a:spcPct val="20000"/>
              </a:spcBef>
              <a:spcAft>
                <a:spcPct val="0"/>
              </a:spcAft>
              <a:buFont typeface="Wingdings" pitchFamily="2" charset="2"/>
              <a:buChar char="Ø"/>
              <a:defRPr/>
            </a:pPr>
            <a:r>
              <a:rPr lang="en-US" sz="2000" dirty="0">
                <a:solidFill>
                  <a:schemeClr val="accent6">
                    <a:lumMod val="25000"/>
                  </a:schemeClr>
                </a:solidFill>
                <a:latin typeface="Times New Roman" panose="02020603050405020304" pitchFamily="18" charset="0"/>
                <a:cs typeface="Times New Roman" panose="02020603050405020304" pitchFamily="18" charset="0"/>
              </a:rPr>
              <a:t>Corrosion of cooling pipes</a:t>
            </a:r>
          </a:p>
          <a:p>
            <a:pPr fontAlgn="base">
              <a:spcBef>
                <a:spcPct val="20000"/>
              </a:spcBef>
              <a:spcAft>
                <a:spcPct val="0"/>
              </a:spcAft>
              <a:defRPr/>
            </a:pPr>
            <a:r>
              <a:rPr lang="en-US" sz="2000" dirty="0">
                <a:solidFill>
                  <a:schemeClr val="accent6">
                    <a:lumMod val="25000"/>
                  </a:schemeClr>
                </a:solidFill>
                <a:latin typeface="Times New Roman" panose="02020603050405020304" pitchFamily="18" charset="0"/>
                <a:cs typeface="Times New Roman" panose="02020603050405020304" pitchFamily="18" charset="0"/>
              </a:rPr>
              <a:t>                                                                               </a:t>
            </a:r>
          </a:p>
          <a:p>
            <a:pPr marL="515938" indent="-515938" fontAlgn="base">
              <a:spcBef>
                <a:spcPct val="20000"/>
              </a:spcBef>
              <a:spcAft>
                <a:spcPct val="0"/>
              </a:spcAft>
              <a:buFont typeface="Wingdings" pitchFamily="2" charset="2"/>
              <a:buChar char="Ø"/>
              <a:defRPr/>
            </a:pPr>
            <a:r>
              <a:rPr lang="en-US" sz="2000" dirty="0">
                <a:solidFill>
                  <a:schemeClr val="accent6">
                    <a:lumMod val="25000"/>
                  </a:schemeClr>
                </a:solidFill>
                <a:latin typeface="Times New Roman" panose="02020603050405020304" pitchFamily="18" charset="0"/>
                <a:cs typeface="Times New Roman" panose="02020603050405020304" pitchFamily="18" charset="0"/>
              </a:rPr>
              <a:t>Dust accumulation inside PDC hoppers, which increases boiler inlet pressure.</a:t>
            </a:r>
          </a:p>
          <a:p>
            <a:pPr marL="515938" indent="-515938" fontAlgn="base">
              <a:spcBef>
                <a:spcPct val="20000"/>
              </a:spcBef>
              <a:spcAft>
                <a:spcPct val="0"/>
              </a:spcAft>
              <a:buFont typeface="Wingdings" pitchFamily="2" charset="2"/>
              <a:buChar char="Ø"/>
              <a:defRPr/>
            </a:pPr>
            <a:endParaRPr lang="en-US" sz="2000" dirty="0">
              <a:solidFill>
                <a:schemeClr val="accent6">
                  <a:lumMod val="25000"/>
                </a:schemeClr>
              </a:solidFill>
              <a:latin typeface="Times New Roman" panose="02020603050405020304" pitchFamily="18" charset="0"/>
              <a:cs typeface="Times New Roman" panose="02020603050405020304" pitchFamily="18" charset="0"/>
            </a:endParaRPr>
          </a:p>
          <a:p>
            <a:pPr marL="515938" indent="-515938" fontAlgn="base">
              <a:spcBef>
                <a:spcPct val="20000"/>
              </a:spcBef>
              <a:spcAft>
                <a:spcPct val="0"/>
              </a:spcAft>
              <a:buFont typeface="Wingdings" pitchFamily="2" charset="2"/>
              <a:buChar char="Ø"/>
              <a:defRPr/>
            </a:pPr>
            <a:r>
              <a:rPr lang="en-US" sz="2000" dirty="0">
                <a:solidFill>
                  <a:schemeClr val="accent6">
                    <a:lumMod val="25000"/>
                  </a:schemeClr>
                </a:solidFill>
                <a:latin typeface="Times New Roman" panose="02020603050405020304" pitchFamily="18" charset="0"/>
                <a:cs typeface="Times New Roman" panose="02020603050405020304" pitchFamily="18" charset="0"/>
              </a:rPr>
              <a:t>Adverse effect on chain conveyor's life &amp; high maintenance cost</a:t>
            </a:r>
          </a:p>
        </p:txBody>
      </p:sp>
      <p:sp>
        <p:nvSpPr>
          <p:cNvPr id="7" name="Rectangle 6"/>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5493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58889" y="124690"/>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4992" y="675433"/>
            <a:ext cx="4010536" cy="1564987"/>
          </a:xfrm>
          <a:prstGeom prst="rect">
            <a:avLst/>
          </a:prstGeom>
        </p:spPr>
      </p:pic>
      <p:sp>
        <p:nvSpPr>
          <p:cNvPr id="5" name="Rectangle 4"/>
          <p:cNvSpPr/>
          <p:nvPr/>
        </p:nvSpPr>
        <p:spPr>
          <a:xfrm>
            <a:off x="4871258" y="2388071"/>
            <a:ext cx="6641869" cy="2632816"/>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p>
            <a:pPr algn="ctr"/>
            <a:r>
              <a:rPr lang="en-US" sz="3600" b="1" dirty="0">
                <a:solidFill>
                  <a:srgbClr val="002060"/>
                </a:solidFill>
                <a:latin typeface="Times New Roman" panose="02020603050405020304" pitchFamily="18" charset="0"/>
                <a:cs typeface="Times New Roman" panose="02020603050405020304" pitchFamily="18" charset="0"/>
              </a:rPr>
              <a:t>STEP  - 4</a:t>
            </a:r>
          </a:p>
          <a:p>
            <a:pPr algn="ctr"/>
            <a:r>
              <a:rPr lang="en-US" sz="3600" b="1" u="sng" dirty="0">
                <a:solidFill>
                  <a:srgbClr val="002060"/>
                </a:solidFill>
                <a:latin typeface="Times New Roman" panose="02020603050405020304" pitchFamily="18" charset="0"/>
                <a:cs typeface="Times New Roman" panose="02020603050405020304" pitchFamily="18" charset="0"/>
              </a:rPr>
              <a:t>ANALYZE THE PROBLEMS</a:t>
            </a:r>
          </a:p>
        </p:txBody>
      </p:sp>
      <p:pic>
        <p:nvPicPr>
          <p:cNvPr id="6" name="Picture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0163" y="2595889"/>
            <a:ext cx="3505863" cy="227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0" y="6488668"/>
            <a:ext cx="2287806" cy="369332"/>
          </a:xfrm>
          <a:prstGeom prst="rect">
            <a:avLst/>
          </a:prstGeom>
        </p:spPr>
        <p:txBody>
          <a:bodyPr wrap="none">
            <a:spAutoFit/>
          </a:bodyPr>
          <a:lstStyle/>
          <a:p>
            <a:r>
              <a:rPr lang="en-IN" dirty="0">
                <a:solidFill>
                  <a:schemeClr val="tx2">
                    <a:lumMod val="75000"/>
                  </a:schemeClr>
                </a:solidFill>
              </a:rPr>
              <a:t>JSW Steel Ltd, Dolvi</a:t>
            </a:r>
            <a:endParaRPr lang="en-US" dirty="0"/>
          </a:p>
        </p:txBody>
      </p:sp>
      <p:sp>
        <p:nvSpPr>
          <p:cNvPr id="9" name="Rectangle 8"/>
          <p:cNvSpPr/>
          <p:nvPr/>
        </p:nvSpPr>
        <p:spPr>
          <a:xfrm>
            <a:off x="4871257" y="5339283"/>
            <a:ext cx="6641870" cy="400110"/>
          </a:xfrm>
          <a:prstGeom prst="rect">
            <a:avLst/>
          </a:prstGeom>
          <a:solidFill>
            <a:schemeClr val="accent2"/>
          </a:solidFill>
        </p:spPr>
        <p:txBody>
          <a:bodyPr wrap="square">
            <a:spAutoFit/>
          </a:bodyPr>
          <a:lstStyle/>
          <a:p>
            <a:r>
              <a:rPr lang="en-IN" sz="2000" b="1" dirty="0">
                <a:solidFill>
                  <a:srgbClr val="FFFF00"/>
                </a:solidFill>
                <a:latin typeface="Times New Roman" panose="02020603050405020304" pitchFamily="18" charset="0"/>
                <a:cs typeface="Times New Roman" panose="02020603050405020304" pitchFamily="18" charset="0"/>
              </a:rPr>
              <a:t>Tools &amp; technique used : Check sheet, graph,4W1h analysis</a:t>
            </a:r>
          </a:p>
        </p:txBody>
      </p:sp>
    </p:spTree>
    <p:extLst>
      <p:ext uri="{BB962C8B-B14F-4D97-AF65-F5344CB8AC3E}">
        <p14:creationId xmlns:p14="http://schemas.microsoft.com/office/powerpoint/2010/main" val="56097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par>
                                <p:cTn id="11" presetID="31" presetClass="entr" presetSubtype="0" repeatCount="indefinite" fill="hold" nodeType="withEffect">
                                  <p:stCondLst>
                                    <p:cond delay="0"/>
                                  </p:stCondLst>
                                  <p:endCondLst>
                                    <p:cond evt="onNext" delay="0">
                                      <p:tgtEl>
                                        <p:sldTgt/>
                                      </p:tgtEl>
                                    </p:cond>
                                  </p:end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pSp>
        <p:nvGrpSpPr>
          <p:cNvPr id="6" name="Group 5"/>
          <p:cNvGrpSpPr/>
          <p:nvPr/>
        </p:nvGrpSpPr>
        <p:grpSpPr>
          <a:xfrm>
            <a:off x="795080" y="465513"/>
            <a:ext cx="11330419" cy="1252605"/>
            <a:chOff x="861581" y="0"/>
            <a:chExt cx="11330419" cy="1252605"/>
          </a:xfrm>
        </p:grpSpPr>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0"/>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2"/>
            <p:cNvSpPr txBox="1">
              <a:spLocks/>
            </p:cNvSpPr>
            <p:nvPr/>
          </p:nvSpPr>
          <p:spPr>
            <a:xfrm>
              <a:off x="861581" y="653029"/>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4W-1H ANALYSIS</a:t>
              </a:r>
            </a:p>
          </p:txBody>
        </p:sp>
        <p:sp>
          <p:nvSpPr>
            <p:cNvPr id="9" name="TextBox 1"/>
            <p:cNvSpPr txBox="1">
              <a:spLocks noChangeArrowheads="1"/>
            </p:cNvSpPr>
            <p:nvPr/>
          </p:nvSpPr>
          <p:spPr bwMode="auto">
            <a:xfrm>
              <a:off x="3767841" y="162726"/>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4 Analyse the problem</a:t>
              </a:r>
            </a:p>
          </p:txBody>
        </p:sp>
      </p:grpSp>
      <p:sp>
        <p:nvSpPr>
          <p:cNvPr id="10" name="Slide Number Placeholder 2"/>
          <p:cNvSpPr>
            <a:spLocks noGrp="1"/>
          </p:cNvSpPr>
          <p:nvPr>
            <p:ph type="sldNum" sz="quarter" idx="12"/>
          </p:nvPr>
        </p:nvSpPr>
        <p:spPr>
          <a:xfrm>
            <a:off x="3362499" y="6969743"/>
            <a:ext cx="2844800" cy="365125"/>
          </a:xfrm>
        </p:spPr>
        <p:txBody>
          <a:bodyPr/>
          <a:lstStyle/>
          <a:p>
            <a:pPr>
              <a:defRPr/>
            </a:pPr>
            <a:fld id="{D4C0CF83-43B5-4B70-838E-E2DFD927BFC6}" type="slidenum">
              <a:rPr lang="en-US" smtClean="0">
                <a:solidFill>
                  <a:schemeClr val="tx1"/>
                </a:solidFill>
                <a:latin typeface="Times New Roman" panose="02020603050405020304" pitchFamily="18" charset="0"/>
                <a:cs typeface="Times New Roman" panose="02020603050405020304" pitchFamily="18" charset="0"/>
              </a:rPr>
              <a:pPr>
                <a:defRPr/>
              </a:pPr>
              <a:t>24</a:t>
            </a:fld>
            <a:endParaRPr lang="en-US" dirty="0">
              <a:solidFill>
                <a:schemeClr val="tx1"/>
              </a:solidFill>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259164281"/>
              </p:ext>
            </p:extLst>
          </p:nvPr>
        </p:nvGraphicFramePr>
        <p:xfrm>
          <a:off x="795080" y="2195923"/>
          <a:ext cx="7023535" cy="3620562"/>
        </p:xfrm>
        <a:graphic>
          <a:graphicData uri="http://schemas.openxmlformats.org/drawingml/2006/table">
            <a:tbl>
              <a:tblPr firstRow="1" bandRow="1">
                <a:tableStyleId>{5C22544A-7EE6-4342-B048-85BDC9FD1C3A}</a:tableStyleId>
              </a:tblPr>
              <a:tblGrid>
                <a:gridCol w="1474376">
                  <a:extLst>
                    <a:ext uri="{9D8B030D-6E8A-4147-A177-3AD203B41FA5}">
                      <a16:colId xmlns:a16="http://schemas.microsoft.com/office/drawing/2014/main" val="20000"/>
                    </a:ext>
                  </a:extLst>
                </a:gridCol>
                <a:gridCol w="1394245">
                  <a:extLst>
                    <a:ext uri="{9D8B030D-6E8A-4147-A177-3AD203B41FA5}">
                      <a16:colId xmlns:a16="http://schemas.microsoft.com/office/drawing/2014/main" val="20001"/>
                    </a:ext>
                  </a:extLst>
                </a:gridCol>
                <a:gridCol w="1554507">
                  <a:extLst>
                    <a:ext uri="{9D8B030D-6E8A-4147-A177-3AD203B41FA5}">
                      <a16:colId xmlns:a16="http://schemas.microsoft.com/office/drawing/2014/main" val="20002"/>
                    </a:ext>
                  </a:extLst>
                </a:gridCol>
                <a:gridCol w="1113303">
                  <a:extLst>
                    <a:ext uri="{9D8B030D-6E8A-4147-A177-3AD203B41FA5}">
                      <a16:colId xmlns:a16="http://schemas.microsoft.com/office/drawing/2014/main" val="20003"/>
                    </a:ext>
                  </a:extLst>
                </a:gridCol>
                <a:gridCol w="1487104">
                  <a:extLst>
                    <a:ext uri="{9D8B030D-6E8A-4147-A177-3AD203B41FA5}">
                      <a16:colId xmlns:a16="http://schemas.microsoft.com/office/drawing/2014/main" val="20004"/>
                    </a:ext>
                  </a:extLst>
                </a:gridCol>
              </a:tblGrid>
              <a:tr h="832336">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WHERE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HOW MUCH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94113">
                <a:tc>
                  <a:txBody>
                    <a:bodyPr/>
                    <a:lstStyle/>
                    <a:p>
                      <a:pPr marL="0" marR="0" indent="0" algn="ctr" defTabSz="914674" rtl="0" eaLnBrk="1" fontAlgn="b" latinLnBrk="0" hangingPunct="1">
                        <a:lnSpc>
                          <a:spcPct val="100000"/>
                        </a:lnSpc>
                        <a:spcBef>
                          <a:spcPts val="0"/>
                        </a:spcBef>
                        <a:spcAft>
                          <a:spcPts val="0"/>
                        </a:spcAft>
                        <a:buClrTx/>
                        <a:buSzTx/>
                        <a:buFontTx/>
                        <a:buNone/>
                        <a:tabLst/>
                        <a:defRPr/>
                      </a:pPr>
                      <a:r>
                        <a:rPr lang="en-US" sz="1600" b="0" i="0" u="none" strike="noStrike" baseline="0" dirty="0">
                          <a:solidFill>
                            <a:srgbClr val="FF0000"/>
                          </a:solidFill>
                          <a:effectLst/>
                          <a:latin typeface="Times New Roman" panose="02020603050405020304" pitchFamily="18" charset="0"/>
                          <a:cs typeface="Times New Roman" panose="02020603050405020304" pitchFamily="18" charset="0"/>
                        </a:rPr>
                        <a:t>Dust Generation</a:t>
                      </a:r>
                      <a:endParaRPr lang="en-US" sz="1600" b="0" i="0" u="none" strike="noStrike" dirty="0">
                        <a:solidFill>
                          <a:srgbClr val="FF0000"/>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aseline="0" dirty="0">
                          <a:solidFill>
                            <a:srgbClr val="002060"/>
                          </a:solidFill>
                          <a:latin typeface="Times New Roman" panose="02020603050405020304" pitchFamily="18" charset="0"/>
                          <a:cs typeface="Times New Roman" panose="02020603050405020304" pitchFamily="18" charset="0"/>
                        </a:rPr>
                        <a:t>CDQ Primary Dust Catcher </a:t>
                      </a:r>
                      <a:endParaRPr lang="en-US" sz="16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latin typeface="Times New Roman" panose="02020603050405020304" pitchFamily="18" charset="0"/>
                          <a:cs typeface="Times New Roman" panose="02020603050405020304" pitchFamily="18" charset="0"/>
                        </a:rPr>
                        <a:t>During Continuous</a:t>
                      </a:r>
                      <a:r>
                        <a:rPr lang="en-US" sz="1600" baseline="0" dirty="0">
                          <a:solidFill>
                            <a:srgbClr val="002060"/>
                          </a:solidFill>
                          <a:latin typeface="Times New Roman" panose="02020603050405020304" pitchFamily="18" charset="0"/>
                          <a:cs typeface="Times New Roman" panose="02020603050405020304" pitchFamily="18" charset="0"/>
                        </a:rPr>
                        <a:t> Operation of CDQ </a:t>
                      </a:r>
                      <a:endParaRPr lang="en-US" sz="16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CDQ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rgbClr val="002060"/>
                          </a:solidFill>
                          <a:latin typeface="Times New Roman" panose="02020603050405020304" pitchFamily="18" charset="0"/>
                          <a:cs typeface="Times New Roman" panose="02020603050405020304" pitchFamily="18" charset="0"/>
                        </a:rPr>
                        <a:t>1380tons to  1640 tons/month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394113">
                <a:tc>
                  <a:txBody>
                    <a:bodyPr/>
                    <a:lstStyle/>
                    <a:p>
                      <a:pPr marL="0" marR="0" indent="0" algn="ctr" defTabSz="914674" rtl="0" eaLnBrk="1" fontAlgn="b" latinLnBrk="0" hangingPunct="1">
                        <a:lnSpc>
                          <a:spcPct val="100000"/>
                        </a:lnSpc>
                        <a:spcBef>
                          <a:spcPts val="0"/>
                        </a:spcBef>
                        <a:spcAft>
                          <a:spcPts val="0"/>
                        </a:spcAft>
                        <a:buClrTx/>
                        <a:buSzTx/>
                        <a:buFontTx/>
                        <a:buNone/>
                        <a:tabLst/>
                        <a:defRPr/>
                      </a:pPr>
                      <a:r>
                        <a:rPr lang="en-US" sz="1600" b="0" i="0" u="none" strike="noStrike" baseline="0" dirty="0">
                          <a:solidFill>
                            <a:srgbClr val="FF0000"/>
                          </a:solidFill>
                          <a:effectLst/>
                          <a:latin typeface="Times New Roman" panose="02020603050405020304" pitchFamily="18" charset="0"/>
                          <a:cs typeface="Times New Roman" panose="02020603050405020304" pitchFamily="18" charset="0"/>
                        </a:rPr>
                        <a:t>Boiler Inlet Pressure (P6)</a:t>
                      </a:r>
                      <a:endParaRPr lang="en-US" sz="1600" b="0" i="0" u="none" strike="noStrike" dirty="0">
                        <a:solidFill>
                          <a:srgbClr val="FF0000"/>
                        </a:solidFill>
                        <a:effectLst/>
                        <a:latin typeface="Times New Roman" panose="02020603050405020304" pitchFamily="18" charset="0"/>
                        <a:cs typeface="Times New Roman" panose="02020603050405020304" pitchFamily="18" charset="0"/>
                      </a:endParaRPr>
                    </a:p>
                    <a:p>
                      <a:pPr marL="0" marR="0" indent="0" algn="ctr" defTabSz="914674" rtl="0" eaLnBrk="1" fontAlgn="b" latinLnBrk="0" hangingPunct="1">
                        <a:lnSpc>
                          <a:spcPct val="100000"/>
                        </a:lnSpc>
                        <a:spcBef>
                          <a:spcPts val="0"/>
                        </a:spcBef>
                        <a:spcAft>
                          <a:spcPts val="0"/>
                        </a:spcAft>
                        <a:buClrTx/>
                        <a:buSzTx/>
                        <a:buFontTx/>
                        <a:buNone/>
                        <a:tabLst/>
                        <a:defRPr/>
                      </a:pPr>
                      <a:endParaRPr lang="en-US" sz="1600" b="0" i="0" u="none" strike="noStrike" dirty="0">
                        <a:solidFill>
                          <a:srgbClr val="FF0000"/>
                        </a:solidFill>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aseline="0" dirty="0">
                          <a:solidFill>
                            <a:srgbClr val="002060"/>
                          </a:solidFill>
                          <a:latin typeface="Times New Roman" panose="02020603050405020304" pitchFamily="18" charset="0"/>
                          <a:cs typeface="Times New Roman" panose="02020603050405020304" pitchFamily="18" charset="0"/>
                        </a:rPr>
                        <a:t>CDQ Primary Dust Catcher </a:t>
                      </a:r>
                      <a:endParaRPr lang="en-US" sz="1600" dirty="0">
                        <a:solidFill>
                          <a:srgbClr val="002060"/>
                        </a:solidFill>
                        <a:latin typeface="Times New Roman" panose="02020603050405020304" pitchFamily="18" charset="0"/>
                        <a:cs typeface="Times New Roman" panose="02020603050405020304" pitchFamily="18" charset="0"/>
                      </a:endParaRPr>
                    </a:p>
                    <a:p>
                      <a:pPr algn="ctr"/>
                      <a:endParaRPr lang="en-US" sz="16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latin typeface="Times New Roman" panose="02020603050405020304" pitchFamily="18" charset="0"/>
                          <a:cs typeface="Times New Roman" panose="02020603050405020304" pitchFamily="18" charset="0"/>
                        </a:rPr>
                        <a:t>During Continuous</a:t>
                      </a:r>
                      <a:r>
                        <a:rPr lang="en-US" sz="1600" baseline="0" dirty="0">
                          <a:solidFill>
                            <a:srgbClr val="002060"/>
                          </a:solidFill>
                          <a:latin typeface="Times New Roman" panose="02020603050405020304" pitchFamily="18" charset="0"/>
                          <a:cs typeface="Times New Roman" panose="02020603050405020304" pitchFamily="18" charset="0"/>
                        </a:rPr>
                        <a:t> Operation of CDQ </a:t>
                      </a:r>
                      <a:endParaRPr lang="en-US" sz="16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solidFill>
                            <a:srgbClr val="002060"/>
                          </a:solidFill>
                          <a:latin typeface="Times New Roman" panose="02020603050405020304" pitchFamily="18" charset="0"/>
                          <a:cs typeface="Times New Roman" panose="02020603050405020304" pitchFamily="18" charset="0"/>
                        </a:rPr>
                        <a:t>CDQ Operation</a:t>
                      </a:r>
                    </a:p>
                    <a:p>
                      <a:pPr algn="ctr"/>
                      <a:endParaRPr lang="en-US" sz="16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solidFill>
                            <a:srgbClr val="002060"/>
                          </a:solidFill>
                          <a:latin typeface="Times New Roman" panose="02020603050405020304" pitchFamily="18" charset="0"/>
                          <a:cs typeface="Times New Roman" panose="02020603050405020304" pitchFamily="18" charset="0"/>
                        </a:rPr>
                        <a:t>-1.21kpa to -0.78kpa </a:t>
                      </a:r>
                      <a:endParaRPr lang="en-IN" sz="1600" dirty="0">
                        <a:solidFill>
                          <a:srgbClr val="002060"/>
                        </a:solidFill>
                        <a:latin typeface="Times New Roman" panose="02020603050405020304" pitchFamily="18" charset="0"/>
                        <a:cs typeface="Times New Roman" panose="02020603050405020304" pitchFamily="18" charset="0"/>
                      </a:endParaRPr>
                    </a:p>
                    <a:p>
                      <a:pPr algn="ctr"/>
                      <a:endParaRPr lang="en-US" sz="16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205388"/>
                  </a:ext>
                </a:extLst>
              </a:tr>
            </a:tbl>
          </a:graphicData>
        </a:graphic>
      </p:graphicFrame>
      <p:pic>
        <p:nvPicPr>
          <p:cNvPr id="12" name="Picture 2" descr="Image result for defining probl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426" y="2491023"/>
            <a:ext cx="3255878" cy="2617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2665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3733155" y="485569"/>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4 Analyse the problem</a:t>
            </a:r>
          </a:p>
        </p:txBody>
      </p:sp>
      <p:sp>
        <p:nvSpPr>
          <p:cNvPr id="3" name="Title 2"/>
          <p:cNvSpPr txBox="1">
            <a:spLocks/>
          </p:cNvSpPr>
          <p:nvPr/>
        </p:nvSpPr>
        <p:spPr>
          <a:xfrm>
            <a:off x="989239" y="95983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DATA BASE- BEFORE</a:t>
            </a:r>
          </a:p>
        </p:txBody>
      </p:sp>
      <p:graphicFrame>
        <p:nvGraphicFramePr>
          <p:cNvPr id="4" name="Chart 3"/>
          <p:cNvGraphicFramePr>
            <a:graphicFrameLocks/>
          </p:cNvGraphicFramePr>
          <p:nvPr>
            <p:extLst>
              <p:ext uri="{D42A27DB-BD31-4B8C-83A1-F6EECF244321}">
                <p14:modId xmlns:p14="http://schemas.microsoft.com/office/powerpoint/2010/main" val="1585976573"/>
              </p:ext>
            </p:extLst>
          </p:nvPr>
        </p:nvGraphicFramePr>
        <p:xfrm>
          <a:off x="2783327" y="1824644"/>
          <a:ext cx="6472845" cy="4085705"/>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4565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3733155" y="485569"/>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4 Analyse the problem</a:t>
            </a:r>
          </a:p>
        </p:txBody>
      </p:sp>
      <p:sp>
        <p:nvSpPr>
          <p:cNvPr id="3" name="Title 2"/>
          <p:cNvSpPr txBox="1">
            <a:spLocks/>
          </p:cNvSpPr>
          <p:nvPr/>
        </p:nvSpPr>
        <p:spPr>
          <a:xfrm>
            <a:off x="989239" y="95983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DATA BASE- BEFORE</a:t>
            </a:r>
          </a:p>
        </p:txBody>
      </p:sp>
      <p:sp>
        <p:nvSpPr>
          <p:cNvPr id="5" name="Rectangle 4"/>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ext uri="{D42A27DB-BD31-4B8C-83A1-F6EECF244321}">
                <p14:modId xmlns:p14="http://schemas.microsoft.com/office/powerpoint/2010/main" val="20655518"/>
              </p:ext>
            </p:extLst>
          </p:nvPr>
        </p:nvGraphicFramePr>
        <p:xfrm>
          <a:off x="2579716" y="1857895"/>
          <a:ext cx="6713913" cy="4326774"/>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0022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78011" y="108066"/>
            <a:ext cx="943818" cy="94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3" cstate="print">
            <a:clrChange>
              <a:clrFrom>
                <a:srgbClr val="F6F6F6"/>
              </a:clrFrom>
              <a:clrTo>
                <a:srgbClr val="F6F6F6">
                  <a:alpha val="0"/>
                </a:srgbClr>
              </a:clrTo>
            </a:clrChange>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rot="20310812">
            <a:off x="570405" y="1957908"/>
            <a:ext cx="4503850" cy="269819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Rectangle 5"/>
          <p:cNvSpPr/>
          <p:nvPr/>
        </p:nvSpPr>
        <p:spPr>
          <a:xfrm>
            <a:off x="5625591" y="1917319"/>
            <a:ext cx="5821034" cy="2396986"/>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p>
            <a:pPr algn="ctr"/>
            <a:r>
              <a:rPr lang="en-US" sz="4801" b="1" dirty="0">
                <a:solidFill>
                  <a:srgbClr val="002060"/>
                </a:solidFill>
                <a:latin typeface="Times New Roman" panose="02020603050405020304" pitchFamily="18" charset="0"/>
                <a:cs typeface="Times New Roman" panose="02020603050405020304" pitchFamily="18" charset="0"/>
              </a:rPr>
              <a:t>STEP  - 5</a:t>
            </a:r>
            <a:br>
              <a:rPr lang="en-US" sz="4801" b="1" dirty="0">
                <a:solidFill>
                  <a:srgbClr val="002060"/>
                </a:solidFill>
                <a:latin typeface="Times New Roman" panose="02020603050405020304" pitchFamily="18" charset="0"/>
                <a:cs typeface="Times New Roman" panose="02020603050405020304" pitchFamily="18" charset="0"/>
              </a:rPr>
            </a:br>
            <a:r>
              <a:rPr lang="en-US" sz="4801" b="1" u="sng" dirty="0">
                <a:solidFill>
                  <a:srgbClr val="002060"/>
                </a:solidFill>
                <a:latin typeface="Times New Roman" panose="02020603050405020304" pitchFamily="18" charset="0"/>
                <a:cs typeface="Times New Roman" panose="02020603050405020304" pitchFamily="18" charset="0"/>
              </a:rPr>
              <a:t>IDENTIFY CAUSES</a:t>
            </a:r>
          </a:p>
        </p:txBody>
      </p:sp>
      <p:sp>
        <p:nvSpPr>
          <p:cNvPr id="9" name="Rectangle 8"/>
          <p:cNvSpPr/>
          <p:nvPr/>
        </p:nvSpPr>
        <p:spPr>
          <a:xfrm>
            <a:off x="5625591" y="4695703"/>
            <a:ext cx="5821034" cy="400110"/>
          </a:xfrm>
          <a:prstGeom prst="rect">
            <a:avLst/>
          </a:prstGeom>
          <a:solidFill>
            <a:schemeClr val="accent2"/>
          </a:solidFill>
        </p:spPr>
        <p:txBody>
          <a:bodyPr wrap="square">
            <a:spAutoFit/>
          </a:bodyPr>
          <a:lstStyle/>
          <a:p>
            <a:r>
              <a:rPr lang="en-IN" sz="2000" b="1" dirty="0">
                <a:solidFill>
                  <a:srgbClr val="FFFF00"/>
                </a:solidFill>
                <a:latin typeface="Times New Roman" panose="02020603050405020304" pitchFamily="18" charset="0"/>
                <a:cs typeface="Times New Roman" panose="02020603050405020304" pitchFamily="18" charset="0"/>
              </a:rPr>
              <a:t>Tools : Cause and Effect diagram</a:t>
            </a:r>
          </a:p>
        </p:txBody>
      </p:sp>
    </p:spTree>
    <p:extLst>
      <p:ext uri="{BB962C8B-B14F-4D97-AF65-F5344CB8AC3E}">
        <p14:creationId xmlns:p14="http://schemas.microsoft.com/office/powerpoint/2010/main" val="413136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par>
                                <p:cTn id="21" presetID="45"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2000"/>
                                        <p:tgtEl>
                                          <p:spTgt spid="5"/>
                                        </p:tgtEl>
                                      </p:cBhvr>
                                    </p:animEffect>
                                    <p:anim calcmode="lin" valueType="num">
                                      <p:cBhvr>
                                        <p:cTn id="24" dur="2000" fill="hold"/>
                                        <p:tgtEl>
                                          <p:spTgt spid="5"/>
                                        </p:tgtEl>
                                        <p:attrNameLst>
                                          <p:attrName>ppt_w</p:attrName>
                                        </p:attrNameLst>
                                      </p:cBhvr>
                                      <p:tavLst>
                                        <p:tav tm="0" fmla="#ppt_w*sin(2.5*pi*$)">
                                          <p:val>
                                            <p:fltVal val="0"/>
                                          </p:val>
                                        </p:tav>
                                        <p:tav tm="100000">
                                          <p:val>
                                            <p:fltVal val="1"/>
                                          </p:val>
                                        </p:tav>
                                      </p:tavLst>
                                    </p:anim>
                                    <p:anim calcmode="lin" valueType="num">
                                      <p:cBhvr>
                                        <p:cTn id="25"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083224" y="173219"/>
            <a:ext cx="10938628" cy="1125822"/>
            <a:chOff x="1105170" y="-55863"/>
            <a:chExt cx="11834891" cy="1513139"/>
          </a:xfrm>
        </p:grpSpPr>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94378" y="-55863"/>
              <a:ext cx="1345683" cy="1351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txBox="1">
              <a:spLocks/>
            </p:cNvSpPr>
            <p:nvPr/>
          </p:nvSpPr>
          <p:spPr>
            <a:xfrm>
              <a:off x="1105170" y="85770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LIST OF CAUSES</a:t>
              </a:r>
            </a:p>
          </p:txBody>
        </p:sp>
        <p:sp>
          <p:nvSpPr>
            <p:cNvPr id="6" name="TextBox 1"/>
            <p:cNvSpPr txBox="1">
              <a:spLocks noChangeArrowheads="1"/>
            </p:cNvSpPr>
            <p:nvPr/>
          </p:nvSpPr>
          <p:spPr bwMode="auto">
            <a:xfrm>
              <a:off x="3821006" y="301894"/>
              <a:ext cx="4629347" cy="404835"/>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5 Identify the causes</a:t>
              </a:r>
            </a:p>
          </p:txBody>
        </p:sp>
      </p:grpSp>
      <p:sp>
        <p:nvSpPr>
          <p:cNvPr id="8" name="Slide Number Placeholder 2"/>
          <p:cNvSpPr>
            <a:spLocks noGrp="1"/>
          </p:cNvSpPr>
          <p:nvPr>
            <p:ph type="sldNum" sz="quarter" idx="12"/>
          </p:nvPr>
        </p:nvSpPr>
        <p:spPr>
          <a:xfrm>
            <a:off x="2895600" y="6646661"/>
            <a:ext cx="2629362" cy="271664"/>
          </a:xfrm>
        </p:spPr>
        <p:txBody>
          <a:bodyPr/>
          <a:lstStyle/>
          <a:p>
            <a:pPr>
              <a:defRPr/>
            </a:pPr>
            <a:fld id="{D4C0CF83-43B5-4B70-838E-E2DFD927BFC6}" type="slidenum">
              <a:rPr lang="en-US" smtClean="0">
                <a:solidFill>
                  <a:schemeClr val="tx1"/>
                </a:solidFill>
                <a:latin typeface="Times New Roman" panose="02020603050405020304" pitchFamily="18" charset="0"/>
                <a:cs typeface="Times New Roman" panose="02020603050405020304" pitchFamily="18" charset="0"/>
              </a:rPr>
              <a:pPr>
                <a:defRPr/>
              </a:pPr>
              <a:t>28</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554317116"/>
              </p:ext>
            </p:extLst>
          </p:nvPr>
        </p:nvGraphicFramePr>
        <p:xfrm>
          <a:off x="1077697" y="1567565"/>
          <a:ext cx="9063830" cy="4520665"/>
        </p:xfrm>
        <a:graphic>
          <a:graphicData uri="http://schemas.openxmlformats.org/drawingml/2006/table">
            <a:tbl>
              <a:tblPr firstRow="1" bandRow="1">
                <a:tableStyleId>{5C22544A-7EE6-4342-B048-85BDC9FD1C3A}</a:tableStyleId>
              </a:tblPr>
              <a:tblGrid>
                <a:gridCol w="1115068">
                  <a:extLst>
                    <a:ext uri="{9D8B030D-6E8A-4147-A177-3AD203B41FA5}">
                      <a16:colId xmlns:a16="http://schemas.microsoft.com/office/drawing/2014/main" val="194647603"/>
                    </a:ext>
                  </a:extLst>
                </a:gridCol>
                <a:gridCol w="7948762">
                  <a:extLst>
                    <a:ext uri="{9D8B030D-6E8A-4147-A177-3AD203B41FA5}">
                      <a16:colId xmlns:a16="http://schemas.microsoft.com/office/drawing/2014/main" val="3154408918"/>
                    </a:ext>
                  </a:extLst>
                </a:gridCol>
              </a:tblGrid>
              <a:tr h="369141">
                <a:tc>
                  <a:txBody>
                    <a:bodyPr/>
                    <a:lstStyle/>
                    <a:p>
                      <a:pPr algn="ctr"/>
                      <a:r>
                        <a:rPr lang="en-US" sz="1400" b="1" dirty="0" err="1">
                          <a:solidFill>
                            <a:srgbClr val="002060"/>
                          </a:solidFill>
                          <a:latin typeface="Times New Roman" panose="02020603050405020304" pitchFamily="18" charset="0"/>
                          <a:cs typeface="Times New Roman" panose="02020603050405020304" pitchFamily="18" charset="0"/>
                        </a:rPr>
                        <a:t>Sr.No</a:t>
                      </a:r>
                      <a:endParaRPr lang="en-IN" sz="1400" b="1"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en-US" sz="1400" b="1" dirty="0">
                          <a:solidFill>
                            <a:srgbClr val="002060"/>
                          </a:solidFill>
                          <a:latin typeface="Times New Roman" panose="02020603050405020304" pitchFamily="18" charset="0"/>
                          <a:cs typeface="Times New Roman" panose="02020603050405020304" pitchFamily="18" charset="0"/>
                        </a:rPr>
                        <a:t>Causes</a:t>
                      </a:r>
                      <a:endParaRPr lang="en-IN" sz="14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52075975"/>
                  </a:ext>
                </a:extLst>
              </a:tr>
              <a:tr h="369141">
                <a:tc>
                  <a:txBody>
                    <a:bodyPr/>
                    <a:lstStyle/>
                    <a:p>
                      <a:pPr algn="ctr"/>
                      <a:r>
                        <a:rPr lang="en-US" sz="1400" b="0" dirty="0">
                          <a:latin typeface="Times New Roman" panose="02020603050405020304" pitchFamily="18" charset="0"/>
                          <a:cs typeface="Times New Roman" panose="02020603050405020304" pitchFamily="18" charset="0"/>
                        </a:rPr>
                        <a:t>1</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dirty="0">
                          <a:effectLst/>
                          <a:latin typeface="Times New Roman" panose="02020603050405020304" pitchFamily="18" charset="0"/>
                          <a:cs typeface="Times New Roman" panose="02020603050405020304" pitchFamily="18" charset="0"/>
                        </a:rPr>
                        <a:t>Hot dust accumulation inside cooling</a:t>
                      </a:r>
                      <a:r>
                        <a:rPr lang="en-US" sz="1400" b="0" i="0" u="none" strike="noStrike" baseline="0" dirty="0">
                          <a:effectLst/>
                          <a:latin typeface="Times New Roman" panose="02020603050405020304" pitchFamily="18" charset="0"/>
                          <a:cs typeface="Times New Roman" panose="02020603050405020304" pitchFamily="18" charset="0"/>
                        </a:rPr>
                        <a:t> pipes for longer duration</a:t>
                      </a:r>
                      <a:endParaRPr lang="en-US" sz="1400" b="0" i="0" u="none" strike="noStrike" dirty="0">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80991813"/>
                  </a:ext>
                </a:extLst>
              </a:tr>
              <a:tr h="369141">
                <a:tc>
                  <a:txBody>
                    <a:bodyPr/>
                    <a:lstStyle/>
                    <a:p>
                      <a:pPr algn="ctr"/>
                      <a:r>
                        <a:rPr lang="en-US" sz="1400" b="0" dirty="0">
                          <a:latin typeface="Times New Roman" panose="02020603050405020304" pitchFamily="18" charset="0"/>
                          <a:cs typeface="Times New Roman" panose="02020603050405020304" pitchFamily="18" charset="0"/>
                        </a:rPr>
                        <a:t>2</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Excess discharge through hoppers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90695710"/>
                  </a:ext>
                </a:extLst>
              </a:tr>
              <a:tr h="369141">
                <a:tc>
                  <a:txBody>
                    <a:bodyPr/>
                    <a:lstStyle/>
                    <a:p>
                      <a:pPr algn="ctr"/>
                      <a:r>
                        <a:rPr lang="en-US" sz="1400" b="0" dirty="0">
                          <a:latin typeface="Times New Roman" panose="02020603050405020304" pitchFamily="18" charset="0"/>
                          <a:cs typeface="Times New Roman" panose="02020603050405020304" pitchFamily="18" charset="0"/>
                        </a:rPr>
                        <a:t>3</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Insufficient</a:t>
                      </a:r>
                      <a:r>
                        <a:rPr lang="en-US" sz="1400" b="0" baseline="0" dirty="0">
                          <a:latin typeface="Times New Roman" panose="02020603050405020304" pitchFamily="18" charset="0"/>
                          <a:cs typeface="Times New Roman" panose="02020603050405020304" pitchFamily="18" charset="0"/>
                        </a:rPr>
                        <a:t> flow of cooling water inside jacket</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49012192"/>
                  </a:ext>
                </a:extLst>
              </a:tr>
              <a:tr h="369141">
                <a:tc>
                  <a:txBody>
                    <a:bodyPr/>
                    <a:lstStyle/>
                    <a:p>
                      <a:pPr algn="ctr"/>
                      <a:r>
                        <a:rPr lang="en-US" sz="1400" b="0" dirty="0">
                          <a:latin typeface="Times New Roman" panose="02020603050405020304" pitchFamily="18" charset="0"/>
                          <a:cs typeface="Times New Roman" panose="02020603050405020304" pitchFamily="18" charset="0"/>
                        </a:rPr>
                        <a:t>4</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Cooling water quality affects on pipes (like corrosion)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7156017"/>
                  </a:ext>
                </a:extLst>
              </a:tr>
              <a:tr h="392337">
                <a:tc>
                  <a:txBody>
                    <a:bodyPr/>
                    <a:lstStyle/>
                    <a:p>
                      <a:pPr algn="ctr"/>
                      <a:r>
                        <a:rPr lang="en-US" sz="1400" b="0" dirty="0">
                          <a:latin typeface="Times New Roman" panose="02020603050405020304" pitchFamily="18" charset="0"/>
                          <a:cs typeface="Times New Roman" panose="02020603050405020304" pitchFamily="18" charset="0"/>
                        </a:rPr>
                        <a:t>5</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dirty="0">
                          <a:effectLst/>
                          <a:latin typeface="Times New Roman" panose="02020603050405020304" pitchFamily="18" charset="0"/>
                          <a:cs typeface="Times New Roman" panose="02020603050405020304" pitchFamily="18" charset="0"/>
                        </a:rPr>
                        <a:t>Frequent</a:t>
                      </a:r>
                      <a:r>
                        <a:rPr lang="en-US" sz="1400" b="0" i="0" u="none" strike="noStrike" baseline="0" dirty="0">
                          <a:effectLst/>
                          <a:latin typeface="Times New Roman" panose="02020603050405020304" pitchFamily="18" charset="0"/>
                          <a:cs typeface="Times New Roman" panose="02020603050405020304" pitchFamily="18" charset="0"/>
                        </a:rPr>
                        <a:t> </a:t>
                      </a:r>
                      <a:r>
                        <a:rPr lang="en-US" sz="1400" b="0" i="0" u="none" strike="noStrike" dirty="0">
                          <a:effectLst/>
                          <a:latin typeface="Times New Roman" panose="02020603050405020304" pitchFamily="18" charset="0"/>
                          <a:cs typeface="Times New Roman" panose="02020603050405020304" pitchFamily="18" charset="0"/>
                        </a:rPr>
                        <a:t>SDC PDC chain conveyor</a:t>
                      </a:r>
                      <a:r>
                        <a:rPr lang="en-US" sz="1400" b="0" i="0" u="none" strike="noStrike" baseline="0" dirty="0">
                          <a:effectLst/>
                          <a:latin typeface="Times New Roman" panose="02020603050405020304" pitchFamily="18" charset="0"/>
                          <a:cs typeface="Times New Roman" panose="02020603050405020304" pitchFamily="18" charset="0"/>
                        </a:rPr>
                        <a:t> breakdown</a:t>
                      </a:r>
                    </a:p>
                  </a:txBody>
                  <a:tcPr/>
                </a:tc>
                <a:extLst>
                  <a:ext uri="{0D108BD9-81ED-4DB2-BD59-A6C34878D82A}">
                    <a16:rowId xmlns:a16="http://schemas.microsoft.com/office/drawing/2014/main" val="4157037968"/>
                  </a:ext>
                </a:extLst>
              </a:tr>
              <a:tr h="351553">
                <a:tc>
                  <a:txBody>
                    <a:bodyPr/>
                    <a:lstStyle/>
                    <a:p>
                      <a:pPr algn="ctr"/>
                      <a:r>
                        <a:rPr lang="en-US" sz="1400" b="0" dirty="0">
                          <a:latin typeface="Times New Roman" panose="02020603050405020304" pitchFamily="18" charset="0"/>
                          <a:cs typeface="Times New Roman" panose="02020603050405020304" pitchFamily="18" charset="0"/>
                        </a:rPr>
                        <a:t>6</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dirty="0">
                          <a:effectLst/>
                          <a:latin typeface="Times New Roman" panose="02020603050405020304" pitchFamily="18" charset="0"/>
                          <a:cs typeface="Times New Roman" panose="02020603050405020304" pitchFamily="18" charset="0"/>
                        </a:rPr>
                        <a:t>Chamber silos RAV issue like jamming, resulting in chain conveyors stoppage </a:t>
                      </a:r>
                    </a:p>
                  </a:txBody>
                  <a:tcPr/>
                </a:tc>
                <a:extLst>
                  <a:ext uri="{0D108BD9-81ED-4DB2-BD59-A6C34878D82A}">
                    <a16:rowId xmlns:a16="http://schemas.microsoft.com/office/drawing/2014/main" val="2439605047"/>
                  </a:ext>
                </a:extLst>
              </a:tr>
              <a:tr h="369141">
                <a:tc>
                  <a:txBody>
                    <a:bodyPr/>
                    <a:lstStyle/>
                    <a:p>
                      <a:pPr algn="ctr"/>
                      <a:r>
                        <a:rPr lang="en-US" sz="1400" b="0" dirty="0">
                          <a:latin typeface="Times New Roman" panose="02020603050405020304" pitchFamily="18" charset="0"/>
                          <a:cs typeface="Times New Roman" panose="02020603050405020304" pitchFamily="18" charset="0"/>
                        </a:rPr>
                        <a:t>7</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1400" b="0" i="0" u="none" strike="noStrike" dirty="0">
                          <a:effectLst/>
                          <a:latin typeface="Times New Roman" panose="02020603050405020304" pitchFamily="18" charset="0"/>
                          <a:cs typeface="Times New Roman" panose="02020603050405020304" pitchFamily="18" charset="0"/>
                        </a:rPr>
                        <a:t> PDC nitrogen valve jam </a:t>
                      </a:r>
                    </a:p>
                  </a:txBody>
                  <a:tcPr marL="9526" marR="9526" marT="9525" marB="0" anchor="ctr"/>
                </a:tc>
                <a:extLst>
                  <a:ext uri="{0D108BD9-81ED-4DB2-BD59-A6C34878D82A}">
                    <a16:rowId xmlns:a16="http://schemas.microsoft.com/office/drawing/2014/main" val="495251346"/>
                  </a:ext>
                </a:extLst>
              </a:tr>
              <a:tr h="454506">
                <a:tc>
                  <a:txBody>
                    <a:bodyPr/>
                    <a:lstStyle/>
                    <a:p>
                      <a:pPr algn="ctr"/>
                      <a:r>
                        <a:rPr lang="en-US" sz="1400" b="0" dirty="0">
                          <a:latin typeface="Times New Roman" panose="02020603050405020304" pitchFamily="18" charset="0"/>
                          <a:cs typeface="Times New Roman" panose="02020603050405020304" pitchFamily="18" charset="0"/>
                        </a:rPr>
                        <a:t>8</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400" b="0" i="0" u="none" strike="noStrike" dirty="0">
                          <a:effectLst/>
                          <a:latin typeface="Times New Roman" panose="02020603050405020304" pitchFamily="18" charset="0"/>
                          <a:cs typeface="Times New Roman" panose="02020603050405020304" pitchFamily="18" charset="0"/>
                        </a:rPr>
                        <a:t> Cooling pipes chocking by refractory material </a:t>
                      </a:r>
                    </a:p>
                  </a:txBody>
                  <a:tcPr marL="9526" marR="9526" marT="9525" marB="0" anchor="ctr"/>
                </a:tc>
                <a:extLst>
                  <a:ext uri="{0D108BD9-81ED-4DB2-BD59-A6C34878D82A}">
                    <a16:rowId xmlns:a16="http://schemas.microsoft.com/office/drawing/2014/main" val="3916988574"/>
                  </a:ext>
                </a:extLst>
              </a:tr>
              <a:tr h="369141">
                <a:tc>
                  <a:txBody>
                    <a:bodyPr/>
                    <a:lstStyle/>
                    <a:p>
                      <a:pPr algn="ctr"/>
                      <a:r>
                        <a:rPr lang="en-US" sz="1400" b="0" dirty="0">
                          <a:latin typeface="Times New Roman" panose="02020603050405020304" pitchFamily="18" charset="0"/>
                          <a:cs typeface="Times New Roman" panose="02020603050405020304" pitchFamily="18" charset="0"/>
                        </a:rPr>
                        <a:t>9</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1400" b="0" i="0" u="none" strike="noStrike" dirty="0">
                          <a:effectLst/>
                          <a:latin typeface="Times New Roman" panose="02020603050405020304" pitchFamily="18" charset="0"/>
                          <a:cs typeface="Times New Roman" panose="02020603050405020304" pitchFamily="18" charset="0"/>
                        </a:rPr>
                        <a:t> Hammering effect in conical portion</a:t>
                      </a:r>
                    </a:p>
                  </a:txBody>
                  <a:tcPr marL="9526" marR="9526" marT="9525" marB="0" anchor="ctr"/>
                </a:tc>
                <a:extLst>
                  <a:ext uri="{0D108BD9-81ED-4DB2-BD59-A6C34878D82A}">
                    <a16:rowId xmlns:a16="http://schemas.microsoft.com/office/drawing/2014/main" val="3086352522"/>
                  </a:ext>
                </a:extLst>
              </a:tr>
              <a:tr h="369141">
                <a:tc>
                  <a:txBody>
                    <a:bodyPr/>
                    <a:lstStyle/>
                    <a:p>
                      <a:pPr algn="ctr"/>
                      <a:r>
                        <a:rPr lang="en-US" sz="1400" b="0" dirty="0">
                          <a:latin typeface="Times New Roman" panose="02020603050405020304" pitchFamily="18" charset="0"/>
                          <a:cs typeface="Times New Roman" panose="02020603050405020304" pitchFamily="18" charset="0"/>
                        </a:rPr>
                        <a:t>10</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1400" b="0" i="0" u="none" strike="noStrike" dirty="0">
                          <a:effectLst/>
                          <a:latin typeface="Times New Roman" panose="02020603050405020304" pitchFamily="18" charset="0"/>
                          <a:cs typeface="Times New Roman" panose="02020603050405020304" pitchFamily="18" charset="0"/>
                        </a:rPr>
                        <a:t> Dust jamming</a:t>
                      </a:r>
                      <a:r>
                        <a:rPr lang="en-US" sz="1400" b="0" i="0" u="none" strike="noStrike" baseline="0" dirty="0">
                          <a:effectLst/>
                          <a:latin typeface="Times New Roman" panose="02020603050405020304" pitchFamily="18" charset="0"/>
                          <a:cs typeface="Times New Roman" panose="02020603050405020304" pitchFamily="18" charset="0"/>
                        </a:rPr>
                        <a:t> issue</a:t>
                      </a:r>
                      <a:endParaRPr lang="en-US" sz="1400" b="0" i="0" u="none" strike="noStrike" dirty="0">
                        <a:effectLst/>
                        <a:latin typeface="Times New Roman" panose="02020603050405020304" pitchFamily="18" charset="0"/>
                        <a:cs typeface="Times New Roman" panose="02020603050405020304" pitchFamily="18" charset="0"/>
                      </a:endParaRPr>
                    </a:p>
                  </a:txBody>
                  <a:tcPr marL="9526" marR="9526" marT="9525" marB="0" anchor="ctr"/>
                </a:tc>
                <a:extLst>
                  <a:ext uri="{0D108BD9-81ED-4DB2-BD59-A6C34878D82A}">
                    <a16:rowId xmlns:a16="http://schemas.microsoft.com/office/drawing/2014/main" val="164769313"/>
                  </a:ext>
                </a:extLst>
              </a:tr>
              <a:tr h="369141">
                <a:tc>
                  <a:txBody>
                    <a:bodyPr/>
                    <a:lstStyle/>
                    <a:p>
                      <a:pPr algn="ctr"/>
                      <a:r>
                        <a:rPr lang="en-US" sz="1400" b="0" dirty="0">
                          <a:latin typeface="Times New Roman" panose="02020603050405020304" pitchFamily="18" charset="0"/>
                          <a:cs typeface="Times New Roman" panose="02020603050405020304" pitchFamily="18" charset="0"/>
                        </a:rPr>
                        <a:t>11</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1400" b="0" i="0" u="none" strike="noStrike" dirty="0">
                          <a:effectLst/>
                          <a:latin typeface="Times New Roman" panose="02020603050405020304" pitchFamily="18" charset="0"/>
                          <a:cs typeface="Times New Roman" panose="02020603050405020304" pitchFamily="18" charset="0"/>
                        </a:rPr>
                        <a:t> Coke jamming(coke floating)</a:t>
                      </a:r>
                      <a:r>
                        <a:rPr lang="en-US" sz="1400" b="0" i="0" u="none" strike="noStrike" baseline="0" dirty="0">
                          <a:effectLst/>
                          <a:latin typeface="Times New Roman" panose="02020603050405020304" pitchFamily="18" charset="0"/>
                          <a:cs typeface="Times New Roman" panose="02020603050405020304" pitchFamily="18" charset="0"/>
                        </a:rPr>
                        <a:t> issue (coke stucking inside pipes)</a:t>
                      </a:r>
                      <a:endParaRPr lang="en-US" sz="1400" b="0" i="0" u="none" strike="noStrike" dirty="0">
                        <a:effectLst/>
                        <a:latin typeface="Times New Roman" panose="02020603050405020304" pitchFamily="18" charset="0"/>
                        <a:cs typeface="Times New Roman" panose="02020603050405020304" pitchFamily="18" charset="0"/>
                      </a:endParaRPr>
                    </a:p>
                  </a:txBody>
                  <a:tcPr marL="9526" marR="9526" marT="9525" marB="0" anchor="ctr"/>
                </a:tc>
                <a:extLst>
                  <a:ext uri="{0D108BD9-81ED-4DB2-BD59-A6C34878D82A}">
                    <a16:rowId xmlns:a16="http://schemas.microsoft.com/office/drawing/2014/main" val="2722581217"/>
                  </a:ext>
                </a:extLst>
              </a:tr>
            </a:tbl>
          </a:graphicData>
        </a:graphic>
      </p:graphicFrame>
    </p:spTree>
    <p:extLst>
      <p:ext uri="{BB962C8B-B14F-4D97-AF65-F5344CB8AC3E}">
        <p14:creationId xmlns:p14="http://schemas.microsoft.com/office/powerpoint/2010/main" val="2619894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pSp>
        <p:nvGrpSpPr>
          <p:cNvPr id="51" name="Group 50"/>
          <p:cNvGrpSpPr/>
          <p:nvPr/>
        </p:nvGrpSpPr>
        <p:grpSpPr>
          <a:xfrm>
            <a:off x="815367" y="110131"/>
            <a:ext cx="11285193" cy="1281655"/>
            <a:chOff x="815367" y="-139250"/>
            <a:chExt cx="11285193" cy="1281655"/>
          </a:xfrm>
        </p:grpSpPr>
        <p:pic>
          <p:nvPicPr>
            <p:cNvPr id="52" name="Picture 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63307" y="-139250"/>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 name="Title 2"/>
            <p:cNvSpPr txBox="1">
              <a:spLocks/>
            </p:cNvSpPr>
            <p:nvPr/>
          </p:nvSpPr>
          <p:spPr>
            <a:xfrm>
              <a:off x="815367" y="542829"/>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CAUSE &amp; EFFECT DIAGRAM</a:t>
              </a:r>
            </a:p>
          </p:txBody>
        </p:sp>
        <p:sp>
          <p:nvSpPr>
            <p:cNvPr id="54" name="TextBox 1"/>
            <p:cNvSpPr txBox="1">
              <a:spLocks noChangeArrowheads="1"/>
            </p:cNvSpPr>
            <p:nvPr/>
          </p:nvSpPr>
          <p:spPr bwMode="auto">
            <a:xfrm>
              <a:off x="3801091" y="93311"/>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5 Identify the causes</a:t>
              </a:r>
            </a:p>
          </p:txBody>
        </p:sp>
      </p:grpSp>
      <p:sp>
        <p:nvSpPr>
          <p:cNvPr id="55" name="Minus 54"/>
          <p:cNvSpPr/>
          <p:nvPr/>
        </p:nvSpPr>
        <p:spPr>
          <a:xfrm>
            <a:off x="205599" y="3606269"/>
            <a:ext cx="10401441" cy="19470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Minus 55"/>
          <p:cNvSpPr/>
          <p:nvPr/>
        </p:nvSpPr>
        <p:spPr>
          <a:xfrm rot="3090781">
            <a:off x="2869214" y="2892718"/>
            <a:ext cx="2326131" cy="215509"/>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Minus 56"/>
          <p:cNvSpPr/>
          <p:nvPr/>
        </p:nvSpPr>
        <p:spPr>
          <a:xfrm rot="3090781">
            <a:off x="6403053" y="2892717"/>
            <a:ext cx="2326131" cy="215509"/>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Minus 57"/>
          <p:cNvSpPr/>
          <p:nvPr/>
        </p:nvSpPr>
        <p:spPr>
          <a:xfrm rot="18623323">
            <a:off x="2841673" y="4286219"/>
            <a:ext cx="2326131" cy="215509"/>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Minus 58"/>
          <p:cNvSpPr/>
          <p:nvPr/>
        </p:nvSpPr>
        <p:spPr>
          <a:xfrm rot="18513139">
            <a:off x="6402092" y="4307248"/>
            <a:ext cx="2326131" cy="215509"/>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Chevron 59"/>
          <p:cNvSpPr/>
          <p:nvPr/>
        </p:nvSpPr>
        <p:spPr>
          <a:xfrm>
            <a:off x="1342427" y="3315942"/>
            <a:ext cx="386453" cy="763535"/>
          </a:xfrm>
          <a:prstGeom prst="chevron">
            <a:avLst>
              <a:gd name="adj" fmla="val 54550"/>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1" name="TextBox 60"/>
          <p:cNvSpPr txBox="1"/>
          <p:nvPr/>
        </p:nvSpPr>
        <p:spPr>
          <a:xfrm>
            <a:off x="9543011" y="3315942"/>
            <a:ext cx="1604356" cy="646331"/>
          </a:xfrm>
          <a:prstGeom prst="rect">
            <a:avLst/>
          </a:prstGeom>
          <a:noFill/>
          <a:ln>
            <a:solidFill>
              <a:schemeClr val="tx1"/>
            </a:solidFill>
            <a:prstDash val="solid"/>
          </a:ln>
        </p:spPr>
        <p:txBody>
          <a:bodyPr wrap="square" rtlCol="0">
            <a:spAutoFit/>
          </a:bodyPr>
          <a:lstStyle/>
          <a:p>
            <a:r>
              <a:rPr lang="en-US" b="1" dirty="0"/>
              <a:t>Cooling water pipe leakage</a:t>
            </a:r>
            <a:endParaRPr lang="en-IN" b="1" dirty="0"/>
          </a:p>
        </p:txBody>
      </p:sp>
      <p:sp>
        <p:nvSpPr>
          <p:cNvPr id="62" name="TextBox 61"/>
          <p:cNvSpPr txBox="1"/>
          <p:nvPr/>
        </p:nvSpPr>
        <p:spPr>
          <a:xfrm>
            <a:off x="2310938" y="2023022"/>
            <a:ext cx="858096" cy="369332"/>
          </a:xfrm>
          <a:prstGeom prst="rect">
            <a:avLst/>
          </a:prstGeom>
          <a:noFill/>
          <a:ln>
            <a:solidFill>
              <a:schemeClr val="tx2"/>
            </a:solidFill>
          </a:ln>
        </p:spPr>
        <p:txBody>
          <a:bodyPr wrap="square" rtlCol="0">
            <a:spAutoFit/>
          </a:bodyPr>
          <a:lstStyle/>
          <a:p>
            <a:r>
              <a:rPr lang="en-US" b="1" dirty="0"/>
              <a:t>Man </a:t>
            </a:r>
            <a:endParaRPr lang="en-IN" b="1" dirty="0"/>
          </a:p>
        </p:txBody>
      </p:sp>
      <p:sp>
        <p:nvSpPr>
          <p:cNvPr id="63" name="TextBox 62"/>
          <p:cNvSpPr txBox="1"/>
          <p:nvPr/>
        </p:nvSpPr>
        <p:spPr>
          <a:xfrm>
            <a:off x="5845877" y="2023022"/>
            <a:ext cx="1120188" cy="369332"/>
          </a:xfrm>
          <a:prstGeom prst="rect">
            <a:avLst/>
          </a:prstGeom>
          <a:noFill/>
          <a:ln>
            <a:solidFill>
              <a:schemeClr val="tx2"/>
            </a:solidFill>
          </a:ln>
        </p:spPr>
        <p:txBody>
          <a:bodyPr wrap="square" rtlCol="0">
            <a:spAutoFit/>
          </a:bodyPr>
          <a:lstStyle/>
          <a:p>
            <a:r>
              <a:rPr lang="en-US" b="1" dirty="0"/>
              <a:t>Machine</a:t>
            </a:r>
            <a:endParaRPr lang="en-IN" b="1" dirty="0"/>
          </a:p>
        </p:txBody>
      </p:sp>
      <p:sp>
        <p:nvSpPr>
          <p:cNvPr id="64" name="TextBox 63"/>
          <p:cNvSpPr txBox="1"/>
          <p:nvPr/>
        </p:nvSpPr>
        <p:spPr>
          <a:xfrm>
            <a:off x="2155398" y="5332982"/>
            <a:ext cx="1014153" cy="369332"/>
          </a:xfrm>
          <a:prstGeom prst="rect">
            <a:avLst/>
          </a:prstGeom>
          <a:noFill/>
          <a:ln>
            <a:solidFill>
              <a:schemeClr val="tx2"/>
            </a:solidFill>
          </a:ln>
        </p:spPr>
        <p:txBody>
          <a:bodyPr wrap="square" rtlCol="0">
            <a:spAutoFit/>
          </a:bodyPr>
          <a:lstStyle/>
          <a:p>
            <a:r>
              <a:rPr lang="en-US" b="1" dirty="0"/>
              <a:t>Material</a:t>
            </a:r>
            <a:endParaRPr lang="en-IN" b="1" dirty="0"/>
          </a:p>
        </p:txBody>
      </p:sp>
      <p:sp>
        <p:nvSpPr>
          <p:cNvPr id="65" name="TextBox 64"/>
          <p:cNvSpPr txBox="1"/>
          <p:nvPr/>
        </p:nvSpPr>
        <p:spPr>
          <a:xfrm>
            <a:off x="5845877" y="5312717"/>
            <a:ext cx="1120188" cy="369332"/>
          </a:xfrm>
          <a:prstGeom prst="rect">
            <a:avLst/>
          </a:prstGeom>
          <a:noFill/>
          <a:ln>
            <a:solidFill>
              <a:schemeClr val="tx2"/>
            </a:solidFill>
          </a:ln>
        </p:spPr>
        <p:txBody>
          <a:bodyPr wrap="square" rtlCol="0">
            <a:spAutoFit/>
          </a:bodyPr>
          <a:lstStyle/>
          <a:p>
            <a:r>
              <a:rPr lang="en-US" b="1" dirty="0"/>
              <a:t>Method </a:t>
            </a:r>
            <a:endParaRPr lang="en-IN" b="1" dirty="0"/>
          </a:p>
        </p:txBody>
      </p:sp>
      <p:sp>
        <p:nvSpPr>
          <p:cNvPr id="68" name="TextBox 67"/>
          <p:cNvSpPr txBox="1"/>
          <p:nvPr/>
        </p:nvSpPr>
        <p:spPr>
          <a:xfrm>
            <a:off x="2690189" y="2592900"/>
            <a:ext cx="1067854" cy="523220"/>
          </a:xfrm>
          <a:prstGeom prst="rect">
            <a:avLst/>
          </a:prstGeom>
          <a:noFill/>
        </p:spPr>
        <p:txBody>
          <a:bodyPr wrap="square" rtlCol="0">
            <a:spAutoFit/>
          </a:bodyPr>
          <a:lstStyle/>
          <a:p>
            <a:r>
              <a:rPr lang="en-US" sz="1400" dirty="0"/>
              <a:t>Conveyor maintenance</a:t>
            </a:r>
            <a:endParaRPr lang="en-IN" sz="1400" dirty="0"/>
          </a:p>
        </p:txBody>
      </p:sp>
      <p:sp>
        <p:nvSpPr>
          <p:cNvPr id="69" name="Rectangle 68"/>
          <p:cNvSpPr/>
          <p:nvPr/>
        </p:nvSpPr>
        <p:spPr>
          <a:xfrm>
            <a:off x="7321765" y="4821043"/>
            <a:ext cx="2022761" cy="738664"/>
          </a:xfrm>
          <a:prstGeom prst="rect">
            <a:avLst/>
          </a:prstGeom>
        </p:spPr>
        <p:txBody>
          <a:bodyPr wrap="square">
            <a:spAutoFit/>
          </a:bodyPr>
          <a:lstStyle/>
          <a:p>
            <a:pPr>
              <a:defRPr/>
            </a:pPr>
            <a:r>
              <a:rPr lang="en-US" sz="1400" dirty="0">
                <a:latin typeface="Times New Roman" panose="02020603050405020304" pitchFamily="18" charset="0"/>
                <a:cs typeface="Times New Roman" panose="02020603050405020304" pitchFamily="18" charset="0"/>
              </a:rPr>
              <a:t>Hot dust accumulation inside cooling pipes for longer duration</a:t>
            </a:r>
          </a:p>
        </p:txBody>
      </p:sp>
      <p:sp>
        <p:nvSpPr>
          <p:cNvPr id="70" name="Rectangle 69"/>
          <p:cNvSpPr/>
          <p:nvPr/>
        </p:nvSpPr>
        <p:spPr>
          <a:xfrm>
            <a:off x="7750922" y="2587873"/>
            <a:ext cx="1443129" cy="523220"/>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Excess discharge through hoppers </a:t>
            </a:r>
            <a:endParaRPr lang="en-IN" sz="1400" dirty="0">
              <a:latin typeface="Times New Roman" panose="02020603050405020304" pitchFamily="18" charset="0"/>
              <a:cs typeface="Times New Roman" panose="02020603050405020304" pitchFamily="18" charset="0"/>
            </a:endParaRPr>
          </a:p>
        </p:txBody>
      </p:sp>
      <p:sp>
        <p:nvSpPr>
          <p:cNvPr id="71" name="Rectangle 70"/>
          <p:cNvSpPr/>
          <p:nvPr/>
        </p:nvSpPr>
        <p:spPr>
          <a:xfrm>
            <a:off x="2846521" y="3771517"/>
            <a:ext cx="1595714" cy="954107"/>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Cooling water quality affects on pipes (like corrosion) </a:t>
            </a:r>
            <a:endParaRPr lang="en-IN" sz="1400" dirty="0">
              <a:latin typeface="Times New Roman" panose="02020603050405020304" pitchFamily="18" charset="0"/>
              <a:cs typeface="Times New Roman" panose="02020603050405020304" pitchFamily="18" charset="0"/>
            </a:endParaRPr>
          </a:p>
        </p:txBody>
      </p:sp>
      <p:sp>
        <p:nvSpPr>
          <p:cNvPr id="73" name="Rectangle 72"/>
          <p:cNvSpPr/>
          <p:nvPr/>
        </p:nvSpPr>
        <p:spPr>
          <a:xfrm>
            <a:off x="4079707" y="4617908"/>
            <a:ext cx="1493423" cy="954107"/>
          </a:xfrm>
          <a:prstGeom prst="rect">
            <a:avLst/>
          </a:prstGeom>
        </p:spPr>
        <p:txBody>
          <a:bodyPr wrap="square">
            <a:spAutoFit/>
          </a:bodyPr>
          <a:lstStyle/>
          <a:p>
            <a:pPr fontAlgn="ctr">
              <a:defRPr/>
            </a:pPr>
            <a:r>
              <a:rPr lang="en-US" sz="1400" dirty="0">
                <a:latin typeface="Times New Roman" panose="02020603050405020304" pitchFamily="18" charset="0"/>
                <a:cs typeface="Times New Roman" panose="02020603050405020304" pitchFamily="18" charset="0"/>
              </a:rPr>
              <a:t>Cooling pipes chocking by refractory material </a:t>
            </a:r>
          </a:p>
        </p:txBody>
      </p:sp>
      <p:sp>
        <p:nvSpPr>
          <p:cNvPr id="74" name="Rectangle 73"/>
          <p:cNvSpPr/>
          <p:nvPr/>
        </p:nvSpPr>
        <p:spPr>
          <a:xfrm>
            <a:off x="4175365" y="2008124"/>
            <a:ext cx="820315" cy="1169551"/>
          </a:xfrm>
          <a:prstGeom prst="rect">
            <a:avLst/>
          </a:prstGeom>
        </p:spPr>
        <p:txBody>
          <a:bodyPr wrap="square">
            <a:spAutoFit/>
          </a:bodyPr>
          <a:lstStyle/>
          <a:p>
            <a:pPr fontAlgn="ctr"/>
            <a:r>
              <a:rPr lang="en-US" sz="1400" dirty="0">
                <a:latin typeface="Times New Roman" panose="02020603050405020304" pitchFamily="18" charset="0"/>
                <a:cs typeface="Times New Roman" panose="02020603050405020304" pitchFamily="18" charset="0"/>
              </a:rPr>
              <a:t>Hammering effect in conical portion</a:t>
            </a:r>
          </a:p>
        </p:txBody>
      </p:sp>
      <p:sp>
        <p:nvSpPr>
          <p:cNvPr id="75" name="Rectangle 74"/>
          <p:cNvSpPr/>
          <p:nvPr/>
        </p:nvSpPr>
        <p:spPr>
          <a:xfrm>
            <a:off x="3219620" y="5076057"/>
            <a:ext cx="849515" cy="738664"/>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Dust jamming issue</a:t>
            </a:r>
            <a:endParaRPr lang="en-IN" sz="1400" dirty="0"/>
          </a:p>
        </p:txBody>
      </p:sp>
      <p:sp>
        <p:nvSpPr>
          <p:cNvPr id="76" name="Rectangle 75"/>
          <p:cNvSpPr/>
          <p:nvPr/>
        </p:nvSpPr>
        <p:spPr>
          <a:xfrm>
            <a:off x="4413567" y="3761477"/>
            <a:ext cx="1562046" cy="738664"/>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Coke jamming(coke floating) issue </a:t>
            </a:r>
            <a:endParaRPr lang="en-IN" sz="1400" dirty="0"/>
          </a:p>
        </p:txBody>
      </p:sp>
      <p:sp>
        <p:nvSpPr>
          <p:cNvPr id="77" name="TextBox 76"/>
          <p:cNvSpPr txBox="1"/>
          <p:nvPr/>
        </p:nvSpPr>
        <p:spPr>
          <a:xfrm>
            <a:off x="6353550" y="3929461"/>
            <a:ext cx="1039090" cy="954107"/>
          </a:xfrm>
          <a:prstGeom prst="rect">
            <a:avLst/>
          </a:prstGeom>
          <a:noFill/>
        </p:spPr>
        <p:txBody>
          <a:bodyPr wrap="square" rtlCol="0">
            <a:spAutoFit/>
          </a:bodyPr>
          <a:lstStyle/>
          <a:p>
            <a:r>
              <a:rPr lang="en-US" sz="1400" dirty="0"/>
              <a:t>Interlock timing of dust discharge</a:t>
            </a:r>
            <a:endParaRPr lang="en-IN" sz="1400" dirty="0"/>
          </a:p>
        </p:txBody>
      </p:sp>
      <p:sp>
        <p:nvSpPr>
          <p:cNvPr id="78" name="Rectangle 77"/>
          <p:cNvSpPr/>
          <p:nvPr/>
        </p:nvSpPr>
        <p:spPr>
          <a:xfrm>
            <a:off x="5603133" y="2921753"/>
            <a:ext cx="2147789" cy="523220"/>
          </a:xfrm>
          <a:prstGeom prst="rect">
            <a:avLst/>
          </a:prstGeom>
        </p:spPr>
        <p:txBody>
          <a:bodyPr wrap="square">
            <a:spAutoFit/>
          </a:bodyPr>
          <a:lstStyle/>
          <a:p>
            <a:pPr>
              <a:defRPr/>
            </a:pPr>
            <a:r>
              <a:rPr lang="en-US" sz="1400" dirty="0">
                <a:latin typeface="Times New Roman" panose="02020603050405020304" pitchFamily="18" charset="0"/>
                <a:cs typeface="Times New Roman" panose="02020603050405020304" pitchFamily="18" charset="0"/>
              </a:rPr>
              <a:t>Frequent SDC PDC chain conveyor breakdown</a:t>
            </a:r>
          </a:p>
        </p:txBody>
      </p:sp>
      <p:cxnSp>
        <p:nvCxnSpPr>
          <p:cNvPr id="80" name="Straight Connector 79"/>
          <p:cNvCxnSpPr/>
          <p:nvPr/>
        </p:nvCxnSpPr>
        <p:spPr>
          <a:xfrm>
            <a:off x="3507971" y="2849483"/>
            <a:ext cx="4239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74" idx="1"/>
          </p:cNvCxnSpPr>
          <p:nvPr/>
        </p:nvCxnSpPr>
        <p:spPr>
          <a:xfrm flipH="1" flipV="1">
            <a:off x="3719945" y="2587873"/>
            <a:ext cx="455420" cy="5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flipV="1">
            <a:off x="7337447" y="2784162"/>
            <a:ext cx="455420" cy="5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flipV="1">
            <a:off x="7295502" y="3279754"/>
            <a:ext cx="455420" cy="5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flipV="1">
            <a:off x="3918894" y="3927777"/>
            <a:ext cx="455420" cy="5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H="1" flipV="1">
            <a:off x="4119975" y="4344232"/>
            <a:ext cx="455420" cy="5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H="1" flipV="1">
            <a:off x="3739946" y="4727311"/>
            <a:ext cx="455420" cy="5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H="1" flipV="1">
            <a:off x="3563485" y="4884530"/>
            <a:ext cx="327371" cy="549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flipV="1">
            <a:off x="7109634" y="4302334"/>
            <a:ext cx="540418" cy="2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H="1" flipV="1">
            <a:off x="7422342" y="4653059"/>
            <a:ext cx="466436" cy="32188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07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459" y="1657794"/>
            <a:ext cx="4322618" cy="3851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8617" y="179494"/>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196422" y="1732609"/>
            <a:ext cx="6340676" cy="2490257"/>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p>
            <a:pPr algn="ctr"/>
            <a:r>
              <a:rPr lang="en-US" sz="4801" b="1" dirty="0">
                <a:solidFill>
                  <a:srgbClr val="002060"/>
                </a:solidFill>
                <a:latin typeface="Times New Roman" panose="02020603050405020304" pitchFamily="18" charset="0"/>
                <a:cs typeface="Times New Roman" panose="02020603050405020304" pitchFamily="18" charset="0"/>
              </a:rPr>
              <a:t>STEP  - 6</a:t>
            </a:r>
            <a:br>
              <a:rPr lang="en-US" sz="4801" b="1" dirty="0">
                <a:solidFill>
                  <a:srgbClr val="002060"/>
                </a:solidFill>
                <a:latin typeface="Times New Roman" panose="02020603050405020304" pitchFamily="18" charset="0"/>
                <a:cs typeface="Times New Roman" panose="02020603050405020304" pitchFamily="18" charset="0"/>
              </a:rPr>
            </a:br>
            <a:r>
              <a:rPr lang="en-US" sz="4801" b="1" u="sng" dirty="0">
                <a:solidFill>
                  <a:srgbClr val="002060"/>
                </a:solidFill>
                <a:latin typeface="Times New Roman" panose="02020603050405020304" pitchFamily="18" charset="0"/>
                <a:cs typeface="Times New Roman" panose="02020603050405020304" pitchFamily="18" charset="0"/>
              </a:rPr>
              <a:t>IDENTIFY ROOT CAUSES</a:t>
            </a:r>
          </a:p>
        </p:txBody>
      </p:sp>
      <p:sp>
        <p:nvSpPr>
          <p:cNvPr id="8" name="Rectangle 7"/>
          <p:cNvSpPr/>
          <p:nvPr/>
        </p:nvSpPr>
        <p:spPr>
          <a:xfrm>
            <a:off x="4870079" y="4483946"/>
            <a:ext cx="6784365" cy="400110"/>
          </a:xfrm>
          <a:prstGeom prst="rect">
            <a:avLst/>
          </a:prstGeom>
          <a:solidFill>
            <a:schemeClr val="accent2"/>
          </a:solidFill>
        </p:spPr>
        <p:txBody>
          <a:bodyPr wrap="square">
            <a:spAutoFit/>
          </a:bodyPr>
          <a:lstStyle/>
          <a:p>
            <a:r>
              <a:rPr lang="en-IN" sz="2000" b="1" dirty="0">
                <a:solidFill>
                  <a:srgbClr val="FFFF00"/>
                </a:solidFill>
                <a:latin typeface="Times New Roman" panose="02020603050405020304" pitchFamily="18" charset="0"/>
                <a:cs typeface="Times New Roman" panose="02020603050405020304" pitchFamily="18" charset="0"/>
              </a:rPr>
              <a:t>Tools &amp; technique  used : Fish bone and why -why analysis</a:t>
            </a:r>
          </a:p>
        </p:txBody>
      </p:sp>
    </p:spTree>
    <p:extLst>
      <p:ext uri="{BB962C8B-B14F-4D97-AF65-F5344CB8AC3E}">
        <p14:creationId xmlns:p14="http://schemas.microsoft.com/office/powerpoint/2010/main" val="117469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26"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80">
                                          <p:stCondLst>
                                            <p:cond delay="0"/>
                                          </p:stCondLst>
                                        </p:cTn>
                                        <p:tgtEl>
                                          <p:spTgt spid="5"/>
                                        </p:tgtEl>
                                      </p:cBhvr>
                                    </p:animEffect>
                                    <p:anim calcmode="lin" valueType="num">
                                      <p:cBhvr>
                                        <p:cTn id="1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9" dur="26">
                                          <p:stCondLst>
                                            <p:cond delay="650"/>
                                          </p:stCondLst>
                                        </p:cTn>
                                        <p:tgtEl>
                                          <p:spTgt spid="5"/>
                                        </p:tgtEl>
                                      </p:cBhvr>
                                      <p:to x="100000" y="60000"/>
                                    </p:animScale>
                                    <p:animScale>
                                      <p:cBhvr>
                                        <p:cTn id="20" dur="166" decel="50000">
                                          <p:stCondLst>
                                            <p:cond delay="676"/>
                                          </p:stCondLst>
                                        </p:cTn>
                                        <p:tgtEl>
                                          <p:spTgt spid="5"/>
                                        </p:tgtEl>
                                      </p:cBhvr>
                                      <p:to x="100000" y="100000"/>
                                    </p:animScale>
                                    <p:animScale>
                                      <p:cBhvr>
                                        <p:cTn id="21" dur="26">
                                          <p:stCondLst>
                                            <p:cond delay="1312"/>
                                          </p:stCondLst>
                                        </p:cTn>
                                        <p:tgtEl>
                                          <p:spTgt spid="5"/>
                                        </p:tgtEl>
                                      </p:cBhvr>
                                      <p:to x="100000" y="80000"/>
                                    </p:animScale>
                                    <p:animScale>
                                      <p:cBhvr>
                                        <p:cTn id="22" dur="166" decel="50000">
                                          <p:stCondLst>
                                            <p:cond delay="1338"/>
                                          </p:stCondLst>
                                        </p:cTn>
                                        <p:tgtEl>
                                          <p:spTgt spid="5"/>
                                        </p:tgtEl>
                                      </p:cBhvr>
                                      <p:to x="100000" y="100000"/>
                                    </p:animScale>
                                    <p:animScale>
                                      <p:cBhvr>
                                        <p:cTn id="23" dur="26">
                                          <p:stCondLst>
                                            <p:cond delay="1642"/>
                                          </p:stCondLst>
                                        </p:cTn>
                                        <p:tgtEl>
                                          <p:spTgt spid="5"/>
                                        </p:tgtEl>
                                      </p:cBhvr>
                                      <p:to x="100000" y="90000"/>
                                    </p:animScale>
                                    <p:animScale>
                                      <p:cBhvr>
                                        <p:cTn id="24" dur="166" decel="50000">
                                          <p:stCondLst>
                                            <p:cond delay="1668"/>
                                          </p:stCondLst>
                                        </p:cTn>
                                        <p:tgtEl>
                                          <p:spTgt spid="5"/>
                                        </p:tgtEl>
                                      </p:cBhvr>
                                      <p:to x="100000" y="100000"/>
                                    </p:animScale>
                                    <p:animScale>
                                      <p:cBhvr>
                                        <p:cTn id="25" dur="26">
                                          <p:stCondLst>
                                            <p:cond delay="1808"/>
                                          </p:stCondLst>
                                        </p:cTn>
                                        <p:tgtEl>
                                          <p:spTgt spid="5"/>
                                        </p:tgtEl>
                                      </p:cBhvr>
                                      <p:to x="100000" y="95000"/>
                                    </p:animScale>
                                    <p:animScale>
                                      <p:cBhvr>
                                        <p:cTn id="26"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pSp>
        <p:nvGrpSpPr>
          <p:cNvPr id="3" name="Group 2"/>
          <p:cNvGrpSpPr/>
          <p:nvPr/>
        </p:nvGrpSpPr>
        <p:grpSpPr>
          <a:xfrm>
            <a:off x="840306" y="60699"/>
            <a:ext cx="11285193" cy="1479349"/>
            <a:chOff x="840306" y="-308571"/>
            <a:chExt cx="11285193" cy="1479349"/>
          </a:xfrm>
        </p:grpSpPr>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88246" y="-308571"/>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txBox="1">
              <a:spLocks/>
            </p:cNvSpPr>
            <p:nvPr/>
          </p:nvSpPr>
          <p:spPr>
            <a:xfrm>
              <a:off x="840306" y="57120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LIST OF ROOT CAUSES</a:t>
              </a:r>
            </a:p>
          </p:txBody>
        </p:sp>
        <p:sp>
          <p:nvSpPr>
            <p:cNvPr id="6" name="TextBox 1"/>
            <p:cNvSpPr txBox="1">
              <a:spLocks noChangeArrowheads="1"/>
            </p:cNvSpPr>
            <p:nvPr/>
          </p:nvSpPr>
          <p:spPr bwMode="auto">
            <a:xfrm>
              <a:off x="3809404" y="93311"/>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6 Identify root causes</a:t>
              </a:r>
            </a:p>
          </p:txBody>
        </p:sp>
      </p:grpSp>
      <p:graphicFrame>
        <p:nvGraphicFramePr>
          <p:cNvPr id="9" name="Table 8"/>
          <p:cNvGraphicFramePr>
            <a:graphicFrameLocks noGrp="1"/>
          </p:cNvGraphicFramePr>
          <p:nvPr>
            <p:extLst>
              <p:ext uri="{D42A27DB-BD31-4B8C-83A1-F6EECF244321}">
                <p14:modId xmlns:p14="http://schemas.microsoft.com/office/powerpoint/2010/main" val="1617529180"/>
              </p:ext>
            </p:extLst>
          </p:nvPr>
        </p:nvGraphicFramePr>
        <p:xfrm>
          <a:off x="840306" y="2086493"/>
          <a:ext cx="10147940" cy="3663350"/>
        </p:xfrm>
        <a:graphic>
          <a:graphicData uri="http://schemas.openxmlformats.org/drawingml/2006/table">
            <a:tbl>
              <a:tblPr firstRow="1" bandRow="1">
                <a:tableStyleId>{5C22544A-7EE6-4342-B048-85BDC9FD1C3A}</a:tableStyleId>
              </a:tblPr>
              <a:tblGrid>
                <a:gridCol w="898190">
                  <a:extLst>
                    <a:ext uri="{9D8B030D-6E8A-4147-A177-3AD203B41FA5}">
                      <a16:colId xmlns:a16="http://schemas.microsoft.com/office/drawing/2014/main" val="20000"/>
                    </a:ext>
                  </a:extLst>
                </a:gridCol>
                <a:gridCol w="9249750">
                  <a:extLst>
                    <a:ext uri="{9D8B030D-6E8A-4147-A177-3AD203B41FA5}">
                      <a16:colId xmlns:a16="http://schemas.microsoft.com/office/drawing/2014/main" val="20001"/>
                    </a:ext>
                  </a:extLst>
                </a:gridCol>
              </a:tblGrid>
              <a:tr h="876960">
                <a:tc>
                  <a:txBody>
                    <a:bodyPr/>
                    <a:lstStyle/>
                    <a:p>
                      <a:pPr algn="ctr"/>
                      <a:r>
                        <a:rPr lang="en-US" dirty="0">
                          <a:solidFill>
                            <a:srgbClr val="002060"/>
                          </a:solidFill>
                          <a:latin typeface="Times New Roman" panose="02020603050405020304" pitchFamily="18" charset="0"/>
                          <a:cs typeface="Times New Roman" panose="02020603050405020304" pitchFamily="18" charset="0"/>
                        </a:rPr>
                        <a:t>Sr.NO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002060"/>
                          </a:solidFill>
                          <a:latin typeface="Times New Roman" panose="02020603050405020304" pitchFamily="18" charset="0"/>
                          <a:cs typeface="Times New Roman" panose="02020603050405020304" pitchFamily="18" charset="0"/>
                        </a:rPr>
                        <a:t>PROBABLE ROOT CAUSES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1154">
                <a:tc>
                  <a:txBody>
                    <a:bodyPr/>
                    <a:lstStyle/>
                    <a:p>
                      <a:pPr algn="ctr"/>
                      <a:r>
                        <a:rPr lang="en-US"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b="0" i="0" u="none" strike="noStrike" dirty="0">
                          <a:effectLst/>
                          <a:latin typeface="Times New Roman" panose="02020603050405020304" pitchFamily="18" charset="0"/>
                          <a:cs typeface="Times New Roman" panose="02020603050405020304" pitchFamily="18" charset="0"/>
                        </a:rPr>
                        <a:t>Hot dust accumulation inside cooling</a:t>
                      </a:r>
                      <a:r>
                        <a:rPr lang="en-US" sz="1800" b="0" i="0" u="none" strike="noStrike" baseline="0" dirty="0">
                          <a:effectLst/>
                          <a:latin typeface="Times New Roman" panose="02020603050405020304" pitchFamily="18" charset="0"/>
                          <a:cs typeface="Times New Roman" panose="02020603050405020304" pitchFamily="18" charset="0"/>
                        </a:rPr>
                        <a:t> pipes for longer duration</a:t>
                      </a:r>
                      <a:endParaRPr lang="en-US" sz="1800" b="0" i="0" u="none" strike="noStrike"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558809">
                <a:tc>
                  <a:txBody>
                    <a:bodyPr/>
                    <a:lstStyle/>
                    <a:p>
                      <a:pPr algn="ctr"/>
                      <a:r>
                        <a:rPr lang="en-US"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b="0" dirty="0">
                          <a:latin typeface="Times New Roman" panose="02020603050405020304" pitchFamily="18" charset="0"/>
                          <a:cs typeface="Times New Roman" panose="02020603050405020304" pitchFamily="18" charset="0"/>
                        </a:rPr>
                        <a:t>Excess discharge through hoppers </a:t>
                      </a:r>
                      <a:endParaRPr lang="en-IN" sz="18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558809">
                <a:tc>
                  <a:txBody>
                    <a:bodyPr/>
                    <a:lstStyle/>
                    <a:p>
                      <a:pPr algn="ctr"/>
                      <a:r>
                        <a:rPr lang="en-US"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800" b="0" dirty="0">
                          <a:latin typeface="Times New Roman" panose="02020603050405020304" pitchFamily="18" charset="0"/>
                          <a:cs typeface="Times New Roman" panose="02020603050405020304" pitchFamily="18" charset="0"/>
                        </a:rPr>
                        <a:t>Cooling water quality affects on pipes (like corrosion) </a:t>
                      </a:r>
                      <a:endParaRPr lang="en-IN" sz="1800"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558809">
                <a:tc>
                  <a:txBody>
                    <a:bodyPr/>
                    <a:lstStyle/>
                    <a:p>
                      <a:pPr algn="ctr"/>
                      <a:r>
                        <a:rPr lang="en-US" dirty="0">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fontAlgn="b" latinLnBrk="0" hangingPunct="1"/>
                      <a:r>
                        <a:rPr lang="en-US" sz="1800" b="0" i="0" u="none" strike="noStrike" dirty="0">
                          <a:effectLst/>
                          <a:latin typeface="Times New Roman" panose="02020603050405020304" pitchFamily="18" charset="0"/>
                          <a:cs typeface="Times New Roman" panose="02020603050405020304" pitchFamily="18" charset="0"/>
                        </a:rPr>
                        <a:t>Cooling pipes chocking by refractory material </a:t>
                      </a:r>
                      <a:endParaRPr lang="en-US" sz="1800" b="1" i="0" u="none" strike="noStrike" kern="1200" dirty="0">
                        <a:solidFill>
                          <a:srgbClr val="000000"/>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558809">
                <a:tc>
                  <a:txBody>
                    <a:bodyPr/>
                    <a:lstStyle/>
                    <a:p>
                      <a:pPr algn="ctr"/>
                      <a:r>
                        <a:rPr lang="en-US" dirty="0">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l" defTabSz="914400" rtl="0" eaLnBrk="1" fontAlgn="b" latinLnBrk="0" hangingPunct="1"/>
                      <a:r>
                        <a:rPr lang="en-US" sz="1800" b="0" i="0" u="none" strike="noStrike" dirty="0">
                          <a:effectLst/>
                          <a:latin typeface="Times New Roman" panose="02020603050405020304" pitchFamily="18" charset="0"/>
                          <a:cs typeface="Times New Roman" panose="02020603050405020304" pitchFamily="18" charset="0"/>
                        </a:rPr>
                        <a:t>Coke jamming(coke floating)</a:t>
                      </a:r>
                      <a:r>
                        <a:rPr lang="en-US" sz="1800" b="0" i="0" u="none" strike="noStrike" baseline="0" dirty="0">
                          <a:effectLst/>
                          <a:latin typeface="Times New Roman" panose="02020603050405020304" pitchFamily="18" charset="0"/>
                          <a:cs typeface="Times New Roman" panose="02020603050405020304" pitchFamily="18" charset="0"/>
                        </a:rPr>
                        <a:t> issue (coke stucking inside pipes)</a:t>
                      </a:r>
                      <a:endParaRPr lang="en-US" sz="1800" b="0" i="0" u="none" strike="noStrike" kern="1200" dirty="0">
                        <a:solidFill>
                          <a:srgbClr val="000000"/>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4671175"/>
                  </a:ext>
                </a:extLst>
              </a:tr>
            </a:tbl>
          </a:graphicData>
        </a:graphic>
      </p:graphicFrame>
    </p:spTree>
    <p:extLst>
      <p:ext uri="{BB962C8B-B14F-4D97-AF65-F5344CB8AC3E}">
        <p14:creationId xmlns:p14="http://schemas.microsoft.com/office/powerpoint/2010/main" val="2204829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pSp>
        <p:nvGrpSpPr>
          <p:cNvPr id="3" name="Group 2"/>
          <p:cNvGrpSpPr/>
          <p:nvPr/>
        </p:nvGrpSpPr>
        <p:grpSpPr>
          <a:xfrm>
            <a:off x="815367" y="101819"/>
            <a:ext cx="11285193" cy="1246999"/>
            <a:chOff x="815367" y="-180814"/>
            <a:chExt cx="11285193" cy="1246999"/>
          </a:xfrm>
        </p:grpSpPr>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63307" y="-180814"/>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txBox="1">
              <a:spLocks/>
            </p:cNvSpPr>
            <p:nvPr/>
          </p:nvSpPr>
          <p:spPr>
            <a:xfrm>
              <a:off x="815367" y="466609"/>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VALIDATATION OF ROOT CAUSES</a:t>
              </a:r>
            </a:p>
          </p:txBody>
        </p:sp>
        <p:sp>
          <p:nvSpPr>
            <p:cNvPr id="6" name="TextBox 1"/>
            <p:cNvSpPr txBox="1">
              <a:spLocks noChangeArrowheads="1"/>
            </p:cNvSpPr>
            <p:nvPr/>
          </p:nvSpPr>
          <p:spPr bwMode="auto">
            <a:xfrm>
              <a:off x="3809404" y="51747"/>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6 Identify root causes</a:t>
              </a:r>
            </a:p>
          </p:txBody>
        </p:sp>
      </p:grpSp>
      <p:graphicFrame>
        <p:nvGraphicFramePr>
          <p:cNvPr id="10" name="Table 9"/>
          <p:cNvGraphicFramePr>
            <a:graphicFrameLocks noGrp="1"/>
          </p:cNvGraphicFramePr>
          <p:nvPr>
            <p:extLst>
              <p:ext uri="{D42A27DB-BD31-4B8C-83A1-F6EECF244321}">
                <p14:modId xmlns:p14="http://schemas.microsoft.com/office/powerpoint/2010/main" val="310463388"/>
              </p:ext>
            </p:extLst>
          </p:nvPr>
        </p:nvGraphicFramePr>
        <p:xfrm>
          <a:off x="815367" y="1550940"/>
          <a:ext cx="10147940" cy="4489740"/>
        </p:xfrm>
        <a:graphic>
          <a:graphicData uri="http://schemas.openxmlformats.org/drawingml/2006/table">
            <a:tbl>
              <a:tblPr firstRow="1" bandRow="1">
                <a:tableStyleId>{5C22544A-7EE6-4342-B048-85BDC9FD1C3A}</a:tableStyleId>
              </a:tblPr>
              <a:tblGrid>
                <a:gridCol w="1595025">
                  <a:extLst>
                    <a:ext uri="{9D8B030D-6E8A-4147-A177-3AD203B41FA5}">
                      <a16:colId xmlns:a16="http://schemas.microsoft.com/office/drawing/2014/main" val="1962236353"/>
                    </a:ext>
                  </a:extLst>
                </a:gridCol>
                <a:gridCol w="3478945">
                  <a:extLst>
                    <a:ext uri="{9D8B030D-6E8A-4147-A177-3AD203B41FA5}">
                      <a16:colId xmlns:a16="http://schemas.microsoft.com/office/drawing/2014/main" val="3032641269"/>
                    </a:ext>
                  </a:extLst>
                </a:gridCol>
                <a:gridCol w="2536985">
                  <a:extLst>
                    <a:ext uri="{9D8B030D-6E8A-4147-A177-3AD203B41FA5}">
                      <a16:colId xmlns:a16="http://schemas.microsoft.com/office/drawing/2014/main" val="2683092005"/>
                    </a:ext>
                  </a:extLst>
                </a:gridCol>
                <a:gridCol w="2536985">
                  <a:extLst>
                    <a:ext uri="{9D8B030D-6E8A-4147-A177-3AD203B41FA5}">
                      <a16:colId xmlns:a16="http://schemas.microsoft.com/office/drawing/2014/main" val="3633736019"/>
                    </a:ext>
                  </a:extLst>
                </a:gridCol>
              </a:tblGrid>
              <a:tr h="459235">
                <a:tc>
                  <a:txBody>
                    <a:bodyPr/>
                    <a:lstStyle/>
                    <a:p>
                      <a:pPr algn="ctr" fontAlgn="ctr"/>
                      <a:r>
                        <a:rPr lang="en-US" sz="1400" u="none" strike="noStrike" dirty="0" err="1">
                          <a:solidFill>
                            <a:srgbClr val="002060"/>
                          </a:solidFill>
                          <a:effectLst/>
                          <a:latin typeface="Times New Roman" panose="02020603050405020304" pitchFamily="18" charset="0"/>
                          <a:cs typeface="Times New Roman" panose="02020603050405020304" pitchFamily="18" charset="0"/>
                        </a:rPr>
                        <a:t>Sr.No</a:t>
                      </a:r>
                      <a:endParaRPr lang="en-US" sz="1400" b="1" i="0" u="none" strike="noStrike" dirty="0">
                        <a:solidFill>
                          <a:srgbClr val="002060"/>
                        </a:solidFill>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ctr" fontAlgn="ctr"/>
                      <a:r>
                        <a:rPr lang="en-US" sz="1400" u="none" strike="noStrike" dirty="0">
                          <a:solidFill>
                            <a:srgbClr val="002060"/>
                          </a:solidFill>
                          <a:effectLst/>
                          <a:latin typeface="Times New Roman" panose="02020603050405020304" pitchFamily="18" charset="0"/>
                          <a:cs typeface="Times New Roman" panose="02020603050405020304" pitchFamily="18" charset="0"/>
                        </a:rPr>
                        <a:t>ROOT CAUSE </a:t>
                      </a:r>
                      <a:endParaRPr lang="en-US" sz="1400" b="1" i="0" u="none" strike="noStrike" dirty="0">
                        <a:solidFill>
                          <a:srgbClr val="002060"/>
                        </a:solidFill>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ctr" fontAlgn="ctr"/>
                      <a:r>
                        <a:rPr lang="en-US" sz="1400" u="none" strike="noStrike" dirty="0">
                          <a:solidFill>
                            <a:srgbClr val="002060"/>
                          </a:solidFill>
                          <a:effectLst/>
                          <a:latin typeface="Times New Roman" panose="02020603050405020304" pitchFamily="18" charset="0"/>
                          <a:cs typeface="Times New Roman" panose="02020603050405020304" pitchFamily="18" charset="0"/>
                        </a:rPr>
                        <a:t>OBSERVATION</a:t>
                      </a:r>
                      <a:endParaRPr lang="en-US" sz="1400" b="1" i="0" u="none" strike="noStrike" dirty="0">
                        <a:solidFill>
                          <a:srgbClr val="002060"/>
                        </a:solidFill>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ctr" fontAlgn="ctr"/>
                      <a:r>
                        <a:rPr lang="en-US" sz="1400" b="1" i="0" u="none" strike="noStrike" dirty="0">
                          <a:solidFill>
                            <a:srgbClr val="002060"/>
                          </a:solidFill>
                          <a:effectLst/>
                          <a:latin typeface="Times New Roman" panose="02020603050405020304" pitchFamily="18" charset="0"/>
                          <a:cs typeface="Times New Roman" panose="02020603050405020304" pitchFamily="18" charset="0"/>
                        </a:rPr>
                        <a:t>VALID/INVALID</a:t>
                      </a:r>
                    </a:p>
                  </a:txBody>
                  <a:tcPr marL="9526" marR="9526" marT="9525" marB="0" anchor="ctr"/>
                </a:tc>
                <a:extLst>
                  <a:ext uri="{0D108BD9-81ED-4DB2-BD59-A6C34878D82A}">
                    <a16:rowId xmlns:a16="http://schemas.microsoft.com/office/drawing/2014/main" val="4086595816"/>
                  </a:ext>
                </a:extLst>
              </a:tr>
              <a:tr h="917683">
                <a:tc>
                  <a:txBody>
                    <a:bodyPr/>
                    <a:lstStyle/>
                    <a:p>
                      <a:pPr algn="ctr" fontAlgn="ctr"/>
                      <a:r>
                        <a:rPr lang="en-US" sz="1400" b="0" u="none" strike="noStrike" dirty="0">
                          <a:effectLst/>
                          <a:latin typeface="Times New Roman" panose="02020603050405020304" pitchFamily="18" charset="0"/>
                          <a:cs typeface="Times New Roman" panose="02020603050405020304" pitchFamily="18" charset="0"/>
                        </a:rPr>
                        <a:t>1</a:t>
                      </a:r>
                      <a:endParaRPr lang="en-US" sz="1400" b="0" i="0" u="none" strike="noStrike" dirty="0">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b="0" i="0" u="none" strike="noStrike" dirty="0">
                          <a:effectLst/>
                          <a:latin typeface="Times New Roman" panose="02020603050405020304" pitchFamily="18" charset="0"/>
                          <a:cs typeface="Times New Roman" panose="02020603050405020304" pitchFamily="18" charset="0"/>
                        </a:rPr>
                        <a:t>Hot dust accumulation inside cooling</a:t>
                      </a:r>
                      <a:r>
                        <a:rPr lang="en-US" sz="1600" b="0" i="0" u="none" strike="noStrike" baseline="0" dirty="0">
                          <a:effectLst/>
                          <a:latin typeface="Times New Roman" panose="02020603050405020304" pitchFamily="18" charset="0"/>
                          <a:cs typeface="Times New Roman" panose="02020603050405020304" pitchFamily="18" charset="0"/>
                        </a:rPr>
                        <a:t> pipes for longer duration</a:t>
                      </a:r>
                    </a:p>
                  </a:txBody>
                  <a:tcPr anchor="ctr"/>
                </a:tc>
                <a:tc>
                  <a:txBody>
                    <a:bodyPr/>
                    <a:lstStyle/>
                    <a:p>
                      <a:pPr algn="ctr" fontAlgn="ctr"/>
                      <a:r>
                        <a:rPr lang="en-US" sz="1600" b="0" i="0" u="none" strike="noStrike" dirty="0">
                          <a:effectLst/>
                          <a:latin typeface="Times New Roman" panose="02020603050405020304" pitchFamily="18" charset="0"/>
                          <a:cs typeface="Times New Roman" panose="02020603050405020304" pitchFamily="18" charset="0"/>
                        </a:rPr>
                        <a:t>Increase</a:t>
                      </a:r>
                      <a:r>
                        <a:rPr lang="en-US" sz="1600" b="0" i="0" u="none" strike="noStrike" baseline="0" dirty="0">
                          <a:effectLst/>
                          <a:latin typeface="Times New Roman" panose="02020603050405020304" pitchFamily="18" charset="0"/>
                          <a:cs typeface="Times New Roman" panose="02020603050405020304" pitchFamily="18" charset="0"/>
                        </a:rPr>
                        <a:t> in TT(Temperature transmitter)</a:t>
                      </a:r>
                      <a:endParaRPr lang="en-US" sz="1600" b="0" i="0" u="none" strike="noStrike" dirty="0">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ctr" fontAlgn="ctr"/>
                      <a:r>
                        <a:rPr lang="en-US" sz="1400" u="none" strike="noStrike" dirty="0">
                          <a:solidFill>
                            <a:srgbClr val="FF0000"/>
                          </a:solidFill>
                          <a:effectLst/>
                          <a:latin typeface="Times New Roman" panose="02020603050405020304" pitchFamily="18" charset="0"/>
                          <a:cs typeface="Times New Roman" panose="02020603050405020304" pitchFamily="18" charset="0"/>
                        </a:rPr>
                        <a:t>VALID</a:t>
                      </a:r>
                      <a:endParaRPr lang="en-US" sz="14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6" marR="9526" marT="9525" marB="0" anchor="ctr"/>
                </a:tc>
                <a:extLst>
                  <a:ext uri="{0D108BD9-81ED-4DB2-BD59-A6C34878D82A}">
                    <a16:rowId xmlns:a16="http://schemas.microsoft.com/office/drawing/2014/main" val="1242418721"/>
                  </a:ext>
                </a:extLst>
              </a:tr>
              <a:tr h="615721">
                <a:tc>
                  <a:txBody>
                    <a:bodyPr/>
                    <a:lstStyle/>
                    <a:p>
                      <a:pPr algn="ctr" fontAlgn="ctr"/>
                      <a:r>
                        <a:rPr lang="en-US" sz="1400" b="0" u="none" strike="noStrike" dirty="0">
                          <a:effectLst/>
                          <a:latin typeface="Times New Roman" panose="02020603050405020304" pitchFamily="18" charset="0"/>
                          <a:cs typeface="Times New Roman" panose="02020603050405020304" pitchFamily="18" charset="0"/>
                        </a:rPr>
                        <a:t>2</a:t>
                      </a:r>
                      <a:endParaRPr lang="en-US" sz="1400" b="0" i="0" u="none" strike="noStrike" dirty="0">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l"/>
                      <a:r>
                        <a:rPr lang="en-US" sz="1600" b="0" dirty="0">
                          <a:latin typeface="Times New Roman" panose="02020603050405020304" pitchFamily="18" charset="0"/>
                          <a:cs typeface="Times New Roman" panose="02020603050405020304" pitchFamily="18" charset="0"/>
                        </a:rPr>
                        <a:t>Excess discharge through hoppers</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fontAlgn="ctr"/>
                      <a:r>
                        <a:rPr lang="en-US" sz="1600" b="0" i="0" u="none" strike="noStrike" dirty="0">
                          <a:effectLst/>
                          <a:latin typeface="Times New Roman" panose="02020603050405020304" pitchFamily="18" charset="0"/>
                          <a:cs typeface="Times New Roman" panose="02020603050405020304" pitchFamily="18" charset="0"/>
                        </a:rPr>
                        <a:t>Physical observation</a:t>
                      </a:r>
                    </a:p>
                  </a:txBody>
                  <a:tcPr marL="9526" marR="9526" marT="9525" marB="0" anchor="ct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400" u="none" strike="noStrike" dirty="0">
                          <a:solidFill>
                            <a:srgbClr val="FF0000"/>
                          </a:solidFill>
                          <a:effectLst/>
                          <a:latin typeface="Times New Roman" panose="02020603050405020304" pitchFamily="18" charset="0"/>
                          <a:cs typeface="Times New Roman" panose="02020603050405020304" pitchFamily="18" charset="0"/>
                        </a:rPr>
                        <a:t>VALID</a:t>
                      </a:r>
                      <a:endParaRPr lang="en-US" sz="1400" b="0" i="0" u="none" strike="noStrike" dirty="0">
                        <a:solidFill>
                          <a:srgbClr val="FF0000"/>
                        </a:solidFill>
                        <a:effectLst/>
                        <a:latin typeface="Times New Roman" panose="02020603050405020304" pitchFamily="18" charset="0"/>
                        <a:cs typeface="Times New Roman" panose="02020603050405020304" pitchFamily="18" charset="0"/>
                      </a:endParaRPr>
                    </a:p>
                    <a:p>
                      <a:pPr algn="ctr" fontAlgn="ctr"/>
                      <a:endParaRPr lang="en-US" sz="1400" b="0" i="0" u="none" strike="noStrike" dirty="0">
                        <a:effectLst/>
                        <a:latin typeface="Times New Roman" panose="02020603050405020304" pitchFamily="18" charset="0"/>
                        <a:cs typeface="Times New Roman" panose="02020603050405020304" pitchFamily="18" charset="0"/>
                      </a:endParaRPr>
                    </a:p>
                  </a:txBody>
                  <a:tcPr marL="9526" marR="9526" marT="9525" marB="0" anchor="ctr"/>
                </a:tc>
                <a:extLst>
                  <a:ext uri="{0D108BD9-81ED-4DB2-BD59-A6C34878D82A}">
                    <a16:rowId xmlns:a16="http://schemas.microsoft.com/office/drawing/2014/main" val="1850643823"/>
                  </a:ext>
                </a:extLst>
              </a:tr>
              <a:tr h="615721">
                <a:tc>
                  <a:txBody>
                    <a:bodyPr/>
                    <a:lstStyle/>
                    <a:p>
                      <a:pPr algn="ctr" fontAlgn="ctr"/>
                      <a:r>
                        <a:rPr lang="en-US" sz="1400" b="0" u="none" strike="noStrike" dirty="0">
                          <a:solidFill>
                            <a:schemeClr val="tx1"/>
                          </a:solidFill>
                          <a:effectLst/>
                          <a:latin typeface="Times New Roman" panose="02020603050405020304" pitchFamily="18" charset="0"/>
                          <a:cs typeface="Times New Roman" panose="02020603050405020304" pitchFamily="18" charset="0"/>
                        </a:rPr>
                        <a:t>3</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l"/>
                      <a:r>
                        <a:rPr lang="en-US" sz="1600" b="0" dirty="0">
                          <a:latin typeface="Times New Roman" panose="02020603050405020304" pitchFamily="18" charset="0"/>
                          <a:cs typeface="Times New Roman" panose="02020603050405020304" pitchFamily="18" charset="0"/>
                        </a:rPr>
                        <a:t>Cooling water quality affects on pipes (like corrosion) </a:t>
                      </a:r>
                    </a:p>
                  </a:txBody>
                  <a:tcPr anchor="ctr"/>
                </a:tc>
                <a:tc>
                  <a:txBody>
                    <a:bodyPr/>
                    <a:lstStyle/>
                    <a:p>
                      <a:pPr algn="ctr" fontAlgn="ctr"/>
                      <a:r>
                        <a:rPr lang="en-US" sz="1600" b="0" i="0" u="none" strike="noStrike" dirty="0">
                          <a:solidFill>
                            <a:schemeClr val="tx1"/>
                          </a:solidFill>
                          <a:effectLst/>
                          <a:latin typeface="Times New Roman" panose="02020603050405020304" pitchFamily="18" charset="0"/>
                          <a:cs typeface="Times New Roman" panose="02020603050405020304" pitchFamily="18" charset="0"/>
                        </a:rPr>
                        <a:t>Cleaning</a:t>
                      </a:r>
                      <a:r>
                        <a:rPr lang="en-US" sz="1600" b="0" i="0" u="none" strike="noStrike" baseline="0" dirty="0">
                          <a:solidFill>
                            <a:schemeClr val="tx1"/>
                          </a:solidFill>
                          <a:effectLst/>
                          <a:latin typeface="Times New Roman" panose="02020603050405020304" pitchFamily="18" charset="0"/>
                          <a:cs typeface="Times New Roman" panose="02020603050405020304" pitchFamily="18" charset="0"/>
                        </a:rPr>
                        <a:t> done</a:t>
                      </a:r>
                      <a:endParaRPr lang="en-US" sz="16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algn="ctr" fontAlgn="ctr"/>
                      <a:r>
                        <a:rPr lang="en-US" sz="1400" u="none" strike="noStrike" dirty="0">
                          <a:solidFill>
                            <a:srgbClr val="FF0000"/>
                          </a:solidFill>
                          <a:effectLst/>
                          <a:latin typeface="Times New Roman" panose="02020603050405020304" pitchFamily="18" charset="0"/>
                          <a:cs typeface="Times New Roman" panose="02020603050405020304" pitchFamily="18" charset="0"/>
                        </a:rPr>
                        <a:t>VALID</a:t>
                      </a:r>
                      <a:endParaRPr lang="en-US" sz="14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6" marR="9526" marT="9525" marB="0" anchor="ctr"/>
                </a:tc>
                <a:extLst>
                  <a:ext uri="{0D108BD9-81ED-4DB2-BD59-A6C34878D82A}">
                    <a16:rowId xmlns:a16="http://schemas.microsoft.com/office/drawing/2014/main" val="2500657180"/>
                  </a:ext>
                </a:extLst>
              </a:tr>
              <a:tr h="540230">
                <a:tc>
                  <a:txBody>
                    <a:bodyPr/>
                    <a:lstStyle/>
                    <a:p>
                      <a:pPr algn="ctr" fontAlgn="ctr"/>
                      <a:r>
                        <a:rPr lang="en-US" sz="1400" b="0" u="none" strike="noStrike" dirty="0">
                          <a:solidFill>
                            <a:schemeClr val="tx1"/>
                          </a:solidFill>
                          <a:effectLst/>
                          <a:latin typeface="Times New Roman" panose="02020603050405020304" pitchFamily="18" charset="0"/>
                          <a:cs typeface="Times New Roman" panose="02020603050405020304" pitchFamily="18" charset="0"/>
                        </a:rPr>
                        <a:t>4</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6" marR="9526" marT="9525" marB="0" anchor="ctr"/>
                </a:tc>
                <a:tc>
                  <a:txBody>
                    <a:bodyPr/>
                    <a:lstStyle/>
                    <a:p>
                      <a:pPr marL="0" algn="l" defTabSz="914400" rtl="0" eaLnBrk="1" fontAlgn="b" latinLnBrk="0" hangingPunct="1"/>
                      <a:r>
                        <a:rPr lang="en-US" sz="1600" b="0" i="0" u="none" strike="noStrike" dirty="0">
                          <a:effectLst/>
                          <a:latin typeface="Times New Roman" panose="02020603050405020304" pitchFamily="18" charset="0"/>
                          <a:cs typeface="Times New Roman" panose="02020603050405020304" pitchFamily="18" charset="0"/>
                        </a:rPr>
                        <a:t>Cooling pipes chocking by refractory material </a:t>
                      </a:r>
                    </a:p>
                  </a:txBody>
                  <a:tcPr anchor="ctr"/>
                </a:tc>
                <a:tc>
                  <a:txBody>
                    <a:bodyPr/>
                    <a:lstStyle/>
                    <a:p>
                      <a:pPr algn="ctr" fontAlgn="ctr"/>
                      <a:r>
                        <a:rPr lang="en-US" sz="1600" b="0" i="0" u="none" strike="noStrike" dirty="0">
                          <a:solidFill>
                            <a:schemeClr val="tx1"/>
                          </a:solidFill>
                          <a:effectLst/>
                          <a:latin typeface="Times New Roman" panose="02020603050405020304" pitchFamily="18" charset="0"/>
                          <a:cs typeface="Times New Roman" panose="02020603050405020304" pitchFamily="18" charset="0"/>
                        </a:rPr>
                        <a:t>Physical observation</a:t>
                      </a:r>
                    </a:p>
                  </a:txBody>
                  <a:tcPr marL="9526" marR="9526" marT="9525" marB="0"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u="none" strike="noStrike" dirty="0">
                          <a:solidFill>
                            <a:srgbClr val="FF0000"/>
                          </a:solidFill>
                          <a:effectLst/>
                          <a:latin typeface="Times New Roman" panose="02020603050405020304" pitchFamily="18" charset="0"/>
                          <a:cs typeface="Times New Roman" panose="02020603050405020304" pitchFamily="18" charset="0"/>
                        </a:rPr>
                        <a:t>VALID</a:t>
                      </a:r>
                      <a:endParaRPr lang="en-US" sz="14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9526" marR="9526" marT="9525" marB="0" anchor="ctr"/>
                </a:tc>
                <a:extLst>
                  <a:ext uri="{0D108BD9-81ED-4DB2-BD59-A6C34878D82A}">
                    <a16:rowId xmlns:a16="http://schemas.microsoft.com/office/drawing/2014/main" val="1012755295"/>
                  </a:ext>
                </a:extLst>
              </a:tr>
              <a:tr h="651130">
                <a:tc>
                  <a:txBody>
                    <a:bodyPr/>
                    <a:lstStyle/>
                    <a:p>
                      <a:pPr algn="ctr"/>
                      <a:r>
                        <a:rPr lang="en-US" sz="1400" b="0" dirty="0">
                          <a:latin typeface="Times New Roman" panose="02020603050405020304" pitchFamily="18" charset="0"/>
                          <a:cs typeface="Times New Roman" panose="02020603050405020304" pitchFamily="18" charset="0"/>
                        </a:rPr>
                        <a:t>5 </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algn="l" defTabSz="914400" rtl="0" eaLnBrk="1" fontAlgn="b" latinLnBrk="0" hangingPunct="1"/>
                      <a:r>
                        <a:rPr lang="en-US" sz="1600" b="0" i="0" u="none" strike="noStrike" dirty="0">
                          <a:effectLst/>
                          <a:latin typeface="Times New Roman" panose="02020603050405020304" pitchFamily="18" charset="0"/>
                          <a:cs typeface="Times New Roman" panose="02020603050405020304" pitchFamily="18" charset="0"/>
                        </a:rPr>
                        <a:t>Coke jamming(coke floating)</a:t>
                      </a:r>
                      <a:r>
                        <a:rPr lang="en-US" sz="1600" b="0" i="0" u="none" strike="noStrike" baseline="0" dirty="0">
                          <a:effectLst/>
                          <a:latin typeface="Times New Roman" panose="02020603050405020304" pitchFamily="18" charset="0"/>
                          <a:cs typeface="Times New Roman" panose="02020603050405020304" pitchFamily="18" charset="0"/>
                        </a:rPr>
                        <a:t> issue (coke stucking inside pipes)</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0" i="0" u="none" strike="noStrike" dirty="0">
                          <a:solidFill>
                            <a:schemeClr val="tx1"/>
                          </a:solidFill>
                          <a:effectLst/>
                          <a:latin typeface="Times New Roman" panose="02020603050405020304" pitchFamily="18" charset="0"/>
                          <a:cs typeface="Times New Roman" panose="02020603050405020304" pitchFamily="18" charset="0"/>
                        </a:rPr>
                        <a:t>Physical observation</a:t>
                      </a:r>
                    </a:p>
                    <a:p>
                      <a:pPr algn="ctr"/>
                      <a:endParaRPr lang="en-IN" sz="16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u="none" strike="noStrike" dirty="0">
                          <a:solidFill>
                            <a:srgbClr val="FF0000"/>
                          </a:solidFill>
                          <a:effectLst/>
                          <a:latin typeface="Times New Roman" panose="02020603050405020304" pitchFamily="18" charset="0"/>
                          <a:cs typeface="Times New Roman" panose="02020603050405020304" pitchFamily="18" charset="0"/>
                        </a:rPr>
                        <a:t>VALID</a:t>
                      </a:r>
                      <a:endParaRPr lang="en-US" sz="1400" b="0" i="0" u="none" strike="noStrike" dirty="0">
                        <a:solidFill>
                          <a:srgbClr val="FF0000"/>
                        </a:solidFill>
                        <a:effectLst/>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245978"/>
                  </a:ext>
                </a:extLst>
              </a:tr>
              <a:tr h="651130">
                <a:tc>
                  <a:txBody>
                    <a:bodyPr/>
                    <a:lstStyle/>
                    <a:p>
                      <a:pPr algn="ctr"/>
                      <a:r>
                        <a:rPr lang="en-US" sz="1400" b="0" dirty="0">
                          <a:latin typeface="Times New Roman" panose="02020603050405020304" pitchFamily="18" charset="0"/>
                          <a:cs typeface="Times New Roman" panose="02020603050405020304" pitchFamily="18" charset="0"/>
                        </a:rPr>
                        <a:t>6</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algn="l" defTabSz="914400" rtl="0" eaLnBrk="1" fontAlgn="b" latinLnBrk="0" hangingPunct="1"/>
                      <a:r>
                        <a:rPr lang="en-US" sz="1600" b="0" i="0" u="none" strike="noStrike" dirty="0">
                          <a:effectLst/>
                          <a:latin typeface="Times New Roman" panose="02020603050405020304" pitchFamily="18" charset="0"/>
                          <a:cs typeface="Times New Roman" panose="02020603050405020304" pitchFamily="18" charset="0"/>
                        </a:rPr>
                        <a:t>PDC nitrogen valve jam </a:t>
                      </a:r>
                      <a:endParaRPr lang="en-US" sz="1600" b="0" i="0" u="none" strike="noStrike" baseline="0" dirty="0">
                        <a:effectLst/>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0" i="0" u="none" strike="noStrike" dirty="0">
                          <a:solidFill>
                            <a:schemeClr val="tx1"/>
                          </a:solidFill>
                          <a:effectLst/>
                          <a:latin typeface="Times New Roman" panose="02020603050405020304" pitchFamily="18" charset="0"/>
                          <a:cs typeface="Times New Roman" panose="02020603050405020304" pitchFamily="18" charset="0"/>
                        </a:rPr>
                        <a:t>Physical observation</a:t>
                      </a:r>
                    </a:p>
                    <a:p>
                      <a:pPr algn="ctr"/>
                      <a:endParaRPr lang="en-IN" sz="16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u="none" strike="noStrike" dirty="0">
                          <a:solidFill>
                            <a:srgbClr val="002060"/>
                          </a:solidFill>
                          <a:effectLst/>
                          <a:latin typeface="Times New Roman" panose="02020603050405020304" pitchFamily="18" charset="0"/>
                          <a:cs typeface="Times New Roman" panose="02020603050405020304" pitchFamily="18" charset="0"/>
                        </a:rPr>
                        <a:t>INVALID</a:t>
                      </a:r>
                      <a:endParaRPr lang="en-US" sz="1400" b="0" i="0" u="none" strike="noStrike" dirty="0">
                        <a:solidFill>
                          <a:srgbClr val="002060"/>
                        </a:solidFill>
                        <a:effectLst/>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5133489"/>
                  </a:ext>
                </a:extLst>
              </a:tr>
            </a:tbl>
          </a:graphicData>
        </a:graphic>
      </p:graphicFrame>
    </p:spTree>
    <p:extLst>
      <p:ext uri="{BB962C8B-B14F-4D97-AF65-F5344CB8AC3E}">
        <p14:creationId xmlns:p14="http://schemas.microsoft.com/office/powerpoint/2010/main" val="4002519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pSp>
        <p:nvGrpSpPr>
          <p:cNvPr id="7" name="Group 6"/>
          <p:cNvGrpSpPr/>
          <p:nvPr/>
        </p:nvGrpSpPr>
        <p:grpSpPr>
          <a:xfrm>
            <a:off x="815367" y="193259"/>
            <a:ext cx="11285193" cy="1246999"/>
            <a:chOff x="815367" y="-180814"/>
            <a:chExt cx="11285193" cy="1246999"/>
          </a:xfrm>
        </p:grpSpPr>
        <p:pic>
          <p:nvPicPr>
            <p:cNvPr id="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63307" y="-180814"/>
              <a:ext cx="1137253" cy="114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2"/>
            <p:cNvSpPr txBox="1">
              <a:spLocks/>
            </p:cNvSpPr>
            <p:nvPr/>
          </p:nvSpPr>
          <p:spPr>
            <a:xfrm>
              <a:off x="815367" y="466609"/>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CONFIRMED VALID ROOT CAUSES</a:t>
              </a:r>
            </a:p>
          </p:txBody>
        </p:sp>
        <p:sp>
          <p:nvSpPr>
            <p:cNvPr id="10" name="TextBox 1"/>
            <p:cNvSpPr txBox="1">
              <a:spLocks noChangeArrowheads="1"/>
            </p:cNvSpPr>
            <p:nvPr/>
          </p:nvSpPr>
          <p:spPr bwMode="auto">
            <a:xfrm>
              <a:off x="3809404" y="51747"/>
              <a:ext cx="4573191" cy="338642"/>
            </a:xfrm>
            <a:prstGeom prst="rect">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3" tIns="10163" rIns="10163" bIns="10163" numCol="1" spcCol="1270" anchor="ctr" anchorCtr="0">
              <a:noAutofit/>
            </a:bodyPr>
            <a:lstStyle>
              <a:defPPr>
                <a:defRPr lang="en-US"/>
              </a:defPPr>
              <a:lvl1pPr algn="ctr">
                <a:defRPr sz="4800">
                  <a:solidFill>
                    <a:schemeClr val="lt1"/>
                  </a:solidFill>
                  <a:latin typeface="Algerian" panose="04020705040A02060702" pitchFamily="82" charset="0"/>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lang="en-IN" sz="2001" dirty="0">
                  <a:solidFill>
                    <a:srgbClr val="FFFF00"/>
                  </a:solidFill>
                  <a:latin typeface="Times New Roman" panose="02020603050405020304" pitchFamily="18" charset="0"/>
                  <a:cs typeface="Times New Roman" panose="02020603050405020304" pitchFamily="18" charset="0"/>
                </a:rPr>
                <a:t>Step 6 Identify root causes</a:t>
              </a:r>
            </a:p>
          </p:txBody>
        </p:sp>
      </p:gr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5649" y="2003367"/>
            <a:ext cx="1799498" cy="3476303"/>
          </a:xfrm>
          <a:prstGeom prst="rect">
            <a:avLst/>
          </a:prstGeom>
        </p:spPr>
      </p:pic>
      <p:graphicFrame>
        <p:nvGraphicFramePr>
          <p:cNvPr id="13" name="Table 12"/>
          <p:cNvGraphicFramePr>
            <a:graphicFrameLocks noGrp="1"/>
          </p:cNvGraphicFramePr>
          <p:nvPr>
            <p:extLst>
              <p:ext uri="{D42A27DB-BD31-4B8C-83A1-F6EECF244321}">
                <p14:modId xmlns:p14="http://schemas.microsoft.com/office/powerpoint/2010/main" val="533073028"/>
              </p:ext>
            </p:extLst>
          </p:nvPr>
        </p:nvGraphicFramePr>
        <p:xfrm>
          <a:off x="3180973" y="2341591"/>
          <a:ext cx="6727798" cy="3241097"/>
        </p:xfrm>
        <a:graphic>
          <a:graphicData uri="http://schemas.openxmlformats.org/drawingml/2006/table">
            <a:tbl>
              <a:tblPr firstRow="1" bandRow="1">
                <a:tableStyleId>{5C22544A-7EE6-4342-B048-85BDC9FD1C3A}</a:tableStyleId>
              </a:tblPr>
              <a:tblGrid>
                <a:gridCol w="1013782">
                  <a:extLst>
                    <a:ext uri="{9D8B030D-6E8A-4147-A177-3AD203B41FA5}">
                      <a16:colId xmlns:a16="http://schemas.microsoft.com/office/drawing/2014/main" val="100699623"/>
                    </a:ext>
                  </a:extLst>
                </a:gridCol>
                <a:gridCol w="5714016">
                  <a:extLst>
                    <a:ext uri="{9D8B030D-6E8A-4147-A177-3AD203B41FA5}">
                      <a16:colId xmlns:a16="http://schemas.microsoft.com/office/drawing/2014/main" val="406627511"/>
                    </a:ext>
                  </a:extLst>
                </a:gridCol>
              </a:tblGrid>
              <a:tr h="597261">
                <a:tc>
                  <a:txBody>
                    <a:bodyPr/>
                    <a:lstStyle/>
                    <a:p>
                      <a:pPr algn="ctr"/>
                      <a:r>
                        <a:rPr lang="en-US" dirty="0" err="1">
                          <a:solidFill>
                            <a:schemeClr val="tx1"/>
                          </a:solidFill>
                          <a:latin typeface="Times New Roman" panose="02020603050405020304" pitchFamily="18" charset="0"/>
                          <a:cs typeface="Times New Roman" panose="02020603050405020304" pitchFamily="18" charset="0"/>
                        </a:rPr>
                        <a:t>Sr.No</a:t>
                      </a:r>
                      <a:endParaRPr lang="en-IN"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Times New Roman" panose="02020603050405020304" pitchFamily="18" charset="0"/>
                          <a:cs typeface="Times New Roman" panose="02020603050405020304" pitchFamily="18" charset="0"/>
                        </a:rPr>
                        <a:t>VALID</a:t>
                      </a:r>
                      <a:r>
                        <a:rPr lang="en-US" baseline="0"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ROOT CAUSES</a:t>
                      </a:r>
                    </a:p>
                  </a:txBody>
                  <a:tcPr/>
                </a:tc>
                <a:extLst>
                  <a:ext uri="{0D108BD9-81ED-4DB2-BD59-A6C34878D82A}">
                    <a16:rowId xmlns:a16="http://schemas.microsoft.com/office/drawing/2014/main" val="3577698154"/>
                  </a:ext>
                </a:extLst>
              </a:tr>
              <a:tr h="751610">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1</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0" i="0" u="none" strike="noStrike" dirty="0">
                          <a:effectLst/>
                          <a:latin typeface="Times New Roman" panose="02020603050405020304" pitchFamily="18" charset="0"/>
                          <a:cs typeface="Times New Roman" panose="02020603050405020304" pitchFamily="18" charset="0"/>
                        </a:rPr>
                        <a:t>Hot dust accumulation inside cooling</a:t>
                      </a:r>
                      <a:r>
                        <a:rPr lang="en-US" sz="1600" b="0" i="0" u="none" strike="noStrike" baseline="0" dirty="0">
                          <a:effectLst/>
                          <a:latin typeface="Times New Roman" panose="02020603050405020304" pitchFamily="18" charset="0"/>
                          <a:cs typeface="Times New Roman" panose="02020603050405020304" pitchFamily="18" charset="0"/>
                        </a:rPr>
                        <a:t> pipes for longer duration</a:t>
                      </a:r>
                    </a:p>
                  </a:txBody>
                  <a:tcPr anchor="ctr"/>
                </a:tc>
                <a:extLst>
                  <a:ext uri="{0D108BD9-81ED-4DB2-BD59-A6C34878D82A}">
                    <a16:rowId xmlns:a16="http://schemas.microsoft.com/office/drawing/2014/main" val="1147148293"/>
                  </a:ext>
                </a:extLst>
              </a:tr>
              <a:tr h="669015">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sz="1600" b="0" dirty="0">
                          <a:latin typeface="Times New Roman" panose="02020603050405020304" pitchFamily="18" charset="0"/>
                          <a:cs typeface="Times New Roman" panose="02020603050405020304" pitchFamily="18" charset="0"/>
                        </a:rPr>
                        <a:t>Excess discharge through hoppers</a:t>
                      </a:r>
                      <a:endParaRPr lang="en-IN" sz="16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1550035"/>
                  </a:ext>
                </a:extLst>
              </a:tr>
              <a:tr h="1060421">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sz="1600" b="0" dirty="0">
                          <a:latin typeface="Times New Roman" panose="02020603050405020304" pitchFamily="18" charset="0"/>
                          <a:cs typeface="Times New Roman" panose="02020603050405020304" pitchFamily="18" charset="0"/>
                        </a:rPr>
                        <a:t>Cooling water quality affects on pipes (like corrosion) </a:t>
                      </a:r>
                    </a:p>
                  </a:txBody>
                  <a:tcPr anchor="ctr"/>
                </a:tc>
                <a:extLst>
                  <a:ext uri="{0D108BD9-81ED-4DB2-BD59-A6C34878D82A}">
                    <a16:rowId xmlns:a16="http://schemas.microsoft.com/office/drawing/2014/main" val="2217639060"/>
                  </a:ext>
                </a:extLst>
              </a:tr>
            </a:tbl>
          </a:graphicData>
        </a:graphic>
      </p:graphicFrame>
    </p:spTree>
    <p:extLst>
      <p:ext uri="{BB962C8B-B14F-4D97-AF65-F5344CB8AC3E}">
        <p14:creationId xmlns:p14="http://schemas.microsoft.com/office/powerpoint/2010/main" val="1193035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kiran\Desktop\JSW\Quality Circle\DIGITAL\Pictures\index.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9884" y="2325955"/>
            <a:ext cx="3912893" cy="37866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pic>
        <p:nvPicPr>
          <p:cNvPr id="6" name="Picture 5" descr="Image result for data analy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504" y="2286904"/>
            <a:ext cx="4086772" cy="3729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2"/>
          <p:cNvSpPr txBox="1">
            <a:spLocks/>
          </p:cNvSpPr>
          <p:nvPr/>
        </p:nvSpPr>
        <p:spPr>
          <a:xfrm>
            <a:off x="815367" y="84068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7: DATA ANALYSIS</a:t>
            </a:r>
          </a:p>
        </p:txBody>
      </p:sp>
      <p:pic>
        <p:nvPicPr>
          <p:cNvPr id="8"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5463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815367" y="84068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7: DATA ANALYSIS</a:t>
            </a:r>
          </a:p>
        </p:txBody>
      </p:sp>
      <p:sp>
        <p:nvSpPr>
          <p:cNvPr id="3" name="TextBox 2"/>
          <p:cNvSpPr txBox="1"/>
          <p:nvPr/>
        </p:nvSpPr>
        <p:spPr>
          <a:xfrm>
            <a:off x="904741" y="1623390"/>
            <a:ext cx="9685674"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BREAK UP OF VALID ROOT CAUSES </a:t>
            </a:r>
          </a:p>
        </p:txBody>
      </p:sp>
      <p:graphicFrame>
        <p:nvGraphicFramePr>
          <p:cNvPr id="8" name="Chart 7"/>
          <p:cNvGraphicFramePr>
            <a:graphicFrameLocks/>
          </p:cNvGraphicFramePr>
          <p:nvPr>
            <p:extLst>
              <p:ext uri="{D42A27DB-BD31-4B8C-83A1-F6EECF244321}">
                <p14:modId xmlns:p14="http://schemas.microsoft.com/office/powerpoint/2010/main" val="2891045619"/>
              </p:ext>
            </p:extLst>
          </p:nvPr>
        </p:nvGraphicFramePr>
        <p:xfrm>
          <a:off x="1050173" y="2023500"/>
          <a:ext cx="8908473" cy="4161169"/>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9804862" y="3438449"/>
            <a:ext cx="1753986"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Before Implementation Data</a:t>
            </a:r>
            <a:endParaRPr lang="en-IN" dirty="0">
              <a:latin typeface="Times New Roman" panose="02020603050405020304" pitchFamily="18" charset="0"/>
              <a:cs typeface="Times New Roman" panose="02020603050405020304" pitchFamily="18" charset="0"/>
            </a:endParaRPr>
          </a:p>
        </p:txBody>
      </p:sp>
      <p:pic>
        <p:nvPicPr>
          <p:cNvPr id="10"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1698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815367" y="84068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7: DATA ANALYSIS</a:t>
            </a:r>
          </a:p>
        </p:txBody>
      </p:sp>
      <p:sp>
        <p:nvSpPr>
          <p:cNvPr id="9" name="TextBox 8"/>
          <p:cNvSpPr txBox="1"/>
          <p:nvPr/>
        </p:nvSpPr>
        <p:spPr>
          <a:xfrm>
            <a:off x="3811386" y="5175809"/>
            <a:ext cx="37947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Before Implementation Data</a:t>
            </a:r>
            <a:endParaRPr lang="en-IN" dirty="0">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ext uri="{D42A27DB-BD31-4B8C-83A1-F6EECF244321}">
                <p14:modId xmlns:p14="http://schemas.microsoft.com/office/powerpoint/2010/main" val="714670445"/>
              </p:ext>
            </p:extLst>
          </p:nvPr>
        </p:nvGraphicFramePr>
        <p:xfrm>
          <a:off x="815367" y="2084205"/>
          <a:ext cx="4507576" cy="28920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808461979"/>
              </p:ext>
            </p:extLst>
          </p:nvPr>
        </p:nvGraphicFramePr>
        <p:xfrm>
          <a:off x="6528522" y="2084205"/>
          <a:ext cx="4627158" cy="299716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4823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7" name="Title 2"/>
          <p:cNvSpPr txBox="1">
            <a:spLocks/>
          </p:cNvSpPr>
          <p:nvPr/>
        </p:nvSpPr>
        <p:spPr>
          <a:xfrm>
            <a:off x="873556" y="77418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8: DEVELOPING SOLUTIONS</a:t>
            </a: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descr="C:\Users\KIRANPHALAK\Desktop\servic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816" y="1728082"/>
            <a:ext cx="5073719" cy="349910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947139" y="5318773"/>
            <a:ext cx="4228209" cy="584775"/>
          </a:xfrm>
          <a:prstGeom prst="rect">
            <a:avLst/>
          </a:prstGeom>
        </p:spPr>
        <p:txBody>
          <a:bodyPr wrap="none">
            <a:spAutoFit/>
          </a:bodyPr>
          <a:lstStyle/>
          <a:p>
            <a:pPr algn="ctr">
              <a:defRPr/>
            </a:pPr>
            <a:r>
              <a:rPr lang="en-US" sz="3200" i="1" kern="10" dirty="0">
                <a:ln w="9525">
                  <a:solidFill>
                    <a:srgbClr val="CC00CC"/>
                  </a:solidFill>
                  <a:round/>
                  <a:headEnd/>
                  <a:tailEnd/>
                </a:ln>
                <a:latin typeface="Times New Roman" panose="02020603050405020304" pitchFamily="18" charset="0"/>
                <a:cs typeface="Times New Roman" panose="02020603050405020304" pitchFamily="18" charset="0"/>
              </a:rPr>
              <a:t>Through Brain Storming</a:t>
            </a:r>
          </a:p>
        </p:txBody>
      </p:sp>
      <p:pic>
        <p:nvPicPr>
          <p:cNvPr id="11" name="Picture 2" descr="C:\Users\1016807\Desktop\nitin\new images\solution-block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0433" y="1834255"/>
            <a:ext cx="4714148" cy="313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5950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873556" y="77418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PROPOSED SOLUTION</a:t>
            </a:r>
          </a:p>
        </p:txBody>
      </p:sp>
      <p:sp>
        <p:nvSpPr>
          <p:cNvPr id="3" name="TextBox 2"/>
          <p:cNvSpPr txBox="1"/>
          <p:nvPr/>
        </p:nvSpPr>
        <p:spPr>
          <a:xfrm>
            <a:off x="873556" y="1540540"/>
            <a:ext cx="350797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Description of solution to cause: </a:t>
            </a:r>
            <a:endParaRPr lang="en-IN" sz="1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73556" y="1916659"/>
            <a:ext cx="9917084"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We discovered this issue when water leakage from the PDC cooling pipe began to leak, causing damage to the chain conveyor linkage and affecting the life span of the chain conveyor, so during shutdown time, we opened the conical portion of the PDC 2 hopper and checked and which need to be arrest leakage tubes.</a:t>
            </a:r>
            <a:endParaRPr lang="en-IN" sz="16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b="17742"/>
          <a:stretch/>
        </p:blipFill>
        <p:spPr>
          <a:xfrm>
            <a:off x="3823852" y="3169457"/>
            <a:ext cx="2984271" cy="2890521"/>
          </a:xfrm>
          <a:prstGeom prst="rect">
            <a:avLst/>
          </a:prstGeom>
        </p:spPr>
      </p:pic>
      <p:sp>
        <p:nvSpPr>
          <p:cNvPr id="13" name="TextBox 12"/>
          <p:cNvSpPr txBox="1"/>
          <p:nvPr/>
        </p:nvSpPr>
        <p:spPr>
          <a:xfrm>
            <a:off x="7306887" y="3948546"/>
            <a:ext cx="2261062"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Identified but it should be arrest punctured cooling pipe asap</a:t>
            </a:r>
            <a:endParaRPr lang="en-IN" sz="1600" dirty="0">
              <a:latin typeface="Times New Roman" panose="02020603050405020304" pitchFamily="18" charset="0"/>
              <a:cs typeface="Times New Roman" panose="02020603050405020304" pitchFamily="18" charset="0"/>
            </a:endParaRPr>
          </a:p>
        </p:txBody>
      </p:sp>
      <p:pic>
        <p:nvPicPr>
          <p:cNvPr id="14"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991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873556" y="77418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PROPOSED SOLUTION</a:t>
            </a:r>
          </a:p>
        </p:txBody>
      </p:sp>
      <p:sp>
        <p:nvSpPr>
          <p:cNvPr id="3" name="TextBox 2"/>
          <p:cNvSpPr txBox="1"/>
          <p:nvPr/>
        </p:nvSpPr>
        <p:spPr>
          <a:xfrm>
            <a:off x="873556" y="1540540"/>
            <a:ext cx="10257186" cy="61555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Description of solution to cause</a:t>
            </a:r>
            <a:r>
              <a:rPr lang="en-US" dirty="0">
                <a:solidFill>
                  <a:srgbClr val="002060"/>
                </a:solidFill>
                <a:latin typeface="Times New Roman" panose="02020603050405020304" pitchFamily="18" charset="0"/>
                <a:cs typeface="Times New Roman" panose="02020603050405020304" pitchFamily="18" charset="0"/>
              </a:rPr>
              <a:t>: </a:t>
            </a:r>
            <a:r>
              <a:rPr lang="en-US" sz="1600" dirty="0">
                <a:solidFill>
                  <a:srgbClr val="00B0F0"/>
                </a:solidFill>
                <a:latin typeface="Times New Roman" panose="02020603050405020304" pitchFamily="18" charset="0"/>
                <a:cs typeface="Times New Roman" panose="02020603050405020304" pitchFamily="18" charset="0"/>
              </a:rPr>
              <a:t>Hot dust accumulation inside cooling pipes for longer duration</a:t>
            </a:r>
            <a:r>
              <a:rPr lang="en-IN" sz="1600" dirty="0">
                <a:solidFill>
                  <a:srgbClr val="00B0F0"/>
                </a:solidFill>
                <a:latin typeface="Times New Roman" panose="02020603050405020304" pitchFamily="18" charset="0"/>
                <a:cs typeface="Times New Roman" panose="02020603050405020304" pitchFamily="18" charset="0"/>
              </a:rPr>
              <a:t> </a:t>
            </a:r>
            <a:r>
              <a:rPr lang="en-US" sz="1600" dirty="0">
                <a:solidFill>
                  <a:srgbClr val="00B0F0"/>
                </a:solidFill>
                <a:latin typeface="Times New Roman" panose="02020603050405020304" pitchFamily="18" charset="0"/>
                <a:cs typeface="Times New Roman" panose="02020603050405020304" pitchFamily="18" charset="0"/>
              </a:rPr>
              <a:t>&amp; Excess discharge through hoppers </a:t>
            </a:r>
            <a:endParaRPr lang="en-IN" sz="1600" dirty="0">
              <a:solidFill>
                <a:srgbClr val="00B0F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884489" y="2322877"/>
            <a:ext cx="10050087" cy="73866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To prevent hot dust accumulation inside cooling pipes for longer durations and excess discharge through hoppers, we can change discharge technique from manual to efficient technique of adding a timer to discharge so that dust will come in proper time and will not increase the temperature of dust. </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9562" y="3061541"/>
            <a:ext cx="3303728" cy="2477796"/>
          </a:xfrm>
          <a:prstGeom prst="rect">
            <a:avLst/>
          </a:prstGeom>
        </p:spPr>
      </p:pic>
      <p:sp>
        <p:nvSpPr>
          <p:cNvPr id="14" name="TextBox 13"/>
          <p:cNvSpPr txBox="1"/>
          <p:nvPr/>
        </p:nvSpPr>
        <p:spPr>
          <a:xfrm>
            <a:off x="3727441" y="5683491"/>
            <a:ext cx="350797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Dust discharging trend (manually)Before</a:t>
            </a:r>
            <a:endParaRPr lang="en-IN" sz="1400" dirty="0">
              <a:latin typeface="Times New Roman" panose="02020603050405020304" pitchFamily="18" charset="0"/>
              <a:cs typeface="Times New Roman" panose="02020603050405020304" pitchFamily="18" charset="0"/>
            </a:endParaRPr>
          </a:p>
        </p:txBody>
      </p:sp>
      <p:pic>
        <p:nvPicPr>
          <p:cNvPr id="17"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5760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7" name="Title 2"/>
          <p:cNvSpPr txBox="1">
            <a:spLocks/>
          </p:cNvSpPr>
          <p:nvPr/>
        </p:nvSpPr>
        <p:spPr>
          <a:xfrm>
            <a:off x="873556" y="77418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9: FORSEEING PROBABLE RESISTANCES</a:t>
            </a: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descr="C:\Users\kiran\Desktop\JSW\Quality Circle\DIGITAL\Pictures\12556-Objectio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181140">
            <a:off x="2741505" y="2062863"/>
            <a:ext cx="5609472" cy="350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5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2.5E-6 2.36994E-6 L 0.12344 -0.10382 " pathEditMode="relative" rAng="0" ptsTypes="AA">
                                      <p:cBhvr>
                                        <p:cTn id="6" dur="1000" fill="hold"/>
                                        <p:tgtEl>
                                          <p:spTgt spid="11"/>
                                        </p:tgtEl>
                                        <p:attrNameLst>
                                          <p:attrName>ppt_x</p:attrName>
                                          <p:attrName>ppt_y</p:attrName>
                                        </p:attrNameLst>
                                      </p:cBhvr>
                                      <p:rCtr x="6172" y="-520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7" name="Title 2"/>
          <p:cNvSpPr txBox="1">
            <a:spLocks/>
          </p:cNvSpPr>
          <p:nvPr/>
        </p:nvSpPr>
        <p:spPr>
          <a:xfrm>
            <a:off x="873556" y="77418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9: FORSEEING PROBABLE RESISTANCES</a:t>
            </a: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descr="Related image"/>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274" y="4983713"/>
            <a:ext cx="1012563" cy="15049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3430086653"/>
              </p:ext>
            </p:extLst>
          </p:nvPr>
        </p:nvGraphicFramePr>
        <p:xfrm>
          <a:off x="1310643" y="1716364"/>
          <a:ext cx="9710854" cy="4402972"/>
        </p:xfrm>
        <a:graphic>
          <a:graphicData uri="http://schemas.openxmlformats.org/drawingml/2006/table">
            <a:tbl>
              <a:tblPr firstRow="1" bandRow="1">
                <a:tableStyleId>{5C22544A-7EE6-4342-B048-85BDC9FD1C3A}</a:tableStyleId>
              </a:tblPr>
              <a:tblGrid>
                <a:gridCol w="834041">
                  <a:extLst>
                    <a:ext uri="{9D8B030D-6E8A-4147-A177-3AD203B41FA5}">
                      <a16:colId xmlns:a16="http://schemas.microsoft.com/office/drawing/2014/main" val="1322195373"/>
                    </a:ext>
                  </a:extLst>
                </a:gridCol>
                <a:gridCol w="2685011">
                  <a:extLst>
                    <a:ext uri="{9D8B030D-6E8A-4147-A177-3AD203B41FA5}">
                      <a16:colId xmlns:a16="http://schemas.microsoft.com/office/drawing/2014/main" val="762095115"/>
                    </a:ext>
                  </a:extLst>
                </a:gridCol>
                <a:gridCol w="1687483">
                  <a:extLst>
                    <a:ext uri="{9D8B030D-6E8A-4147-A177-3AD203B41FA5}">
                      <a16:colId xmlns:a16="http://schemas.microsoft.com/office/drawing/2014/main" val="1476840493"/>
                    </a:ext>
                  </a:extLst>
                </a:gridCol>
                <a:gridCol w="4504319">
                  <a:extLst>
                    <a:ext uri="{9D8B030D-6E8A-4147-A177-3AD203B41FA5}">
                      <a16:colId xmlns:a16="http://schemas.microsoft.com/office/drawing/2014/main" val="3427914144"/>
                    </a:ext>
                  </a:extLst>
                </a:gridCol>
              </a:tblGrid>
              <a:tr h="846124">
                <a:tc>
                  <a:txBody>
                    <a:bodyPr/>
                    <a:lstStyle/>
                    <a:p>
                      <a:pPr algn="ctr"/>
                      <a:r>
                        <a:rPr lang="en-IN" sz="1600" i="0" u="none" dirty="0" err="1">
                          <a:solidFill>
                            <a:schemeClr val="tx1"/>
                          </a:solidFill>
                          <a:latin typeface="Times New Roman" panose="02020603050405020304" pitchFamily="18" charset="0"/>
                          <a:cs typeface="Times New Roman" panose="02020603050405020304" pitchFamily="18" charset="0"/>
                        </a:rPr>
                        <a:t>Sr</a:t>
                      </a:r>
                      <a:r>
                        <a:rPr lang="en-IN" sz="1600" i="0" u="none" baseline="0" dirty="0">
                          <a:solidFill>
                            <a:schemeClr val="tx1"/>
                          </a:solidFill>
                          <a:latin typeface="Times New Roman" panose="02020603050405020304" pitchFamily="18" charset="0"/>
                          <a:cs typeface="Times New Roman" panose="02020603050405020304" pitchFamily="18" charset="0"/>
                        </a:rPr>
                        <a:t> no</a:t>
                      </a:r>
                      <a:endParaRPr lang="en-IN" sz="1600" i="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r>
                        <a:rPr lang="en-IN" sz="1800" b="1" kern="1200" dirty="0">
                          <a:solidFill>
                            <a:schemeClr val="tx1"/>
                          </a:solidFill>
                          <a:latin typeface="Times New Roman" panose="02020603050405020304" pitchFamily="18" charset="0"/>
                          <a:ea typeface="+mn-ea"/>
                          <a:cs typeface="Times New Roman" panose="02020603050405020304" pitchFamily="18" charset="0"/>
                        </a:rPr>
                        <a:t>Queries</a:t>
                      </a:r>
                    </a:p>
                  </a:txBody>
                  <a:tcPr/>
                </a:tc>
                <a:tc>
                  <a:txBody>
                    <a:bodyPr/>
                    <a:lstStyle/>
                    <a:p>
                      <a:pPr algn="ctr"/>
                      <a:r>
                        <a:rPr lang="en-IN" sz="1800" b="1" kern="1200" dirty="0">
                          <a:solidFill>
                            <a:schemeClr val="tx1"/>
                          </a:solidFill>
                          <a:latin typeface="Times New Roman" panose="02020603050405020304" pitchFamily="18" charset="0"/>
                          <a:ea typeface="+mn-ea"/>
                          <a:cs typeface="Times New Roman" panose="02020603050405020304" pitchFamily="18" charset="0"/>
                        </a:rPr>
                        <a:t>Raised by</a:t>
                      </a:r>
                    </a:p>
                  </a:txBody>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Answer given by </a:t>
                      </a:r>
                    </a:p>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QC members</a:t>
                      </a:r>
                    </a:p>
                  </a:txBody>
                  <a:tcPr/>
                </a:tc>
                <a:extLst>
                  <a:ext uri="{0D108BD9-81ED-4DB2-BD59-A6C34878D82A}">
                    <a16:rowId xmlns:a16="http://schemas.microsoft.com/office/drawing/2014/main" val="1776982798"/>
                  </a:ext>
                </a:extLst>
              </a:tr>
              <a:tr h="1102087">
                <a:tc>
                  <a:txBody>
                    <a:bodyPr/>
                    <a:lstStyle/>
                    <a:p>
                      <a:pPr algn="ctr"/>
                      <a:r>
                        <a:rPr lang="en-IN" sz="1400" dirty="0">
                          <a:ln>
                            <a:solidFill>
                              <a:schemeClr val="tx1"/>
                            </a:solidFill>
                          </a:ln>
                          <a:solidFill>
                            <a:schemeClr val="tx1"/>
                          </a:solidFill>
                          <a:latin typeface="Times New Roman" panose="02020603050405020304" pitchFamily="18" charset="0"/>
                          <a:cs typeface="Times New Roman" panose="020206030504050203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How much time is required</a:t>
                      </a:r>
                      <a:r>
                        <a:rPr lang="en-US" sz="1400" baseline="0" dirty="0">
                          <a:solidFill>
                            <a:schemeClr val="tx1"/>
                          </a:solidFill>
                          <a:latin typeface="Times New Roman" panose="02020603050405020304" pitchFamily="18" charset="0"/>
                          <a:cs typeface="Times New Roman" panose="02020603050405020304" pitchFamily="18" charset="0"/>
                        </a:rPr>
                        <a:t> to arrest puncture will it be increase dust generation and boiler inlet pressure </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Mr.</a:t>
                      </a:r>
                      <a:r>
                        <a:rPr lang="en-US" sz="1400" baseline="0" dirty="0">
                          <a:solidFill>
                            <a:schemeClr val="tx1"/>
                          </a:solidFill>
                          <a:latin typeface="Times New Roman" panose="02020603050405020304" pitchFamily="18" charset="0"/>
                          <a:cs typeface="Times New Roman" panose="02020603050405020304" pitchFamily="18" charset="0"/>
                        </a:rPr>
                        <a:t> </a:t>
                      </a:r>
                      <a:r>
                        <a:rPr lang="en-US" sz="1400" baseline="0" dirty="0" err="1">
                          <a:solidFill>
                            <a:schemeClr val="tx1"/>
                          </a:solidFill>
                          <a:latin typeface="Times New Roman" panose="02020603050405020304" pitchFamily="18" charset="0"/>
                          <a:cs typeface="Times New Roman" panose="02020603050405020304" pitchFamily="18" charset="0"/>
                        </a:rPr>
                        <a:t>Varaprasad</a:t>
                      </a:r>
                      <a:endParaRPr lang="en-US" sz="1400"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(Operation)</a:t>
                      </a:r>
                    </a:p>
                  </a:txBody>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Will isolate</a:t>
                      </a:r>
                      <a:r>
                        <a:rPr lang="en-IN" sz="1400" b="1" baseline="0" dirty="0">
                          <a:solidFill>
                            <a:schemeClr val="tx1"/>
                          </a:solidFill>
                          <a:latin typeface="Times New Roman" panose="02020603050405020304" pitchFamily="18" charset="0"/>
                          <a:cs typeface="Times New Roman" panose="02020603050405020304" pitchFamily="18" charset="0"/>
                        </a:rPr>
                        <a:t> the line and check the abnormalities and arresting will be completed by 5-6 hrs and surely it will increases dust generation and other parameters</a:t>
                      </a:r>
                      <a:endParaRPr lang="en-IN" sz="14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0977629"/>
                  </a:ext>
                </a:extLst>
              </a:tr>
              <a:tr h="1030591">
                <a:tc>
                  <a:txBody>
                    <a:bodyPr/>
                    <a:lstStyle/>
                    <a:p>
                      <a:pPr algn="ctr"/>
                      <a:r>
                        <a:rPr lang="en-IN" sz="1400" dirty="0">
                          <a:ln>
                            <a:solidFill>
                              <a:schemeClr val="tx1"/>
                            </a:solidFill>
                          </a:ln>
                          <a:solidFill>
                            <a:schemeClr val="tx1"/>
                          </a:solidFill>
                          <a:latin typeface="Times New Roman" panose="02020603050405020304" pitchFamily="18" charset="0"/>
                          <a:cs typeface="Times New Roman" panose="02020603050405020304" pitchFamily="18" charset="0"/>
                        </a:rPr>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How far is it feasible ?</a:t>
                      </a:r>
                    </a:p>
                  </a:txBody>
                  <a:tcPr/>
                </a:tc>
                <a:tc>
                  <a:txBody>
                    <a:bodyPr/>
                    <a:lstStyle/>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Mr.Gopinath</a:t>
                      </a:r>
                    </a:p>
                    <a:p>
                      <a:pPr marL="0" marR="0" lvl="0" indent="0" algn="ctr" defTabSz="912813"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(Mechanical)</a:t>
                      </a:r>
                    </a:p>
                  </a:txBody>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It</a:t>
                      </a:r>
                      <a:r>
                        <a:rPr lang="en-IN" sz="1400" b="1" baseline="0" dirty="0">
                          <a:solidFill>
                            <a:schemeClr val="tx1"/>
                          </a:solidFill>
                          <a:latin typeface="Times New Roman" panose="02020603050405020304" pitchFamily="18" charset="0"/>
                          <a:cs typeface="Times New Roman" panose="02020603050405020304" pitchFamily="18" charset="0"/>
                        </a:rPr>
                        <a:t> is 100 % feasible because the parameters will be in control as monitored for whole day</a:t>
                      </a:r>
                      <a:endParaRPr lang="en-IN" sz="14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9077042"/>
                  </a:ext>
                </a:extLst>
              </a:tr>
              <a:tr h="712085">
                <a:tc>
                  <a:txBody>
                    <a:bodyPr/>
                    <a:lstStyle/>
                    <a:p>
                      <a:pPr algn="ctr"/>
                      <a:r>
                        <a:rPr lang="en-IN" sz="1400" dirty="0">
                          <a:ln>
                            <a:solidFill>
                              <a:schemeClr val="tx1"/>
                            </a:solidFill>
                          </a:ln>
                          <a:solidFill>
                            <a:schemeClr val="tx1"/>
                          </a:solidFill>
                          <a:latin typeface="Times New Roman" panose="02020603050405020304" pitchFamily="18" charset="0"/>
                          <a:cs typeface="Times New Roman" panose="02020603050405020304" pitchFamily="18" charset="0"/>
                        </a:rPr>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What about Safety?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Mr. </a:t>
                      </a:r>
                      <a:r>
                        <a:rPr lang="en-US" sz="1400" dirty="0" err="1">
                          <a:solidFill>
                            <a:schemeClr val="tx1"/>
                          </a:solidFill>
                          <a:latin typeface="Times New Roman" panose="02020603050405020304" pitchFamily="18" charset="0"/>
                          <a:cs typeface="Times New Roman" panose="02020603050405020304" pitchFamily="18" charset="0"/>
                        </a:rPr>
                        <a:t>Darshan</a:t>
                      </a:r>
                      <a:r>
                        <a:rPr lang="en-US" sz="1400" dirty="0">
                          <a:solidFill>
                            <a:schemeClr val="tx1"/>
                          </a:solidFill>
                          <a:latin typeface="Times New Roman" panose="02020603050405020304" pitchFamily="18" charset="0"/>
                          <a:cs typeface="Times New Roman" panose="02020603050405020304" pitchFamily="18" charset="0"/>
                        </a:rPr>
                        <a:t> Dave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anose="02020603050405020304" pitchFamily="18" charset="0"/>
                          <a:cs typeface="Times New Roman" panose="02020603050405020304" pitchFamily="18" charset="0"/>
                        </a:rPr>
                        <a:t>(Safety)</a:t>
                      </a:r>
                    </a:p>
                  </a:txBody>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All Solution are safe and easy to Operate</a:t>
                      </a:r>
                    </a:p>
                  </a:txBody>
                  <a:tcPr/>
                </a:tc>
                <a:extLst>
                  <a:ext uri="{0D108BD9-81ED-4DB2-BD59-A6C34878D82A}">
                    <a16:rowId xmlns:a16="http://schemas.microsoft.com/office/drawing/2014/main" val="3513133146"/>
                  </a:ext>
                </a:extLst>
              </a:tr>
              <a:tr h="712085">
                <a:tc>
                  <a:txBody>
                    <a:bodyPr/>
                    <a:lstStyle/>
                    <a:p>
                      <a:pPr algn="ctr"/>
                      <a:r>
                        <a:rPr lang="en-IN" sz="1400" dirty="0">
                          <a:ln>
                            <a:solidFill>
                              <a:schemeClr val="tx1"/>
                            </a:solidFill>
                          </a:ln>
                          <a:solidFill>
                            <a:schemeClr val="tx1"/>
                          </a:solidFill>
                          <a:latin typeface="Times New Roman" panose="02020603050405020304" pitchFamily="18" charset="0"/>
                          <a:cs typeface="Times New Roman" panose="02020603050405020304" pitchFamily="18" charset="0"/>
                        </a:rPr>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dirty="0">
                          <a:solidFill>
                            <a:schemeClr val="tx1"/>
                          </a:solidFill>
                          <a:latin typeface="Times New Roman" panose="02020603050405020304" pitchFamily="18" charset="0"/>
                          <a:cs typeface="Times New Roman" panose="02020603050405020304" pitchFamily="18" charset="0"/>
                        </a:rPr>
                        <a:t>What about the cost?</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err="1">
                          <a:solidFill>
                            <a:schemeClr val="tx1"/>
                          </a:solidFill>
                          <a:latin typeface="Times New Roman" panose="02020603050405020304" pitchFamily="18" charset="0"/>
                          <a:cs typeface="Times New Roman" panose="02020603050405020304" pitchFamily="18" charset="0"/>
                        </a:rPr>
                        <a:t>Arun</a:t>
                      </a:r>
                      <a:r>
                        <a:rPr lang="en-US" sz="1400" dirty="0">
                          <a:solidFill>
                            <a:schemeClr val="tx1"/>
                          </a:solidFill>
                          <a:latin typeface="Times New Roman" panose="02020603050405020304" pitchFamily="18" charset="0"/>
                          <a:cs typeface="Times New Roman" panose="02020603050405020304" pitchFamily="18" charset="0"/>
                        </a:rPr>
                        <a:t> Kumar</a:t>
                      </a:r>
                      <a:endParaRPr lang="en-US" sz="1400" baseline="0"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aseline="0" dirty="0">
                          <a:solidFill>
                            <a:schemeClr val="tx1"/>
                          </a:solidFill>
                          <a:latin typeface="Times New Roman" panose="02020603050405020304" pitchFamily="18" charset="0"/>
                          <a:cs typeface="Times New Roman" panose="02020603050405020304" pitchFamily="18" charset="0"/>
                        </a:rPr>
                        <a:t> (Electrical)</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No additional cost done with available materials</a:t>
                      </a:r>
                    </a:p>
                  </a:txBody>
                  <a:tcPr/>
                </a:tc>
                <a:extLst>
                  <a:ext uri="{0D108BD9-81ED-4DB2-BD59-A6C34878D82A}">
                    <a16:rowId xmlns:a16="http://schemas.microsoft.com/office/drawing/2014/main" val="3525071610"/>
                  </a:ext>
                </a:extLst>
              </a:tr>
            </a:tbl>
          </a:graphicData>
        </a:graphic>
      </p:graphicFrame>
    </p:spTree>
    <p:extLst>
      <p:ext uri="{BB962C8B-B14F-4D97-AF65-F5344CB8AC3E}">
        <p14:creationId xmlns:p14="http://schemas.microsoft.com/office/powerpoint/2010/main" val="752511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7" name="Title 2"/>
          <p:cNvSpPr txBox="1">
            <a:spLocks/>
          </p:cNvSpPr>
          <p:nvPr/>
        </p:nvSpPr>
        <p:spPr>
          <a:xfrm>
            <a:off x="873556" y="774180"/>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10: TRIAL IMPLIMENTATION</a:t>
            </a: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C:\Users\kiran\Desktop\JSW\Quality Circle\DIGITAL\Pictures\trail implemen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767827">
            <a:off x="1345064" y="2067550"/>
            <a:ext cx="3705013" cy="35278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1016807\Desktop\nitin\new images\tmp93687165591171891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2944" y="2089968"/>
            <a:ext cx="5058043" cy="3213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8262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kiran\Desktop\dem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82818">
            <a:off x="3780627" y="1954284"/>
            <a:ext cx="4646818" cy="3839739"/>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1102269" y="1258279"/>
            <a:ext cx="2743940" cy="1930423"/>
          </a:xfrm>
          <a:prstGeom prst="roundRect">
            <a:avLst/>
          </a:prstGeom>
          <a:scene3d>
            <a:camera prst="orthographicFront">
              <a:rot lat="0" lon="0" rev="0"/>
            </a:camera>
            <a:lightRig rig="threePt" dir="t">
              <a:rot lat="0" lon="0" rev="1200000"/>
            </a:lightRig>
          </a:scene3d>
          <a:sp3d prstMaterial="dkEdge">
            <a:bevelT w="63500" h="25400"/>
          </a:sp3d>
        </p:spPr>
        <p:style>
          <a:lnRef idx="0">
            <a:schemeClr val="accent1"/>
          </a:lnRef>
          <a:fillRef idx="3">
            <a:schemeClr val="accent1"/>
          </a:fillRef>
          <a:effectRef idx="3">
            <a:schemeClr val="accent1"/>
          </a:effectRef>
          <a:fontRef idx="minor">
            <a:schemeClr val="lt1"/>
          </a:fontRef>
        </p:style>
        <p:txBody>
          <a:bodyPr rtlCol="0" anchor="ctr"/>
          <a:lstStyle/>
          <a:p>
            <a:pPr marL="285750" indent="-28575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Problem is selected and Impacts of the problem are quantified</a:t>
            </a:r>
          </a:p>
        </p:txBody>
      </p:sp>
      <p:sp>
        <p:nvSpPr>
          <p:cNvPr id="6" name="Rounded Rectangle 5"/>
          <p:cNvSpPr/>
          <p:nvPr/>
        </p:nvSpPr>
        <p:spPr>
          <a:xfrm>
            <a:off x="8164215" y="1258279"/>
            <a:ext cx="3099530" cy="1934253"/>
          </a:xfrm>
          <a:prstGeom prst="roundRect">
            <a:avLst/>
          </a:prstGeom>
          <a:scene3d>
            <a:camera prst="orthographicFront"/>
            <a:lightRig rig="threePt" dir="t"/>
          </a:scene3d>
          <a:sp3d>
            <a:bevelT/>
          </a:sp3d>
        </p:spPr>
        <p:style>
          <a:lnRef idx="1">
            <a:schemeClr val="accent6"/>
          </a:lnRef>
          <a:fillRef idx="3">
            <a:schemeClr val="accent6"/>
          </a:fillRef>
          <a:effectRef idx="2">
            <a:schemeClr val="accent6"/>
          </a:effectRef>
          <a:fontRef idx="minor">
            <a:schemeClr val="lt1"/>
          </a:fontRef>
        </p:style>
        <p:txBody>
          <a:bodyPr rtlCol="0" anchor="ctr"/>
          <a:lstStyle/>
          <a:p>
            <a:pPr marL="285750" indent="-28575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Two root causes are identified &amp; validated based on experience &amp; observation</a:t>
            </a:r>
          </a:p>
          <a:p>
            <a:pPr marL="285750" indent="-28575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And for which solutions are developed. </a:t>
            </a:r>
          </a:p>
        </p:txBody>
      </p:sp>
      <p:sp>
        <p:nvSpPr>
          <p:cNvPr id="7" name="Rounded Rectangle 6"/>
          <p:cNvSpPr/>
          <p:nvPr/>
        </p:nvSpPr>
        <p:spPr>
          <a:xfrm>
            <a:off x="8526210" y="4551566"/>
            <a:ext cx="2579593" cy="1427457"/>
          </a:xfrm>
          <a:prstGeom prst="roundRect">
            <a:avLst/>
          </a:prstGeom>
          <a:solidFill>
            <a:srgbClr val="FF0000"/>
          </a:solidFill>
          <a:scene3d>
            <a:camera prst="orthographicFront"/>
            <a:lightRig rig="threePt" dir="t"/>
          </a:scene3d>
          <a:sp3d prstMaterial="dkEdge">
            <a:bevelT/>
          </a:sp3d>
        </p:spPr>
        <p:style>
          <a:lnRef idx="1">
            <a:schemeClr val="accent6"/>
          </a:lnRef>
          <a:fillRef idx="3">
            <a:schemeClr val="accent6"/>
          </a:fillRef>
          <a:effectRef idx="2">
            <a:schemeClr val="accent6"/>
          </a:effectRef>
          <a:fontRef idx="minor">
            <a:schemeClr val="lt1"/>
          </a:fontRef>
        </p:style>
        <p:txBody>
          <a:bodyPr rtlCol="0" anchor="ctr"/>
          <a:lstStyle/>
          <a:p>
            <a:pPr marL="285750" indent="-28575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Proposed solutions are implemented &amp; results are checked</a:t>
            </a:r>
          </a:p>
        </p:txBody>
      </p:sp>
      <p:sp>
        <p:nvSpPr>
          <p:cNvPr id="8" name="Rounded Rectangle 7"/>
          <p:cNvSpPr/>
          <p:nvPr/>
        </p:nvSpPr>
        <p:spPr>
          <a:xfrm>
            <a:off x="743468" y="3936696"/>
            <a:ext cx="2938393" cy="1749210"/>
          </a:xfrm>
          <a:prstGeom prst="roundRect">
            <a:avLst/>
          </a:prstGeom>
          <a:solidFill>
            <a:srgbClr val="008000"/>
          </a:solidFill>
          <a:scene3d>
            <a:camera prst="orthographicFront"/>
            <a:lightRig rig="threePt" dir="t"/>
          </a:scene3d>
          <a:sp3d prstMaterial="dkEdge">
            <a:bevelT/>
          </a:sp3d>
        </p:spPr>
        <p:style>
          <a:lnRef idx="1">
            <a:schemeClr val="accent6"/>
          </a:lnRef>
          <a:fillRef idx="3">
            <a:schemeClr val="accent6"/>
          </a:fillRef>
          <a:effectRef idx="2">
            <a:schemeClr val="accent6"/>
          </a:effectRef>
          <a:fontRef idx="minor">
            <a:schemeClr val="lt1"/>
          </a:fontRef>
        </p:style>
        <p:txBody>
          <a:bodyPr rtlCol="0" anchor="ctr"/>
          <a:lstStyle/>
          <a:p>
            <a:pPr marL="285750" indent="-28575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SOP has been modified accordingly</a:t>
            </a:r>
          </a:p>
          <a:p>
            <a:pPr marL="285750" indent="-28575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Outcome of which is found to be very effective.</a:t>
            </a:r>
          </a:p>
        </p:txBody>
      </p:sp>
      <p:sp>
        <p:nvSpPr>
          <p:cNvPr id="9" name="Slide Number Placeholder 2"/>
          <p:cNvSpPr>
            <a:spLocks noGrp="1"/>
          </p:cNvSpPr>
          <p:nvPr>
            <p:ph type="sldNum" sz="quarter" idx="12"/>
          </p:nvPr>
        </p:nvSpPr>
        <p:spPr>
          <a:xfrm>
            <a:off x="8918657" y="5979024"/>
            <a:ext cx="2061070" cy="310190"/>
          </a:xfrm>
        </p:spPr>
        <p:txBody>
          <a:bodyPr/>
          <a:lstStyle/>
          <a:p>
            <a:fld id="{C9D83E5D-4559-4E62-ADF6-DD179F1B94B0}" type="slidenum">
              <a:rPr lang="en-IN" smtClean="0">
                <a:latin typeface="Times New Roman" panose="02020603050405020304" pitchFamily="18" charset="0"/>
                <a:cs typeface="Times New Roman" panose="02020603050405020304" pitchFamily="18" charset="0"/>
              </a:rPr>
              <a:pPr/>
              <a:t>43</a:t>
            </a:fld>
            <a:endParaRPr lang="en-IN">
              <a:latin typeface="Times New Roman" panose="02020603050405020304" pitchFamily="18" charset="0"/>
              <a:cs typeface="Times New Roman" panose="02020603050405020304" pitchFamily="18" charset="0"/>
            </a:endParaRPr>
          </a:p>
        </p:txBody>
      </p:sp>
      <p:sp>
        <p:nvSpPr>
          <p:cNvPr id="10" name="Title 2"/>
          <p:cNvSpPr txBox="1">
            <a:spLocks/>
          </p:cNvSpPr>
          <p:nvPr/>
        </p:nvSpPr>
        <p:spPr>
          <a:xfrm>
            <a:off x="3982517" y="323648"/>
            <a:ext cx="4039266" cy="672235"/>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DEMING CYCLE</a:t>
            </a:r>
          </a:p>
        </p:txBody>
      </p:sp>
      <p:pic>
        <p:nvPicPr>
          <p:cNvPr id="11"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96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4)">
                                      <p:cBhvr>
                                        <p:cTn id="7" dur="250"/>
                                        <p:tgtEl>
                                          <p:spTgt spid="4"/>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1746" y="725894"/>
            <a:ext cx="5294487" cy="461665"/>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Description of solution to cause: </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73556" y="1343081"/>
            <a:ext cx="9917084"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We discovered this issue when water leakage from the PDC cooling pipe began to leak, causing damage to the chain conveyor linkage and affecting the life span of the chain conveyor, so during shutdown time, we opened the conical portion of the PDC 2 hopper and checked and arrested the leakage tubes.</a:t>
            </a:r>
            <a:endParaRPr lang="en-IN" sz="16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b="17742"/>
          <a:stretch/>
        </p:blipFill>
        <p:spPr>
          <a:xfrm>
            <a:off x="1180405" y="2629129"/>
            <a:ext cx="2984271" cy="2890521"/>
          </a:xfrm>
          <a:prstGeom prst="rect">
            <a:avLst/>
          </a:prstGeom>
        </p:spPr>
      </p:pic>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l="22969" t="25333" r="28849" b="12242"/>
          <a:stretch/>
        </p:blipFill>
        <p:spPr>
          <a:xfrm>
            <a:off x="7099070" y="2579454"/>
            <a:ext cx="3025832" cy="2940196"/>
          </a:xfrm>
          <a:prstGeom prst="rect">
            <a:avLst/>
          </a:prstGeom>
        </p:spPr>
      </p:pic>
      <p:sp>
        <p:nvSpPr>
          <p:cNvPr id="13" name="TextBox 12"/>
          <p:cNvSpPr txBox="1"/>
          <p:nvPr/>
        </p:nvSpPr>
        <p:spPr>
          <a:xfrm>
            <a:off x="4559531" y="3599411"/>
            <a:ext cx="2261062"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Identified and arrested punctured cooling pipe</a:t>
            </a:r>
            <a:endParaRPr lang="en-IN" sz="1600" dirty="0">
              <a:latin typeface="Times New Roman" panose="02020603050405020304" pitchFamily="18" charset="0"/>
              <a:cs typeface="Times New Roman" panose="02020603050405020304" pitchFamily="18" charset="0"/>
            </a:endParaRPr>
          </a:p>
        </p:txBody>
      </p:sp>
      <p:pic>
        <p:nvPicPr>
          <p:cNvPr id="8"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25639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0939" y="704126"/>
            <a:ext cx="10257186" cy="646331"/>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Description of solution to cause</a:t>
            </a:r>
            <a:r>
              <a:rPr lang="en-US" dirty="0">
                <a:solidFill>
                  <a:srgbClr val="002060"/>
                </a:solidFill>
                <a:latin typeface="Times New Roman" panose="02020603050405020304" pitchFamily="18" charset="0"/>
                <a:cs typeface="Times New Roman" panose="02020603050405020304" pitchFamily="18" charset="0"/>
              </a:rPr>
              <a:t>: </a:t>
            </a:r>
            <a:r>
              <a:rPr lang="en-US" sz="1600" dirty="0">
                <a:solidFill>
                  <a:srgbClr val="00B0F0"/>
                </a:solidFill>
                <a:latin typeface="Times New Roman" panose="02020603050405020304" pitchFamily="18" charset="0"/>
                <a:cs typeface="Times New Roman" panose="02020603050405020304" pitchFamily="18" charset="0"/>
              </a:rPr>
              <a:t>Hot dust accumulation inside cooling pipes for longer duration</a:t>
            </a:r>
            <a:r>
              <a:rPr lang="en-IN" sz="1600" dirty="0">
                <a:solidFill>
                  <a:srgbClr val="00B0F0"/>
                </a:solidFill>
                <a:latin typeface="Times New Roman" panose="02020603050405020304" pitchFamily="18" charset="0"/>
                <a:cs typeface="Times New Roman" panose="02020603050405020304" pitchFamily="18" charset="0"/>
              </a:rPr>
              <a:t> </a:t>
            </a:r>
            <a:r>
              <a:rPr lang="en-US" sz="1600" dirty="0">
                <a:solidFill>
                  <a:srgbClr val="00B0F0"/>
                </a:solidFill>
                <a:latin typeface="Times New Roman" panose="02020603050405020304" pitchFamily="18" charset="0"/>
                <a:cs typeface="Times New Roman" panose="02020603050405020304" pitchFamily="18" charset="0"/>
              </a:rPr>
              <a:t>&amp; Excess discharge through hoppers </a:t>
            </a:r>
            <a:endParaRPr lang="en-IN" sz="1600" dirty="0">
              <a:solidFill>
                <a:srgbClr val="00B0F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780939" y="1463833"/>
            <a:ext cx="10050087" cy="73866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To prevent hot dust accumulation inside cooling pipes for longer durations and excess discharge through hoppers, we can change discharge technique from manual to efficient technique of adding a timer to discharge so that dust will come in proper time and will not increase the temperature of dust. </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548" y="2446399"/>
            <a:ext cx="3303728" cy="2477796"/>
          </a:xfrm>
          <a:prstGeom prst="rect">
            <a:avLst/>
          </a:prstGeom>
        </p:spPr>
      </p:pic>
      <p:sp>
        <p:nvSpPr>
          <p:cNvPr id="14" name="TextBox 13"/>
          <p:cNvSpPr txBox="1"/>
          <p:nvPr/>
        </p:nvSpPr>
        <p:spPr>
          <a:xfrm>
            <a:off x="1108932" y="5301106"/>
            <a:ext cx="3507970" cy="584775"/>
          </a:xfrm>
          <a:prstGeom prst="rect">
            <a:avLst/>
          </a:prstGeom>
          <a:noFill/>
        </p:spPr>
        <p:txBody>
          <a:bodyPr wrap="square" rtlCol="0">
            <a:spAutoFit/>
          </a:bodyPr>
          <a:lstStyle/>
          <a:p>
            <a:r>
              <a:rPr lang="en-US" sz="1600" dirty="0">
                <a:solidFill>
                  <a:srgbClr val="C00000"/>
                </a:solidFill>
                <a:latin typeface="Times New Roman" panose="02020603050405020304" pitchFamily="18" charset="0"/>
                <a:cs typeface="Times New Roman" panose="02020603050405020304" pitchFamily="18" charset="0"/>
              </a:rPr>
              <a:t>Dust discharging trend (manually)Before</a:t>
            </a:r>
            <a:endParaRPr lang="en-IN" sz="1600"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5522" y="2376912"/>
            <a:ext cx="2038045" cy="271739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8703" y="2409298"/>
            <a:ext cx="3580008" cy="2685006"/>
          </a:xfrm>
          <a:prstGeom prst="rect">
            <a:avLst/>
          </a:prstGeom>
        </p:spPr>
      </p:pic>
      <p:sp>
        <p:nvSpPr>
          <p:cNvPr id="11" name="TextBox 10"/>
          <p:cNvSpPr txBox="1"/>
          <p:nvPr/>
        </p:nvSpPr>
        <p:spPr>
          <a:xfrm>
            <a:off x="5005522" y="5315317"/>
            <a:ext cx="2475933" cy="338554"/>
          </a:xfrm>
          <a:prstGeom prst="rect">
            <a:avLst/>
          </a:prstGeom>
          <a:noFill/>
        </p:spPr>
        <p:txBody>
          <a:bodyPr wrap="square" rtlCol="0">
            <a:spAutoFit/>
          </a:bodyPr>
          <a:lstStyle/>
          <a:p>
            <a:r>
              <a:rPr lang="en-US" sz="1600" dirty="0">
                <a:solidFill>
                  <a:srgbClr val="C00000"/>
                </a:solidFill>
              </a:rPr>
              <a:t>Timer implementation</a:t>
            </a:r>
            <a:endParaRPr lang="en-IN" sz="1600" dirty="0">
              <a:solidFill>
                <a:srgbClr val="C00000"/>
              </a:solidFill>
            </a:endParaRPr>
          </a:p>
        </p:txBody>
      </p:sp>
      <p:sp>
        <p:nvSpPr>
          <p:cNvPr id="12" name="TextBox 11"/>
          <p:cNvSpPr txBox="1"/>
          <p:nvPr/>
        </p:nvSpPr>
        <p:spPr>
          <a:xfrm>
            <a:off x="7955280" y="5301105"/>
            <a:ext cx="3699164" cy="338554"/>
          </a:xfrm>
          <a:prstGeom prst="rect">
            <a:avLst/>
          </a:prstGeom>
          <a:noFill/>
        </p:spPr>
        <p:txBody>
          <a:bodyPr wrap="square" rtlCol="0">
            <a:spAutoFit/>
          </a:bodyPr>
          <a:lstStyle/>
          <a:p>
            <a:r>
              <a:rPr lang="en-US" sz="1600" dirty="0">
                <a:solidFill>
                  <a:srgbClr val="C00000"/>
                </a:solidFill>
              </a:rPr>
              <a:t>Uniform Discharge accordingly timer</a:t>
            </a:r>
            <a:endParaRPr lang="en-IN" sz="1600" dirty="0">
              <a:solidFill>
                <a:srgbClr val="C00000"/>
              </a:solidFill>
            </a:endParaRPr>
          </a:p>
        </p:txBody>
      </p:sp>
      <p:pic>
        <p:nvPicPr>
          <p:cNvPr id="15" name="Picture 1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21496" y="100850"/>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3578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6" name="Title 2"/>
          <p:cNvSpPr txBox="1">
            <a:spLocks/>
          </p:cNvSpPr>
          <p:nvPr/>
        </p:nvSpPr>
        <p:spPr>
          <a:xfrm>
            <a:off x="931177" y="868096"/>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BEFORE – AFTER COMPARISON</a:t>
            </a:r>
          </a:p>
        </p:txBody>
      </p:sp>
      <p:graphicFrame>
        <p:nvGraphicFramePr>
          <p:cNvPr id="10" name="Chart 9"/>
          <p:cNvGraphicFramePr>
            <a:graphicFrameLocks/>
          </p:cNvGraphicFramePr>
          <p:nvPr>
            <p:extLst>
              <p:ext uri="{D42A27DB-BD31-4B8C-83A1-F6EECF244321}">
                <p14:modId xmlns:p14="http://schemas.microsoft.com/office/powerpoint/2010/main" val="952070061"/>
              </p:ext>
            </p:extLst>
          </p:nvPr>
        </p:nvGraphicFramePr>
        <p:xfrm>
          <a:off x="931176" y="1919590"/>
          <a:ext cx="4895759" cy="31607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a:graphicFrameLocks/>
          </p:cNvGraphicFramePr>
          <p:nvPr>
            <p:extLst>
              <p:ext uri="{D42A27DB-BD31-4B8C-83A1-F6EECF244321}">
                <p14:modId xmlns:p14="http://schemas.microsoft.com/office/powerpoint/2010/main" val="1948353870"/>
              </p:ext>
            </p:extLst>
          </p:nvPr>
        </p:nvGraphicFramePr>
        <p:xfrm>
          <a:off x="6039175" y="1919590"/>
          <a:ext cx="4759058" cy="3084672"/>
        </p:xfrm>
        <a:graphic>
          <a:graphicData uri="http://schemas.openxmlformats.org/drawingml/2006/chart">
            <c:chart xmlns:c="http://schemas.openxmlformats.org/drawingml/2006/chart" xmlns:r="http://schemas.openxmlformats.org/officeDocument/2006/relationships" r:id="rId3"/>
          </a:graphicData>
        </a:graphic>
      </p:graphicFrame>
      <p:sp>
        <p:nvSpPr>
          <p:cNvPr id="7" name="Curved Down Arrow 6"/>
          <p:cNvSpPr/>
          <p:nvPr/>
        </p:nvSpPr>
        <p:spPr>
          <a:xfrm rot="19817525">
            <a:off x="3840972" y="1930750"/>
            <a:ext cx="745873" cy="426398"/>
          </a:xfrm>
          <a:prstGeom prst="curvedDownArrow">
            <a:avLst>
              <a:gd name="adj1" fmla="val 25000"/>
              <a:gd name="adj2" fmla="val 42656"/>
              <a:gd name="adj3" fmla="val 374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urved Up Arrow 12"/>
          <p:cNvSpPr/>
          <p:nvPr/>
        </p:nvSpPr>
        <p:spPr>
          <a:xfrm rot="18866797">
            <a:off x="9279049" y="4003297"/>
            <a:ext cx="1024143" cy="46536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TextBox 13"/>
          <p:cNvSpPr txBox="1"/>
          <p:nvPr/>
        </p:nvSpPr>
        <p:spPr>
          <a:xfrm>
            <a:off x="6256306" y="5525452"/>
            <a:ext cx="5410525"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Boiler inlet pressure data from OCT 2023 –Feb 2024</a:t>
            </a:r>
            <a:endParaRPr lang="en-IN" sz="1600" dirty="0">
              <a:solidFill>
                <a:srgbClr val="00206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931176" y="5530734"/>
            <a:ext cx="4777049"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Dust generation data from OCT 2023 –Feb 2024</a:t>
            </a:r>
            <a:endParaRPr lang="en-IN" sz="1600" dirty="0">
              <a:solidFill>
                <a:srgbClr val="002060"/>
              </a:solidFill>
              <a:latin typeface="Times New Roman" panose="02020603050405020304" pitchFamily="18" charset="0"/>
              <a:cs typeface="Times New Roman" panose="02020603050405020304" pitchFamily="18" charset="0"/>
            </a:endParaRPr>
          </a:p>
        </p:txBody>
      </p:sp>
      <p:pic>
        <p:nvPicPr>
          <p:cNvPr id="16"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79685" y="113264"/>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45545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graphicFrame>
        <p:nvGraphicFramePr>
          <p:cNvPr id="3" name="Chart 2"/>
          <p:cNvGraphicFramePr>
            <a:graphicFrameLocks/>
          </p:cNvGraphicFramePr>
          <p:nvPr/>
        </p:nvGraphicFramePr>
        <p:xfrm>
          <a:off x="1077699" y="2306782"/>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a:graphicFrameLocks/>
          </p:cNvGraphicFramePr>
          <p:nvPr/>
        </p:nvGraphicFramePr>
        <p:xfrm>
          <a:off x="6237315" y="2306782"/>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itle 2"/>
          <p:cNvSpPr txBox="1">
            <a:spLocks/>
          </p:cNvSpPr>
          <p:nvPr/>
        </p:nvSpPr>
        <p:spPr>
          <a:xfrm>
            <a:off x="931177" y="868096"/>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BEFORE – AFTER COMPARISON</a:t>
            </a:r>
          </a:p>
        </p:txBody>
      </p:sp>
      <p:cxnSp>
        <p:nvCxnSpPr>
          <p:cNvPr id="8" name="Straight Arrow Connector 7"/>
          <p:cNvCxnSpPr/>
          <p:nvPr/>
        </p:nvCxnSpPr>
        <p:spPr>
          <a:xfrm flipV="1">
            <a:off x="2909455" y="3092335"/>
            <a:ext cx="1205345" cy="70658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9" name="Straight Arrow Connector 8"/>
          <p:cNvCxnSpPr/>
          <p:nvPr/>
        </p:nvCxnSpPr>
        <p:spPr>
          <a:xfrm flipV="1">
            <a:off x="8221287" y="3998423"/>
            <a:ext cx="1346662" cy="44888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pic>
        <p:nvPicPr>
          <p:cNvPr id="10"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79685" y="113264"/>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3779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6" name="Title 2"/>
          <p:cNvSpPr txBox="1">
            <a:spLocks/>
          </p:cNvSpPr>
          <p:nvPr/>
        </p:nvSpPr>
        <p:spPr>
          <a:xfrm>
            <a:off x="931177" y="868096"/>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STEP 11: REGULER IMPLEMENTATION</a:t>
            </a:r>
          </a:p>
        </p:txBody>
      </p:sp>
      <p:pic>
        <p:nvPicPr>
          <p:cNvPr id="10" name="Picture 9"/>
          <p:cNvPicPr>
            <a:picLocks noChangeAspect="1"/>
          </p:cNvPicPr>
          <p:nvPr/>
        </p:nvPicPr>
        <p:blipFill>
          <a:blip r:embed="rId2" cstate="print"/>
          <a:stretch>
            <a:fillRect/>
          </a:stretch>
        </p:blipFill>
        <p:spPr>
          <a:xfrm>
            <a:off x="6765321" y="2040966"/>
            <a:ext cx="4431922" cy="3304292"/>
          </a:xfrm>
          <a:prstGeom prst="rect">
            <a:avLst/>
          </a:prstGeom>
          <a:ln>
            <a:noFill/>
          </a:ln>
          <a:effectLst>
            <a:softEdge rad="112500"/>
          </a:effectLst>
        </p:spPr>
      </p:pic>
      <p:pic>
        <p:nvPicPr>
          <p:cNvPr id="11" name="Picture 3" descr="C:\Users\KIRAN\Desktop\JSW\Quality Circle\DIGITAL\Pictures\download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2223" y="2356987"/>
            <a:ext cx="5137730" cy="298827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79685" y="113264"/>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74040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79685" y="113264"/>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787541" y="772976"/>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GANTT CHART</a:t>
            </a:r>
          </a:p>
        </p:txBody>
      </p:sp>
      <p:pic>
        <p:nvPicPr>
          <p:cNvPr id="5" name="Picture 4"/>
          <p:cNvPicPr>
            <a:picLocks noChangeAspect="1"/>
          </p:cNvPicPr>
          <p:nvPr/>
        </p:nvPicPr>
        <p:blipFill rotWithShape="1">
          <a:blip r:embed="rId3"/>
          <a:srcRect t="5393"/>
          <a:stretch/>
        </p:blipFill>
        <p:spPr>
          <a:xfrm>
            <a:off x="3682104" y="1514328"/>
            <a:ext cx="4744112" cy="1207686"/>
          </a:xfrm>
          <a:prstGeom prst="rect">
            <a:avLst/>
          </a:prstGeom>
        </p:spPr>
      </p:pic>
      <p:graphicFrame>
        <p:nvGraphicFramePr>
          <p:cNvPr id="6" name="Chart 5" descr="A Gantt Chart graphing 8 tasks and milestones at a time, with a highlighted marker tracking the current date. A scrollbar above the chart allows paginating through all of the tasks and milestones in the Chart Data worksheet.">
            <a:extLst>
              <a:ext uri="{FF2B5EF4-FFF2-40B4-BE49-F238E27FC236}">
                <a16:creationId xmlns:a16="http://schemas.microsoft.com/office/drawing/2014/main" id="{00000000-0008-0000-0200-000005000000}"/>
              </a:ext>
            </a:extLst>
          </p:cNvPr>
          <p:cNvGraphicFramePr>
            <a:graphicFrameLocks/>
          </p:cNvGraphicFramePr>
          <p:nvPr>
            <p:extLst>
              <p:ext uri="{D42A27DB-BD31-4B8C-83A1-F6EECF244321}">
                <p14:modId xmlns:p14="http://schemas.microsoft.com/office/powerpoint/2010/main" val="1860475103"/>
              </p:ext>
            </p:extLst>
          </p:nvPr>
        </p:nvGraphicFramePr>
        <p:xfrm>
          <a:off x="906239" y="2863790"/>
          <a:ext cx="10295842" cy="339990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94792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28857" y="731412"/>
            <a:ext cx="10061020" cy="599576"/>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ctr">
              <a:spcAft>
                <a:spcPts val="0"/>
              </a:spcAft>
            </a:pPr>
            <a:r>
              <a:rPr lang="en-US" sz="3600" dirty="0">
                <a:solidFill>
                  <a:srgbClr val="002060"/>
                </a:solidFill>
                <a:latin typeface="Times New Roman" panose="02020603050405020304" pitchFamily="18" charset="0"/>
                <a:cs typeface="Times New Roman" panose="02020603050405020304" pitchFamily="18" charset="0"/>
              </a:rPr>
              <a:t>TANGIBLE AND INTAGIBLE BENEFITS</a:t>
            </a:r>
          </a:p>
        </p:txBody>
      </p:sp>
      <p:graphicFrame>
        <p:nvGraphicFramePr>
          <p:cNvPr id="13" name="Table 12"/>
          <p:cNvGraphicFramePr>
            <a:graphicFrameLocks noGrp="1"/>
          </p:cNvGraphicFramePr>
          <p:nvPr>
            <p:extLst>
              <p:ext uri="{D42A27DB-BD31-4B8C-83A1-F6EECF244321}">
                <p14:modId xmlns:p14="http://schemas.microsoft.com/office/powerpoint/2010/main" val="3743435080"/>
              </p:ext>
            </p:extLst>
          </p:nvPr>
        </p:nvGraphicFramePr>
        <p:xfrm>
          <a:off x="1182971" y="1767409"/>
          <a:ext cx="9552791" cy="3542553"/>
        </p:xfrm>
        <a:graphic>
          <a:graphicData uri="http://schemas.openxmlformats.org/drawingml/2006/table">
            <a:tbl>
              <a:tblPr firstRow="1" bandRow="1">
                <a:tableStyleId>{5C22544A-7EE6-4342-B048-85BDC9FD1C3A}</a:tableStyleId>
              </a:tblPr>
              <a:tblGrid>
                <a:gridCol w="4988019">
                  <a:extLst>
                    <a:ext uri="{9D8B030D-6E8A-4147-A177-3AD203B41FA5}">
                      <a16:colId xmlns:a16="http://schemas.microsoft.com/office/drawing/2014/main" val="3524092269"/>
                    </a:ext>
                  </a:extLst>
                </a:gridCol>
                <a:gridCol w="4564772">
                  <a:extLst>
                    <a:ext uri="{9D8B030D-6E8A-4147-A177-3AD203B41FA5}">
                      <a16:colId xmlns:a16="http://schemas.microsoft.com/office/drawing/2014/main" val="2511768905"/>
                    </a:ext>
                  </a:extLst>
                </a:gridCol>
              </a:tblGrid>
              <a:tr h="1058280">
                <a:tc>
                  <a:txBody>
                    <a:bodyPr/>
                    <a:lstStyle/>
                    <a:p>
                      <a:pPr algn="ctr"/>
                      <a:endParaRPr lang="en-IN" sz="2400" dirty="0">
                        <a:solidFill>
                          <a:schemeClr val="tx1"/>
                        </a:solidFill>
                        <a:latin typeface="Times New Roman" panose="02020603050405020304" pitchFamily="18" charset="0"/>
                        <a:cs typeface="Times New Roman" panose="02020603050405020304" pitchFamily="18" charset="0"/>
                      </a:endParaRPr>
                    </a:p>
                    <a:p>
                      <a:pPr algn="ctr"/>
                      <a:r>
                        <a:rPr lang="en-IN" sz="2400" dirty="0">
                          <a:solidFill>
                            <a:schemeClr val="tx1"/>
                          </a:solidFill>
                          <a:latin typeface="Times New Roman" panose="02020603050405020304" pitchFamily="18" charset="0"/>
                          <a:cs typeface="Times New Roman" panose="02020603050405020304" pitchFamily="18" charset="0"/>
                        </a:rPr>
                        <a:t>Tangible Benefits</a:t>
                      </a:r>
                    </a:p>
                  </a:txBody>
                  <a:tcPr/>
                </a:tc>
                <a:tc>
                  <a:txBody>
                    <a:bodyPr/>
                    <a:lstStyle/>
                    <a:p>
                      <a:pPr algn="ctr"/>
                      <a:endParaRPr lang="en-IN" sz="2400" dirty="0">
                        <a:solidFill>
                          <a:schemeClr val="tx1"/>
                        </a:solidFill>
                        <a:latin typeface="Times New Roman" panose="02020603050405020304" pitchFamily="18" charset="0"/>
                        <a:cs typeface="Times New Roman" panose="02020603050405020304" pitchFamily="18" charset="0"/>
                      </a:endParaRPr>
                    </a:p>
                    <a:p>
                      <a:pPr algn="ctr"/>
                      <a:r>
                        <a:rPr lang="en-IN" sz="2400" dirty="0">
                          <a:solidFill>
                            <a:schemeClr val="tx1"/>
                          </a:solidFill>
                          <a:latin typeface="Times New Roman" panose="02020603050405020304" pitchFamily="18" charset="0"/>
                          <a:cs typeface="Times New Roman" panose="02020603050405020304" pitchFamily="18" charset="0"/>
                        </a:rPr>
                        <a:t>Intangible Benefits</a:t>
                      </a:r>
                    </a:p>
                  </a:txBody>
                  <a:tcPr/>
                </a:tc>
                <a:extLst>
                  <a:ext uri="{0D108BD9-81ED-4DB2-BD59-A6C34878D82A}">
                    <a16:rowId xmlns:a16="http://schemas.microsoft.com/office/drawing/2014/main" val="2801410277"/>
                  </a:ext>
                </a:extLst>
              </a:tr>
              <a:tr h="828091">
                <a:tc>
                  <a:txBody>
                    <a:bodyPr/>
                    <a:lstStyle/>
                    <a:p>
                      <a:r>
                        <a:rPr lang="en-IN" dirty="0"/>
                        <a:t>1) Dust generation cost (monthly)=260 Tons * Dust cost per ton</a:t>
                      </a:r>
                    </a:p>
                  </a:txBody>
                  <a:tcPr/>
                </a:tc>
                <a:tc>
                  <a:txBody>
                    <a:bodyPr/>
                    <a:lstStyle/>
                    <a:p>
                      <a:r>
                        <a:rPr lang="en-IN" dirty="0"/>
                        <a:t>1) Equipment Healthiness</a:t>
                      </a:r>
                    </a:p>
                  </a:txBody>
                  <a:tcPr/>
                </a:tc>
                <a:extLst>
                  <a:ext uri="{0D108BD9-81ED-4DB2-BD59-A6C34878D82A}">
                    <a16:rowId xmlns:a16="http://schemas.microsoft.com/office/drawing/2014/main" val="3787560924"/>
                  </a:ext>
                </a:extLst>
              </a:tr>
              <a:tr h="828091">
                <a:tc>
                  <a:txBody>
                    <a:bodyPr/>
                    <a:lstStyle/>
                    <a:p>
                      <a:r>
                        <a:rPr lang="en-IN" dirty="0"/>
                        <a:t>2) Dust discharge time gets reduced to half the before, so equipment healthiness is beneficial</a:t>
                      </a:r>
                    </a:p>
                  </a:txBody>
                  <a:tcPr/>
                </a:tc>
                <a:tc>
                  <a:txBody>
                    <a:bodyPr/>
                    <a:lstStyle/>
                    <a:p>
                      <a:r>
                        <a:rPr lang="en-IN" dirty="0"/>
                        <a:t>2) Easy manpower handling </a:t>
                      </a:r>
                    </a:p>
                  </a:txBody>
                  <a:tcPr/>
                </a:tc>
                <a:extLst>
                  <a:ext uri="{0D108BD9-81ED-4DB2-BD59-A6C34878D82A}">
                    <a16:rowId xmlns:a16="http://schemas.microsoft.com/office/drawing/2014/main" val="628861325"/>
                  </a:ext>
                </a:extLst>
              </a:tr>
              <a:tr h="828091">
                <a:tc>
                  <a:txBody>
                    <a:bodyPr/>
                    <a:lstStyle/>
                    <a:p>
                      <a:r>
                        <a:rPr lang="en-IN" dirty="0"/>
                        <a:t>3)5 Housekeeping manpower cost for manually dust removal</a:t>
                      </a:r>
                    </a:p>
                  </a:txBody>
                  <a:tcPr/>
                </a:tc>
                <a:tc>
                  <a:txBody>
                    <a:bodyPr/>
                    <a:lstStyle/>
                    <a:p>
                      <a:r>
                        <a:rPr lang="en-IN" dirty="0"/>
                        <a:t>3) Less anxiety when it comes to periodically manually discharge</a:t>
                      </a:r>
                    </a:p>
                  </a:txBody>
                  <a:tcPr/>
                </a:tc>
                <a:extLst>
                  <a:ext uri="{0D108BD9-81ED-4DB2-BD59-A6C34878D82A}">
                    <a16:rowId xmlns:a16="http://schemas.microsoft.com/office/drawing/2014/main" val="2032443426"/>
                  </a:ext>
                </a:extLst>
              </a:tr>
            </a:tbl>
          </a:graphicData>
        </a:graphic>
      </p:graphicFrame>
    </p:spTree>
    <p:extLst>
      <p:ext uri="{BB962C8B-B14F-4D97-AF65-F5344CB8AC3E}">
        <p14:creationId xmlns:p14="http://schemas.microsoft.com/office/powerpoint/2010/main" val="36857339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06087" y="731412"/>
            <a:ext cx="10083790" cy="1238704"/>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defRPr/>
            </a:pPr>
            <a:r>
              <a:rPr lang="en-IN" sz="3600" b="1" dirty="0">
                <a:ln w="10541" cmpd="sng">
                  <a:solidFill>
                    <a:schemeClr val="accent1">
                      <a:shade val="88000"/>
                      <a:satMod val="110000"/>
                    </a:schemeClr>
                  </a:solidFill>
                  <a:prstDash val="solid"/>
                </a:ln>
                <a:solidFill>
                  <a:srgbClr val="002060"/>
                </a:solidFill>
              </a:rPr>
              <a:t>FOLLOW-UP/REVIEW AND</a:t>
            </a:r>
          </a:p>
          <a:p>
            <a:pPr>
              <a:defRPr/>
            </a:pPr>
            <a:r>
              <a:rPr lang="en-IN" sz="3600" b="1" dirty="0">
                <a:ln w="10541" cmpd="sng">
                  <a:solidFill>
                    <a:schemeClr val="accent1">
                      <a:shade val="88000"/>
                      <a:satMod val="110000"/>
                    </a:schemeClr>
                  </a:solidFill>
                  <a:prstDash val="solid"/>
                </a:ln>
                <a:solidFill>
                  <a:srgbClr val="002060"/>
                </a:solidFill>
              </a:rPr>
              <a:t>RECURRENCE PREVENTION</a:t>
            </a:r>
          </a:p>
        </p:txBody>
      </p:sp>
      <p:grpSp>
        <p:nvGrpSpPr>
          <p:cNvPr id="8" name="Group 7">
            <a:extLst>
              <a:ext uri="{FF2B5EF4-FFF2-40B4-BE49-F238E27FC236}">
                <a16:creationId xmlns:a16="http://schemas.microsoft.com/office/drawing/2014/main" id="{C4644B1A-FA21-4A27-B489-F695F443A6E4}"/>
              </a:ext>
            </a:extLst>
          </p:cNvPr>
          <p:cNvGrpSpPr/>
          <p:nvPr/>
        </p:nvGrpSpPr>
        <p:grpSpPr>
          <a:xfrm>
            <a:off x="566833" y="1429789"/>
            <a:ext cx="10065145" cy="4896197"/>
            <a:chOff x="1451505" y="616530"/>
            <a:chExt cx="9565873" cy="6302071"/>
          </a:xfrm>
          <a:solidFill>
            <a:srgbClr val="0070C0"/>
          </a:solidFill>
        </p:grpSpPr>
        <p:graphicFrame>
          <p:nvGraphicFramePr>
            <p:cNvPr id="10" name="Diagram 9">
              <a:extLst>
                <a:ext uri="{FF2B5EF4-FFF2-40B4-BE49-F238E27FC236}">
                  <a16:creationId xmlns:a16="http://schemas.microsoft.com/office/drawing/2014/main" id="{BE53F89F-503E-4515-AF6E-7B084FF95F1E}"/>
                </a:ext>
              </a:extLst>
            </p:cNvPr>
            <p:cNvGraphicFramePr/>
            <p:nvPr>
              <p:extLst>
                <p:ext uri="{D42A27DB-BD31-4B8C-83A1-F6EECF244321}">
                  <p14:modId xmlns:p14="http://schemas.microsoft.com/office/powerpoint/2010/main" val="708173615"/>
                </p:ext>
              </p:extLst>
            </p:nvPr>
          </p:nvGraphicFramePr>
          <p:xfrm>
            <a:off x="1451505" y="616530"/>
            <a:ext cx="9565873" cy="63020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2" descr="Image result for 1 2 3 4">
              <a:extLst>
                <a:ext uri="{FF2B5EF4-FFF2-40B4-BE49-F238E27FC236}">
                  <a16:creationId xmlns:a16="http://schemas.microsoft.com/office/drawing/2014/main" id="{457F1E54-C4E4-4F83-88DA-CDB71180297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5942" t="8531" r="59888" b="66472"/>
            <a:stretch/>
          </p:blipFill>
          <p:spPr bwMode="auto">
            <a:xfrm>
              <a:off x="6103317" y="2373150"/>
              <a:ext cx="736088" cy="795140"/>
            </a:xfrm>
            <a:prstGeom prst="flowChartConnector">
              <a:avLst/>
            </a:prstGeom>
            <a:grpFill/>
          </p:spPr>
        </p:pic>
        <p:pic>
          <p:nvPicPr>
            <p:cNvPr id="14" name="Picture 2" descr="Image result for 1 2 3 4">
              <a:extLst>
                <a:ext uri="{FF2B5EF4-FFF2-40B4-BE49-F238E27FC236}">
                  <a16:creationId xmlns:a16="http://schemas.microsoft.com/office/drawing/2014/main" id="{1F69144F-13D0-416D-A2F8-6FF96FD6D7B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0227" t="10750" r="18439" b="68155"/>
            <a:stretch/>
          </p:blipFill>
          <p:spPr bwMode="auto">
            <a:xfrm>
              <a:off x="5858220" y="3379899"/>
              <a:ext cx="736088" cy="760222"/>
            </a:xfrm>
            <a:prstGeom prst="flowChartConnector">
              <a:avLst/>
            </a:prstGeom>
            <a:grpFill/>
          </p:spPr>
        </p:pic>
        <p:pic>
          <p:nvPicPr>
            <p:cNvPr id="15" name="Picture 2" descr="Image result for 1 2 3 4">
              <a:extLst>
                <a:ext uri="{FF2B5EF4-FFF2-40B4-BE49-F238E27FC236}">
                  <a16:creationId xmlns:a16="http://schemas.microsoft.com/office/drawing/2014/main" id="{77E088FD-63DE-48BB-A767-B930524AC69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35" t="52056" r="60711" b="25425"/>
            <a:stretch/>
          </p:blipFill>
          <p:spPr bwMode="auto">
            <a:xfrm>
              <a:off x="5203632" y="4188686"/>
              <a:ext cx="748388" cy="760222"/>
            </a:xfrm>
            <a:prstGeom prst="flowChartConnector">
              <a:avLst/>
            </a:prstGeom>
            <a:grpFill/>
          </p:spPr>
        </p:pic>
        <p:pic>
          <p:nvPicPr>
            <p:cNvPr id="16" name="Picture 2" descr="Image result for 1 2 3 4">
              <a:extLst>
                <a:ext uri="{FF2B5EF4-FFF2-40B4-BE49-F238E27FC236}">
                  <a16:creationId xmlns:a16="http://schemas.microsoft.com/office/drawing/2014/main" id="{D13A5D5E-66D0-4F65-8C46-56864286BBE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9487" t="52229" r="16992" b="24273"/>
            <a:stretch/>
          </p:blipFill>
          <p:spPr bwMode="auto">
            <a:xfrm>
              <a:off x="4016210" y="4948907"/>
              <a:ext cx="786090" cy="820267"/>
            </a:xfrm>
            <a:prstGeom prst="flowChartConnector">
              <a:avLst/>
            </a:prstGeom>
            <a:grpFill/>
          </p:spPr>
        </p:pic>
      </p:grpSp>
      <p:pic>
        <p:nvPicPr>
          <p:cNvPr id="17" name="Picture 4" descr="Image result for documentation">
            <a:extLst>
              <a:ext uri="{FF2B5EF4-FFF2-40B4-BE49-F238E27FC236}">
                <a16:creationId xmlns:a16="http://schemas.microsoft.com/office/drawing/2014/main" id="{A36DBE19-5CA3-4ED5-B57E-625C0E0B46F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6919" t="8872" r="19504" b="8613"/>
          <a:stretch/>
        </p:blipFill>
        <p:spPr bwMode="auto">
          <a:xfrm>
            <a:off x="2155398" y="2638834"/>
            <a:ext cx="1816717" cy="1807672"/>
          </a:xfrm>
          <a:prstGeom prst="flowChartConnector">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271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500" fill="hold"/>
                                        <p:tgtEl>
                                          <p:spTgt spid="17"/>
                                        </p:tgtEl>
                                        <p:attrNameLst>
                                          <p:attrName>ppt_w</p:attrName>
                                        </p:attrNameLst>
                                      </p:cBhvr>
                                      <p:tavLst>
                                        <p:tav tm="0">
                                          <p:val>
                                            <p:fltVal val="0"/>
                                          </p:val>
                                        </p:tav>
                                        <p:tav tm="100000">
                                          <p:val>
                                            <p:strVal val="#ppt_w"/>
                                          </p:val>
                                        </p:tav>
                                      </p:tavLst>
                                    </p:anim>
                                    <p:anim calcmode="lin" valueType="num">
                                      <p:cBhvr>
                                        <p:cTn id="12" dur="500" fill="hold"/>
                                        <p:tgtEl>
                                          <p:spTgt spid="17"/>
                                        </p:tgtEl>
                                        <p:attrNameLst>
                                          <p:attrName>ppt_h</p:attrName>
                                        </p:attrNameLst>
                                      </p:cBhvr>
                                      <p:tavLst>
                                        <p:tav tm="0">
                                          <p:val>
                                            <p:fltVal val="0"/>
                                          </p:val>
                                        </p:tav>
                                        <p:tav tm="100000">
                                          <p:val>
                                            <p:strVal val="#ppt_h"/>
                                          </p:val>
                                        </p:tav>
                                      </p:tavLst>
                                    </p:anim>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06087" y="731412"/>
            <a:ext cx="10083790" cy="1238704"/>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defRPr/>
            </a:pPr>
            <a:r>
              <a:rPr lang="en-IN" sz="3600" b="1" dirty="0">
                <a:ln w="10541" cmpd="sng">
                  <a:solidFill>
                    <a:schemeClr val="accent1">
                      <a:shade val="88000"/>
                      <a:satMod val="110000"/>
                    </a:schemeClr>
                  </a:solidFill>
                  <a:prstDash val="solid"/>
                </a:ln>
                <a:solidFill>
                  <a:srgbClr val="002060"/>
                </a:solidFill>
              </a:rPr>
              <a:t>FOLLOW-UP/REVIEW AND</a:t>
            </a:r>
          </a:p>
          <a:p>
            <a:pPr>
              <a:defRPr/>
            </a:pPr>
            <a:r>
              <a:rPr lang="en-IN" sz="3600" b="1" dirty="0">
                <a:ln w="10541" cmpd="sng">
                  <a:solidFill>
                    <a:schemeClr val="accent1">
                      <a:shade val="88000"/>
                      <a:satMod val="110000"/>
                    </a:schemeClr>
                  </a:solidFill>
                  <a:prstDash val="solid"/>
                </a:ln>
                <a:solidFill>
                  <a:srgbClr val="002060"/>
                </a:solidFill>
              </a:rPr>
              <a:t>RECURRENCE PREVENTION</a:t>
            </a:r>
          </a:p>
        </p:txBody>
      </p:sp>
      <p:pic>
        <p:nvPicPr>
          <p:cNvPr id="5" name="Picture 4"/>
          <p:cNvPicPr>
            <a:picLocks noChangeAspect="1"/>
          </p:cNvPicPr>
          <p:nvPr/>
        </p:nvPicPr>
        <p:blipFill rotWithShape="1">
          <a:blip r:embed="rId3"/>
          <a:srcRect b="72996"/>
          <a:stretch/>
        </p:blipFill>
        <p:spPr>
          <a:xfrm>
            <a:off x="906087" y="2241595"/>
            <a:ext cx="5868219" cy="1615512"/>
          </a:xfrm>
          <a:prstGeom prst="rect">
            <a:avLst/>
          </a:prstGeom>
        </p:spPr>
      </p:pic>
      <p:pic>
        <p:nvPicPr>
          <p:cNvPr id="6" name="Picture 5"/>
          <p:cNvPicPr>
            <a:picLocks noChangeAspect="1"/>
          </p:cNvPicPr>
          <p:nvPr/>
        </p:nvPicPr>
        <p:blipFill>
          <a:blip r:embed="rId4"/>
          <a:stretch>
            <a:fillRect/>
          </a:stretch>
        </p:blipFill>
        <p:spPr>
          <a:xfrm>
            <a:off x="6261436" y="3490365"/>
            <a:ext cx="4505217" cy="2486486"/>
          </a:xfrm>
          <a:prstGeom prst="rect">
            <a:avLst/>
          </a:prstGeom>
        </p:spPr>
      </p:pic>
    </p:spTree>
    <p:extLst>
      <p:ext uri="{BB962C8B-B14F-4D97-AF65-F5344CB8AC3E}">
        <p14:creationId xmlns:p14="http://schemas.microsoft.com/office/powerpoint/2010/main" val="23516978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06087" y="731412"/>
            <a:ext cx="10083790" cy="1238704"/>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defRPr/>
            </a:pPr>
            <a:r>
              <a:rPr lang="en-IN" sz="3600" b="1" dirty="0">
                <a:ln w="10541" cmpd="sng">
                  <a:solidFill>
                    <a:schemeClr val="accent1">
                      <a:shade val="88000"/>
                      <a:satMod val="110000"/>
                    </a:schemeClr>
                  </a:solidFill>
                  <a:prstDash val="solid"/>
                </a:ln>
                <a:solidFill>
                  <a:srgbClr val="002060"/>
                </a:solidFill>
              </a:rPr>
              <a:t>FOLLOW-UP/REVIEW AND</a:t>
            </a:r>
          </a:p>
          <a:p>
            <a:pPr>
              <a:defRPr/>
            </a:pPr>
            <a:r>
              <a:rPr lang="en-IN" sz="3600" b="1" dirty="0">
                <a:ln w="10541" cmpd="sng">
                  <a:solidFill>
                    <a:schemeClr val="accent1">
                      <a:shade val="88000"/>
                      <a:satMod val="110000"/>
                    </a:schemeClr>
                  </a:solidFill>
                  <a:prstDash val="solid"/>
                </a:ln>
                <a:solidFill>
                  <a:srgbClr val="002060"/>
                </a:solidFill>
              </a:rPr>
              <a:t>RECURRENCE PREVENTION</a:t>
            </a:r>
          </a:p>
        </p:txBody>
      </p:sp>
      <p:pic>
        <p:nvPicPr>
          <p:cNvPr id="7" name="Picture 6"/>
          <p:cNvPicPr>
            <a:picLocks noChangeAspect="1"/>
          </p:cNvPicPr>
          <p:nvPr/>
        </p:nvPicPr>
        <p:blipFill>
          <a:blip r:embed="rId3"/>
          <a:stretch>
            <a:fillRect/>
          </a:stretch>
        </p:blipFill>
        <p:spPr>
          <a:xfrm>
            <a:off x="906087" y="2199373"/>
            <a:ext cx="4680635" cy="2638634"/>
          </a:xfrm>
          <a:prstGeom prst="rect">
            <a:avLst/>
          </a:prstGeom>
        </p:spPr>
      </p:pic>
      <p:pic>
        <p:nvPicPr>
          <p:cNvPr id="8" name="Picture 7"/>
          <p:cNvPicPr>
            <a:picLocks noChangeAspect="1"/>
          </p:cNvPicPr>
          <p:nvPr/>
        </p:nvPicPr>
        <p:blipFill>
          <a:blip r:embed="rId4"/>
          <a:stretch>
            <a:fillRect/>
          </a:stretch>
        </p:blipFill>
        <p:spPr>
          <a:xfrm>
            <a:off x="5728462" y="3313524"/>
            <a:ext cx="4828702" cy="2699831"/>
          </a:xfrm>
          <a:prstGeom prst="rect">
            <a:avLst/>
          </a:prstGeom>
        </p:spPr>
      </p:pic>
    </p:spTree>
    <p:extLst>
      <p:ext uri="{BB962C8B-B14F-4D97-AF65-F5344CB8AC3E}">
        <p14:creationId xmlns:p14="http://schemas.microsoft.com/office/powerpoint/2010/main" val="2388341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06087" y="731412"/>
            <a:ext cx="10083790" cy="1238704"/>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defRPr/>
            </a:pPr>
            <a:r>
              <a:rPr lang="en-IN" sz="3600" b="1" dirty="0">
                <a:ln w="10541" cmpd="sng">
                  <a:solidFill>
                    <a:schemeClr val="accent1">
                      <a:shade val="88000"/>
                      <a:satMod val="110000"/>
                    </a:schemeClr>
                  </a:solidFill>
                  <a:prstDash val="solid"/>
                </a:ln>
                <a:solidFill>
                  <a:srgbClr val="002060"/>
                </a:solidFill>
              </a:rPr>
              <a:t>FOLLOW-UP/REVIEW AND</a:t>
            </a:r>
          </a:p>
          <a:p>
            <a:pPr>
              <a:defRPr/>
            </a:pPr>
            <a:r>
              <a:rPr lang="en-IN" sz="3600" b="1" dirty="0">
                <a:ln w="10541" cmpd="sng">
                  <a:solidFill>
                    <a:schemeClr val="accent1">
                      <a:shade val="88000"/>
                      <a:satMod val="110000"/>
                    </a:schemeClr>
                  </a:solidFill>
                  <a:prstDash val="solid"/>
                </a:ln>
                <a:solidFill>
                  <a:srgbClr val="002060"/>
                </a:solidFill>
              </a:rPr>
              <a:t>RECURRENCE PREVENTION</a:t>
            </a:r>
          </a:p>
        </p:txBody>
      </p:sp>
      <p:pic>
        <p:nvPicPr>
          <p:cNvPr id="7" name="Picture 6"/>
          <p:cNvPicPr>
            <a:picLocks noChangeAspect="1"/>
          </p:cNvPicPr>
          <p:nvPr/>
        </p:nvPicPr>
        <p:blipFill>
          <a:blip r:embed="rId3"/>
          <a:stretch>
            <a:fillRect/>
          </a:stretch>
        </p:blipFill>
        <p:spPr>
          <a:xfrm>
            <a:off x="906087" y="2234504"/>
            <a:ext cx="4232290" cy="2478812"/>
          </a:xfrm>
          <a:prstGeom prst="rect">
            <a:avLst/>
          </a:prstGeom>
        </p:spPr>
      </p:pic>
      <p:pic>
        <p:nvPicPr>
          <p:cNvPr id="8" name="Picture 7"/>
          <p:cNvPicPr>
            <a:picLocks noChangeAspect="1"/>
          </p:cNvPicPr>
          <p:nvPr/>
        </p:nvPicPr>
        <p:blipFill>
          <a:blip r:embed="rId4"/>
          <a:stretch>
            <a:fillRect/>
          </a:stretch>
        </p:blipFill>
        <p:spPr>
          <a:xfrm>
            <a:off x="6080987" y="2143447"/>
            <a:ext cx="3407908" cy="3941469"/>
          </a:xfrm>
          <a:prstGeom prst="rect">
            <a:avLst/>
          </a:prstGeom>
        </p:spPr>
      </p:pic>
    </p:spTree>
    <p:extLst>
      <p:ext uri="{BB962C8B-B14F-4D97-AF65-F5344CB8AC3E}">
        <p14:creationId xmlns:p14="http://schemas.microsoft.com/office/powerpoint/2010/main" val="15135453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06087" y="731412"/>
            <a:ext cx="10083790" cy="1238704"/>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defRPr/>
            </a:pPr>
            <a:r>
              <a:rPr lang="en-IN" sz="3600" b="1" dirty="0">
                <a:ln w="10541" cmpd="sng">
                  <a:solidFill>
                    <a:schemeClr val="accent1">
                      <a:shade val="88000"/>
                      <a:satMod val="110000"/>
                    </a:schemeClr>
                  </a:solidFill>
                  <a:prstDash val="solid"/>
                </a:ln>
                <a:solidFill>
                  <a:srgbClr val="002060"/>
                </a:solidFill>
              </a:rPr>
              <a:t>FOLLOW-UP/REVIEW AND</a:t>
            </a:r>
          </a:p>
          <a:p>
            <a:pPr>
              <a:defRPr/>
            </a:pPr>
            <a:r>
              <a:rPr lang="en-IN" sz="3600" b="1" dirty="0">
                <a:ln w="10541" cmpd="sng">
                  <a:solidFill>
                    <a:schemeClr val="accent1">
                      <a:shade val="88000"/>
                      <a:satMod val="110000"/>
                    </a:schemeClr>
                  </a:solidFill>
                  <a:prstDash val="solid"/>
                </a:ln>
                <a:solidFill>
                  <a:srgbClr val="002060"/>
                </a:solidFill>
              </a:rPr>
              <a:t>RECURRENCE PREVENTION</a:t>
            </a:r>
          </a:p>
        </p:txBody>
      </p:sp>
      <p:pic>
        <p:nvPicPr>
          <p:cNvPr id="7" name="Picture 6"/>
          <p:cNvPicPr>
            <a:picLocks noChangeAspect="1"/>
          </p:cNvPicPr>
          <p:nvPr/>
        </p:nvPicPr>
        <p:blipFill>
          <a:blip r:embed="rId3"/>
          <a:stretch>
            <a:fillRect/>
          </a:stretch>
        </p:blipFill>
        <p:spPr>
          <a:xfrm>
            <a:off x="1686933" y="2214568"/>
            <a:ext cx="8522098" cy="4029648"/>
          </a:xfrm>
          <a:prstGeom prst="rect">
            <a:avLst/>
          </a:prstGeom>
        </p:spPr>
      </p:pic>
    </p:spTree>
    <p:extLst>
      <p:ext uri="{BB962C8B-B14F-4D97-AF65-F5344CB8AC3E}">
        <p14:creationId xmlns:p14="http://schemas.microsoft.com/office/powerpoint/2010/main" val="2115056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a:xfrm>
            <a:off x="970957" y="689848"/>
            <a:ext cx="10083790" cy="1238704"/>
          </a:xfrm>
          <a:prstGeom prst="rect">
            <a:avLst/>
          </a:prstGeom>
          <a:ln w="9525" cap="flat" cmpd="sng" algn="ctr">
            <a:solidFill>
              <a:schemeClr val="tx1"/>
            </a:solidFill>
            <a:prstDash val="solid"/>
          </a:ln>
          <a:effectLst>
            <a:glow rad="228600">
              <a:schemeClr val="accent5">
                <a:satMod val="175000"/>
                <a:alpha val="40000"/>
              </a:schemeClr>
            </a:glow>
            <a:outerShdw blurRad="44450" dist="27940" dir="5400000" algn="ctr">
              <a:srgbClr val="000000">
                <a:alpha val="32000"/>
              </a:srgb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Autofit/>
          </a:bodyPr>
          <a:lstStyle>
            <a:lvl1pPr algn="ctr" defTabSz="914674" rtl="0" eaLnBrk="1" latinLnBrk="0" hangingPunct="1">
              <a:spcBef>
                <a:spcPct val="0"/>
              </a:spcBef>
              <a:buNone/>
              <a:defRPr sz="440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defRPr/>
            </a:pPr>
            <a:r>
              <a:rPr lang="en-IN" sz="3600" b="1" dirty="0">
                <a:ln w="10541" cmpd="sng">
                  <a:solidFill>
                    <a:schemeClr val="accent1">
                      <a:shade val="88000"/>
                      <a:satMod val="110000"/>
                    </a:schemeClr>
                  </a:solidFill>
                  <a:prstDash val="solid"/>
                </a:ln>
                <a:solidFill>
                  <a:srgbClr val="002060"/>
                </a:solidFill>
                <a:latin typeface="Times New Roman" panose="02020603050405020304" pitchFamily="18" charset="0"/>
                <a:cs typeface="Times New Roman" panose="02020603050405020304" pitchFamily="18" charset="0"/>
              </a:rPr>
              <a:t>PROJECT COMPLETION SHEET </a:t>
            </a:r>
          </a:p>
        </p:txBody>
      </p:sp>
    </p:spTree>
    <p:extLst>
      <p:ext uri="{BB962C8B-B14F-4D97-AF65-F5344CB8AC3E}">
        <p14:creationId xmlns:p14="http://schemas.microsoft.com/office/powerpoint/2010/main" val="6942086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jsw will of steel.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7364" y="1769225"/>
            <a:ext cx="2547851" cy="20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57" descr="C:\Users\15636\Desktop\thank you.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62745" y="4191001"/>
            <a:ext cx="3179512" cy="186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2683" y="804949"/>
            <a:ext cx="4792594" cy="5334000"/>
          </a:xfrm>
          <a:prstGeom prst="rect">
            <a:avLst/>
          </a:prstGeom>
        </p:spPr>
      </p:pic>
      <p:pic>
        <p:nvPicPr>
          <p:cNvPr id="5"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54747" y="88326"/>
            <a:ext cx="1049864" cy="105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0" y="6488668"/>
            <a:ext cx="2155398"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JSW Steel Ltd, Dolvi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484832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docProps/app.xml><?xml version="1.0" encoding="utf-8"?>
<Properties xmlns="http://schemas.openxmlformats.org/officeDocument/2006/extended-properties" xmlns:vt="http://schemas.openxmlformats.org/officeDocument/2006/docPropsVTypes">
  <Template>Organic</Template>
  <TotalTime>1399</TotalTime>
  <Words>3281</Words>
  <Application>Microsoft Office PowerPoint</Application>
  <PresentationFormat>Widescreen</PresentationFormat>
  <Paragraphs>994</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Garamond</vt:lpstr>
      <vt:lpstr>Times New Roman</vt:lpstr>
      <vt:lpstr>Wingdings</vt:lpstr>
      <vt:lpstr>Organic</vt:lpstr>
      <vt:lpstr>  Quality Control Circle: Endless Innovation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Control Circle:Endless Innovation</dc:title>
  <dc:creator>Shreyan Suresh Koshti</dc:creator>
  <cp:lastModifiedBy>Shreyan Koshti</cp:lastModifiedBy>
  <cp:revision>153</cp:revision>
  <dcterms:created xsi:type="dcterms:W3CDTF">2024-03-11T03:51:32Z</dcterms:created>
  <dcterms:modified xsi:type="dcterms:W3CDTF">2025-01-13T21:50:29Z</dcterms:modified>
</cp:coreProperties>
</file>